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320" r:id="rId3"/>
    <p:sldId id="321" r:id="rId4"/>
    <p:sldId id="277" r:id="rId5"/>
    <p:sldId id="278" r:id="rId6"/>
    <p:sldId id="279" r:id="rId7"/>
    <p:sldId id="280" r:id="rId8"/>
    <p:sldId id="281" r:id="rId9"/>
    <p:sldId id="282" r:id="rId10"/>
    <p:sldId id="283" r:id="rId11"/>
    <p:sldId id="288" r:id="rId12"/>
    <p:sldId id="291" r:id="rId13"/>
    <p:sldId id="292" r:id="rId14"/>
    <p:sldId id="293" r:id="rId15"/>
    <p:sldId id="294" r:id="rId16"/>
    <p:sldId id="295" r:id="rId17"/>
    <p:sldId id="289" r:id="rId18"/>
    <p:sldId id="261" r:id="rId19"/>
    <p:sldId id="262" r:id="rId20"/>
    <p:sldId id="319" r:id="rId21"/>
    <p:sldId id="263" r:id="rId22"/>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7" d="100"/>
          <a:sy n="67" d="100"/>
        </p:scale>
        <p:origin x="82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082F43-5D4C-4565-8167-3A4518A8FEBE}" type="datetimeFigureOut">
              <a:rPr lang="en-PK" smtClean="0"/>
              <a:t>19/10/2025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BA5AB5-8410-4CEA-9BA9-BF8AB666E341}" type="slidenum">
              <a:rPr lang="en-PK" smtClean="0"/>
              <a:t>‹#›</a:t>
            </a:fld>
            <a:endParaRPr lang="en-PK"/>
          </a:p>
        </p:txBody>
      </p:sp>
    </p:spTree>
    <p:extLst>
      <p:ext uri="{BB962C8B-B14F-4D97-AF65-F5344CB8AC3E}">
        <p14:creationId xmlns:p14="http://schemas.microsoft.com/office/powerpoint/2010/main" val="3292997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guru99.com/performance-testing.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33" name="Google Shape;13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111111"/>
                </a:solidFill>
                <a:latin typeface="Arial"/>
                <a:ea typeface="Arial"/>
                <a:cs typeface="Arial"/>
                <a:sym typeface="Arial"/>
              </a:rPr>
              <a:t>System testing is performed on a complete system while integration testing is performed on a subset of the system</a:t>
            </a:r>
            <a:endParaRPr/>
          </a:p>
          <a:p>
            <a:pPr marL="0" lvl="0" indent="0" algn="l" rtl="0">
              <a:spcBef>
                <a:spcPts val="0"/>
              </a:spcBef>
              <a:spcAft>
                <a:spcPts val="0"/>
              </a:spcAft>
              <a:buNone/>
            </a:pPr>
            <a:r>
              <a:rPr lang="en-US">
                <a:solidFill>
                  <a:srgbClr val="111111"/>
                </a:solidFill>
                <a:latin typeface="Arial"/>
                <a:ea typeface="Arial"/>
                <a:cs typeface="Arial"/>
                <a:sym typeface="Arial"/>
              </a:rPr>
              <a:t>System testing checks the behaviors of the system as a whole while integration testing checks the data transferring among multiple modules of the system</a:t>
            </a:r>
            <a:endParaRPr/>
          </a:p>
          <a:p>
            <a:pPr marL="0" lvl="0" indent="0" algn="l" rtl="0">
              <a:spcBef>
                <a:spcPts val="0"/>
              </a:spcBef>
              <a:spcAft>
                <a:spcPts val="0"/>
              </a:spcAft>
              <a:buClr>
                <a:srgbClr val="282829"/>
              </a:buClr>
              <a:buSzPts val="1800"/>
              <a:buFont typeface="Quattrocento Sans"/>
              <a:buNone/>
            </a:pPr>
            <a:r>
              <a:rPr lang="en-US">
                <a:solidFill>
                  <a:srgbClr val="282829"/>
                </a:solidFill>
                <a:latin typeface="Quattrocento Sans"/>
                <a:ea typeface="Quattrocento Sans"/>
                <a:cs typeface="Quattrocento Sans"/>
                <a:sym typeface="Quattrocento Sans"/>
              </a:rPr>
              <a:t>It is the level of testing where the complete integrated application is tested as a whole.</a:t>
            </a:r>
            <a:endParaRPr/>
          </a:p>
          <a:p>
            <a:pPr marL="0" lvl="0" indent="0" algn="l" rtl="0">
              <a:spcBef>
                <a:spcPts val="0"/>
              </a:spcBef>
              <a:spcAft>
                <a:spcPts val="0"/>
              </a:spcAft>
              <a:buClr>
                <a:srgbClr val="282829"/>
              </a:buClr>
              <a:buSzPts val="1800"/>
              <a:buFont typeface="Quattrocento Sans"/>
              <a:buNone/>
            </a:pPr>
            <a:r>
              <a:rPr lang="en-US">
                <a:solidFill>
                  <a:srgbClr val="282829"/>
                </a:solidFill>
                <a:latin typeface="Quattrocento Sans"/>
                <a:ea typeface="Quattrocento Sans"/>
                <a:cs typeface="Quattrocento Sans"/>
                <a:sym typeface="Quattrocento Sans"/>
              </a:rPr>
              <a:t>It aims at determining if the application conforms to its business requirements.</a:t>
            </a:r>
            <a:endParaRPr/>
          </a:p>
          <a:p>
            <a:pPr marL="0" lvl="0" indent="0" algn="l" rtl="0">
              <a:spcBef>
                <a:spcPts val="0"/>
              </a:spcBef>
              <a:spcAft>
                <a:spcPts val="0"/>
              </a:spcAft>
              <a:buClr>
                <a:srgbClr val="282829"/>
              </a:buClr>
              <a:buSzPts val="1800"/>
              <a:buFont typeface="Quattrocento Sans"/>
              <a:buNone/>
            </a:pPr>
            <a:r>
              <a:rPr lang="en-US">
                <a:solidFill>
                  <a:srgbClr val="282829"/>
                </a:solidFill>
                <a:latin typeface="Quattrocento Sans"/>
                <a:ea typeface="Quattrocento Sans"/>
                <a:cs typeface="Quattrocento Sans"/>
                <a:sym typeface="Quattrocento Sans"/>
              </a:rPr>
              <a:t>System testing is carried out in an environment that is very similar to the production environment.</a:t>
            </a:r>
            <a:endParaRPr/>
          </a:p>
          <a:p>
            <a:pPr marL="0" lvl="0" indent="0" algn="l" rtl="0">
              <a:spcBef>
                <a:spcPts val="0"/>
              </a:spcBef>
              <a:spcAft>
                <a:spcPts val="0"/>
              </a:spcAft>
              <a:buNone/>
            </a:pPr>
            <a:endParaRPr>
              <a:solidFill>
                <a:srgbClr val="111111"/>
              </a:solidFill>
              <a:latin typeface="Arial"/>
              <a:ea typeface="Arial"/>
              <a:cs typeface="Arial"/>
              <a:sym typeface="Arial"/>
            </a:endParaRPr>
          </a:p>
          <a:p>
            <a:pPr marL="0" lvl="0" indent="0" algn="l" rtl="0">
              <a:spcBef>
                <a:spcPts val="0"/>
              </a:spcBef>
              <a:spcAft>
                <a:spcPts val="0"/>
              </a:spcAft>
              <a:buNone/>
            </a:pPr>
            <a:endParaRPr>
              <a:solidFill>
                <a:srgbClr val="111111"/>
              </a:solidFill>
              <a:latin typeface="Arial"/>
              <a:ea typeface="Arial"/>
              <a:cs typeface="Arial"/>
              <a:sym typeface="Arial"/>
            </a:endParaRPr>
          </a:p>
          <a:p>
            <a:pPr marL="0" lvl="0" indent="0" algn="l" rtl="0">
              <a:spcBef>
                <a:spcPts val="0"/>
              </a:spcBef>
              <a:spcAft>
                <a:spcPts val="0"/>
              </a:spcAft>
              <a:buNone/>
            </a:pPr>
            <a:endParaRPr>
              <a:solidFill>
                <a:srgbClr val="111111"/>
              </a:solidFill>
              <a:latin typeface="Arial"/>
              <a:ea typeface="Arial"/>
              <a:cs typeface="Arial"/>
              <a:sym typeface="Arial"/>
            </a:endParaRPr>
          </a:p>
          <a:p>
            <a:pPr marL="0" lvl="0" indent="0" algn="l" rtl="0">
              <a:spcBef>
                <a:spcPts val="0"/>
              </a:spcBef>
              <a:spcAft>
                <a:spcPts val="0"/>
              </a:spcAft>
              <a:buNone/>
            </a:pPr>
            <a:r>
              <a:rPr lang="en-US">
                <a:solidFill>
                  <a:srgbClr val="D1D5DB"/>
                </a:solidFill>
                <a:latin typeface="Arial"/>
                <a:ea typeface="Arial"/>
                <a:cs typeface="Arial"/>
                <a:sym typeface="Arial"/>
              </a:rPr>
              <a:t>Integration testing can be both black box and white box</a:t>
            </a:r>
            <a:endParaRPr>
              <a:solidFill>
                <a:srgbClr val="111111"/>
              </a:solidFill>
              <a:latin typeface="Arial"/>
              <a:ea typeface="Arial"/>
              <a:cs typeface="Arial"/>
              <a:sym typeface="Arial"/>
            </a:endParaRPr>
          </a:p>
          <a:p>
            <a:pPr marL="0" lvl="0" indent="0" algn="l" rtl="0">
              <a:spcBef>
                <a:spcPts val="0"/>
              </a:spcBef>
              <a:spcAft>
                <a:spcPts val="0"/>
              </a:spcAft>
              <a:buNone/>
            </a:pPr>
            <a:endParaRPr>
              <a:solidFill>
                <a:srgbClr val="111111"/>
              </a:solidFill>
              <a:latin typeface="Arial"/>
              <a:ea typeface="Arial"/>
              <a:cs typeface="Arial"/>
              <a:sym typeface="Arial"/>
            </a:endParaRPr>
          </a:p>
        </p:txBody>
      </p:sp>
      <p:sp>
        <p:nvSpPr>
          <p:cNvPr id="134" name="Google Shape;134;p6: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12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42" name="Google Shape;14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202124"/>
              </a:buClr>
              <a:buSzPts val="1800"/>
              <a:buFont typeface="Arial"/>
              <a:buNone/>
            </a:pPr>
            <a:r>
              <a:rPr lang="en-US">
                <a:solidFill>
                  <a:srgbClr val="202124"/>
                </a:solidFill>
                <a:latin typeface="Arial"/>
                <a:ea typeface="Arial"/>
                <a:cs typeface="Arial"/>
                <a:sym typeface="Arial"/>
              </a:rPr>
              <a:t>Sanity testing ensures that the software is ready for the next level of testing.</a:t>
            </a:r>
            <a:endParaRPr/>
          </a:p>
        </p:txBody>
      </p:sp>
      <p:sp>
        <p:nvSpPr>
          <p:cNvPr id="143" name="Google Shape;143;p7: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13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50" name="Google Shape;15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563C1"/>
              </a:buClr>
              <a:buSzPts val="1800"/>
              <a:buFont typeface="Arial"/>
              <a:buNone/>
            </a:pPr>
            <a:r>
              <a:rPr lang="en-US">
                <a:solidFill>
                  <a:srgbClr val="0563C1"/>
                </a:solidFill>
                <a:latin typeface="Arial"/>
                <a:ea typeface="Arial"/>
                <a:cs typeface="Arial"/>
                <a:sym typeface="Arial"/>
              </a:rPr>
              <a:t>Performance testing is a type of software testing that is used to test the speed, response time, stability, reliability, scalability, and resource usage of a software application under a particular workload</a:t>
            </a:r>
            <a:r>
              <a:rPr lang="en-US">
                <a:latin typeface="Arial"/>
                <a:ea typeface="Arial"/>
                <a:cs typeface="Arial"/>
                <a:sym typeface="Arial"/>
              </a:rPr>
              <a:t>. </a:t>
            </a:r>
            <a:r>
              <a:rPr lang="en-US" u="sng">
                <a:solidFill>
                  <a:srgbClr val="000000"/>
                </a:solidFill>
                <a:hlinkClick r:id="rId3">
                  <a:extLst>
                    <a:ext uri="{A12FA001-AC4F-418D-AE19-62706E023703}">
                      <ahyp:hlinkClr xmlns:ahyp="http://schemas.microsoft.com/office/drawing/2018/hyperlinkcolor" val="tx"/>
                    </a:ext>
                  </a:extLst>
                </a:hlinkClick>
              </a:rPr>
              <a:t>The main purpose of performance testing is to identify and eliminate the performance bottlenecks in the software application</a:t>
            </a:r>
            <a:endParaRPr/>
          </a:p>
        </p:txBody>
      </p:sp>
      <p:sp>
        <p:nvSpPr>
          <p:cNvPr id="151" name="Google Shape;151;p8: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14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B86CB-6251-A6DB-9C39-459F7CE096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F6E1CAAD-0215-B772-62EC-FF331D80DB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83769A4D-D18F-449D-F412-2F12A8EABFB6}"/>
              </a:ext>
            </a:extLst>
          </p:cNvPr>
          <p:cNvSpPr>
            <a:spLocks noGrp="1"/>
          </p:cNvSpPr>
          <p:nvPr>
            <p:ph type="dt" sz="half" idx="10"/>
          </p:nvPr>
        </p:nvSpPr>
        <p:spPr/>
        <p:txBody>
          <a:bodyPr/>
          <a:lstStyle/>
          <a:p>
            <a:fld id="{77D7F31B-9A35-4A2E-AAE7-BC3BAA377EC9}" type="datetime8">
              <a:rPr lang="en-PK" smtClean="0"/>
              <a:t>19/10/2025 10:35 pm</a:t>
            </a:fld>
            <a:endParaRPr lang="en-PK"/>
          </a:p>
        </p:txBody>
      </p:sp>
      <p:sp>
        <p:nvSpPr>
          <p:cNvPr id="5" name="Footer Placeholder 4">
            <a:extLst>
              <a:ext uri="{FF2B5EF4-FFF2-40B4-BE49-F238E27FC236}">
                <a16:creationId xmlns:a16="http://schemas.microsoft.com/office/drawing/2014/main" id="{CA081409-E59D-3239-3BA7-6E3AB306155E}"/>
              </a:ext>
            </a:extLst>
          </p:cNvPr>
          <p:cNvSpPr>
            <a:spLocks noGrp="1"/>
          </p:cNvSpPr>
          <p:nvPr>
            <p:ph type="ftr" sz="quarter" idx="11"/>
          </p:nvPr>
        </p:nvSpPr>
        <p:spPr/>
        <p:txBody>
          <a:bodyPr/>
          <a:lstStyle/>
          <a:p>
            <a:r>
              <a:rPr lang="en-US"/>
              <a:t>Engr.Muhammad Umer Haroon</a:t>
            </a:r>
            <a:endParaRPr lang="en-PK"/>
          </a:p>
        </p:txBody>
      </p:sp>
      <p:sp>
        <p:nvSpPr>
          <p:cNvPr id="6" name="Slide Number Placeholder 5">
            <a:extLst>
              <a:ext uri="{FF2B5EF4-FFF2-40B4-BE49-F238E27FC236}">
                <a16:creationId xmlns:a16="http://schemas.microsoft.com/office/drawing/2014/main" id="{AD06F35F-15E4-1107-CDB2-6741EA0693D6}"/>
              </a:ext>
            </a:extLst>
          </p:cNvPr>
          <p:cNvSpPr>
            <a:spLocks noGrp="1"/>
          </p:cNvSpPr>
          <p:nvPr>
            <p:ph type="sldNum" sz="quarter" idx="12"/>
          </p:nvPr>
        </p:nvSpPr>
        <p:spPr/>
        <p:txBody>
          <a:bodyPr/>
          <a:lstStyle/>
          <a:p>
            <a:fld id="{0D0A5746-0EC8-4E7C-A919-4DC4CAA0AC80}" type="slidenum">
              <a:rPr lang="en-PK" smtClean="0"/>
              <a:t>‹#›</a:t>
            </a:fld>
            <a:endParaRPr lang="en-PK"/>
          </a:p>
        </p:txBody>
      </p:sp>
    </p:spTree>
    <p:extLst>
      <p:ext uri="{BB962C8B-B14F-4D97-AF65-F5344CB8AC3E}">
        <p14:creationId xmlns:p14="http://schemas.microsoft.com/office/powerpoint/2010/main" val="4204601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30DE6-BD96-D123-F0C3-A84582B119B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C1CC8A6C-93ED-C760-C2AC-AA5D1089C7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2C7B38D9-9129-6104-6F7D-D20ACE39DC49}"/>
              </a:ext>
            </a:extLst>
          </p:cNvPr>
          <p:cNvSpPr>
            <a:spLocks noGrp="1"/>
          </p:cNvSpPr>
          <p:nvPr>
            <p:ph type="dt" sz="half" idx="10"/>
          </p:nvPr>
        </p:nvSpPr>
        <p:spPr/>
        <p:txBody>
          <a:bodyPr/>
          <a:lstStyle/>
          <a:p>
            <a:fld id="{F39B6EA3-EC7B-45C1-B540-AD5E078298D7}" type="datetime8">
              <a:rPr lang="en-PK" smtClean="0"/>
              <a:t>19/10/2025 10:35 pm</a:t>
            </a:fld>
            <a:endParaRPr lang="en-PK"/>
          </a:p>
        </p:txBody>
      </p:sp>
      <p:sp>
        <p:nvSpPr>
          <p:cNvPr id="5" name="Footer Placeholder 4">
            <a:extLst>
              <a:ext uri="{FF2B5EF4-FFF2-40B4-BE49-F238E27FC236}">
                <a16:creationId xmlns:a16="http://schemas.microsoft.com/office/drawing/2014/main" id="{A7AC53A1-799E-764F-D280-8B4DD15FDBCF}"/>
              </a:ext>
            </a:extLst>
          </p:cNvPr>
          <p:cNvSpPr>
            <a:spLocks noGrp="1"/>
          </p:cNvSpPr>
          <p:nvPr>
            <p:ph type="ftr" sz="quarter" idx="11"/>
          </p:nvPr>
        </p:nvSpPr>
        <p:spPr/>
        <p:txBody>
          <a:bodyPr/>
          <a:lstStyle/>
          <a:p>
            <a:r>
              <a:rPr lang="en-US"/>
              <a:t>Engr.Muhammad Umer Haroon</a:t>
            </a:r>
            <a:endParaRPr lang="en-PK"/>
          </a:p>
        </p:txBody>
      </p:sp>
      <p:sp>
        <p:nvSpPr>
          <p:cNvPr id="6" name="Slide Number Placeholder 5">
            <a:extLst>
              <a:ext uri="{FF2B5EF4-FFF2-40B4-BE49-F238E27FC236}">
                <a16:creationId xmlns:a16="http://schemas.microsoft.com/office/drawing/2014/main" id="{2827A8E8-20F8-E62A-8B8F-7EEF377DC8CC}"/>
              </a:ext>
            </a:extLst>
          </p:cNvPr>
          <p:cNvSpPr>
            <a:spLocks noGrp="1"/>
          </p:cNvSpPr>
          <p:nvPr>
            <p:ph type="sldNum" sz="quarter" idx="12"/>
          </p:nvPr>
        </p:nvSpPr>
        <p:spPr/>
        <p:txBody>
          <a:bodyPr/>
          <a:lstStyle/>
          <a:p>
            <a:fld id="{0D0A5746-0EC8-4E7C-A919-4DC4CAA0AC80}" type="slidenum">
              <a:rPr lang="en-PK" smtClean="0"/>
              <a:t>‹#›</a:t>
            </a:fld>
            <a:endParaRPr lang="en-PK"/>
          </a:p>
        </p:txBody>
      </p:sp>
    </p:spTree>
    <p:extLst>
      <p:ext uri="{BB962C8B-B14F-4D97-AF65-F5344CB8AC3E}">
        <p14:creationId xmlns:p14="http://schemas.microsoft.com/office/powerpoint/2010/main" val="1741742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DA645-6C89-3FE3-FA55-74EB05B40B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3E2BFF21-020D-BBD1-FB31-CE56A84DDD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88FDE4-1286-2EC1-4ECB-E39B675F5484}"/>
              </a:ext>
            </a:extLst>
          </p:cNvPr>
          <p:cNvSpPr>
            <a:spLocks noGrp="1"/>
          </p:cNvSpPr>
          <p:nvPr>
            <p:ph type="dt" sz="half" idx="10"/>
          </p:nvPr>
        </p:nvSpPr>
        <p:spPr/>
        <p:txBody>
          <a:bodyPr/>
          <a:lstStyle/>
          <a:p>
            <a:fld id="{1ABA1D4F-24EB-49CA-AD0F-24C3542C292B}" type="datetime8">
              <a:rPr lang="en-PK" smtClean="0"/>
              <a:t>19/10/2025 10:35 pm</a:t>
            </a:fld>
            <a:endParaRPr lang="en-PK"/>
          </a:p>
        </p:txBody>
      </p:sp>
      <p:sp>
        <p:nvSpPr>
          <p:cNvPr id="5" name="Footer Placeholder 4">
            <a:extLst>
              <a:ext uri="{FF2B5EF4-FFF2-40B4-BE49-F238E27FC236}">
                <a16:creationId xmlns:a16="http://schemas.microsoft.com/office/drawing/2014/main" id="{84499DB2-B352-B4F3-2716-C040DF2D49A4}"/>
              </a:ext>
            </a:extLst>
          </p:cNvPr>
          <p:cNvSpPr>
            <a:spLocks noGrp="1"/>
          </p:cNvSpPr>
          <p:nvPr>
            <p:ph type="ftr" sz="quarter" idx="11"/>
          </p:nvPr>
        </p:nvSpPr>
        <p:spPr/>
        <p:txBody>
          <a:bodyPr/>
          <a:lstStyle/>
          <a:p>
            <a:r>
              <a:rPr lang="en-US"/>
              <a:t>Engr.Muhammad Umer Haroon</a:t>
            </a:r>
            <a:endParaRPr lang="en-PK"/>
          </a:p>
        </p:txBody>
      </p:sp>
      <p:sp>
        <p:nvSpPr>
          <p:cNvPr id="6" name="Slide Number Placeholder 5">
            <a:extLst>
              <a:ext uri="{FF2B5EF4-FFF2-40B4-BE49-F238E27FC236}">
                <a16:creationId xmlns:a16="http://schemas.microsoft.com/office/drawing/2014/main" id="{0D452A3D-4044-6E48-68B8-234DE4AD1141}"/>
              </a:ext>
            </a:extLst>
          </p:cNvPr>
          <p:cNvSpPr>
            <a:spLocks noGrp="1"/>
          </p:cNvSpPr>
          <p:nvPr>
            <p:ph type="sldNum" sz="quarter" idx="12"/>
          </p:nvPr>
        </p:nvSpPr>
        <p:spPr/>
        <p:txBody>
          <a:bodyPr/>
          <a:lstStyle/>
          <a:p>
            <a:fld id="{0D0A5746-0EC8-4E7C-A919-4DC4CAA0AC80}" type="slidenum">
              <a:rPr lang="en-PK" smtClean="0"/>
              <a:t>‹#›</a:t>
            </a:fld>
            <a:endParaRPr lang="en-PK"/>
          </a:p>
        </p:txBody>
      </p:sp>
    </p:spTree>
    <p:extLst>
      <p:ext uri="{BB962C8B-B14F-4D97-AF65-F5344CB8AC3E}">
        <p14:creationId xmlns:p14="http://schemas.microsoft.com/office/powerpoint/2010/main" val="3067971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0D32F-FB77-78F2-E2C3-E3F5B44CD25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4193262C-02A6-1414-0555-2F25F00AD1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21A51331-EECE-544D-86B9-15D90BD949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95C46649-3D63-4DA3-714D-57B80293C903}"/>
              </a:ext>
            </a:extLst>
          </p:cNvPr>
          <p:cNvSpPr>
            <a:spLocks noGrp="1"/>
          </p:cNvSpPr>
          <p:nvPr>
            <p:ph type="dt" sz="half" idx="10"/>
          </p:nvPr>
        </p:nvSpPr>
        <p:spPr/>
        <p:txBody>
          <a:bodyPr/>
          <a:lstStyle/>
          <a:p>
            <a:fld id="{E2F7D1A4-984B-4D89-87C5-97434B00BF6B}" type="datetime8">
              <a:rPr lang="en-PK" smtClean="0"/>
              <a:t>19/10/2025 10:35 pm</a:t>
            </a:fld>
            <a:endParaRPr lang="en-PK"/>
          </a:p>
        </p:txBody>
      </p:sp>
      <p:sp>
        <p:nvSpPr>
          <p:cNvPr id="6" name="Footer Placeholder 5">
            <a:extLst>
              <a:ext uri="{FF2B5EF4-FFF2-40B4-BE49-F238E27FC236}">
                <a16:creationId xmlns:a16="http://schemas.microsoft.com/office/drawing/2014/main" id="{71D32318-A1BD-66B6-08E8-55090E417492}"/>
              </a:ext>
            </a:extLst>
          </p:cNvPr>
          <p:cNvSpPr>
            <a:spLocks noGrp="1"/>
          </p:cNvSpPr>
          <p:nvPr>
            <p:ph type="ftr" sz="quarter" idx="11"/>
          </p:nvPr>
        </p:nvSpPr>
        <p:spPr/>
        <p:txBody>
          <a:bodyPr/>
          <a:lstStyle/>
          <a:p>
            <a:r>
              <a:rPr lang="en-US"/>
              <a:t>Engr.Muhammad Umer Haroon</a:t>
            </a:r>
            <a:endParaRPr lang="en-PK"/>
          </a:p>
        </p:txBody>
      </p:sp>
      <p:sp>
        <p:nvSpPr>
          <p:cNvPr id="7" name="Slide Number Placeholder 6">
            <a:extLst>
              <a:ext uri="{FF2B5EF4-FFF2-40B4-BE49-F238E27FC236}">
                <a16:creationId xmlns:a16="http://schemas.microsoft.com/office/drawing/2014/main" id="{135E5299-6996-1746-10C9-BE02CAD1DDB0}"/>
              </a:ext>
            </a:extLst>
          </p:cNvPr>
          <p:cNvSpPr>
            <a:spLocks noGrp="1"/>
          </p:cNvSpPr>
          <p:nvPr>
            <p:ph type="sldNum" sz="quarter" idx="12"/>
          </p:nvPr>
        </p:nvSpPr>
        <p:spPr/>
        <p:txBody>
          <a:bodyPr/>
          <a:lstStyle/>
          <a:p>
            <a:fld id="{0D0A5746-0EC8-4E7C-A919-4DC4CAA0AC80}" type="slidenum">
              <a:rPr lang="en-PK" smtClean="0"/>
              <a:t>‹#›</a:t>
            </a:fld>
            <a:endParaRPr lang="en-PK"/>
          </a:p>
        </p:txBody>
      </p:sp>
    </p:spTree>
    <p:extLst>
      <p:ext uri="{BB962C8B-B14F-4D97-AF65-F5344CB8AC3E}">
        <p14:creationId xmlns:p14="http://schemas.microsoft.com/office/powerpoint/2010/main" val="3097724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73973-412C-267D-59A2-B622E7EC3223}"/>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520BEBA4-2049-180E-2273-C03BBA53A1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974923-4AA6-89D7-3B5D-711A07DBE4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0EA9069B-52BA-5A99-0F66-F1449F39B3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6B3B9F-A11A-13C6-C538-2BE8E2F732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F5A48A0F-6634-302B-015E-AB9186E7B4D1}"/>
              </a:ext>
            </a:extLst>
          </p:cNvPr>
          <p:cNvSpPr>
            <a:spLocks noGrp="1"/>
          </p:cNvSpPr>
          <p:nvPr>
            <p:ph type="dt" sz="half" idx="10"/>
          </p:nvPr>
        </p:nvSpPr>
        <p:spPr/>
        <p:txBody>
          <a:bodyPr/>
          <a:lstStyle/>
          <a:p>
            <a:fld id="{503B3E7D-F39E-4427-9BE9-7CB1305C06AE}" type="datetime8">
              <a:rPr lang="en-PK" smtClean="0"/>
              <a:t>19/10/2025 10:35 pm</a:t>
            </a:fld>
            <a:endParaRPr lang="en-PK"/>
          </a:p>
        </p:txBody>
      </p:sp>
      <p:sp>
        <p:nvSpPr>
          <p:cNvPr id="8" name="Footer Placeholder 7">
            <a:extLst>
              <a:ext uri="{FF2B5EF4-FFF2-40B4-BE49-F238E27FC236}">
                <a16:creationId xmlns:a16="http://schemas.microsoft.com/office/drawing/2014/main" id="{79553158-FBA1-F111-570C-7F37D8E368EF}"/>
              </a:ext>
            </a:extLst>
          </p:cNvPr>
          <p:cNvSpPr>
            <a:spLocks noGrp="1"/>
          </p:cNvSpPr>
          <p:nvPr>
            <p:ph type="ftr" sz="quarter" idx="11"/>
          </p:nvPr>
        </p:nvSpPr>
        <p:spPr/>
        <p:txBody>
          <a:bodyPr/>
          <a:lstStyle/>
          <a:p>
            <a:r>
              <a:rPr lang="en-US"/>
              <a:t>Engr.Muhammad Umer Haroon</a:t>
            </a:r>
            <a:endParaRPr lang="en-PK"/>
          </a:p>
        </p:txBody>
      </p:sp>
      <p:sp>
        <p:nvSpPr>
          <p:cNvPr id="9" name="Slide Number Placeholder 8">
            <a:extLst>
              <a:ext uri="{FF2B5EF4-FFF2-40B4-BE49-F238E27FC236}">
                <a16:creationId xmlns:a16="http://schemas.microsoft.com/office/drawing/2014/main" id="{C24823E7-1454-28BE-933A-5735396FC87A}"/>
              </a:ext>
            </a:extLst>
          </p:cNvPr>
          <p:cNvSpPr>
            <a:spLocks noGrp="1"/>
          </p:cNvSpPr>
          <p:nvPr>
            <p:ph type="sldNum" sz="quarter" idx="12"/>
          </p:nvPr>
        </p:nvSpPr>
        <p:spPr/>
        <p:txBody>
          <a:bodyPr/>
          <a:lstStyle/>
          <a:p>
            <a:fld id="{0D0A5746-0EC8-4E7C-A919-4DC4CAA0AC80}" type="slidenum">
              <a:rPr lang="en-PK" smtClean="0"/>
              <a:t>‹#›</a:t>
            </a:fld>
            <a:endParaRPr lang="en-PK"/>
          </a:p>
        </p:txBody>
      </p:sp>
    </p:spTree>
    <p:extLst>
      <p:ext uri="{BB962C8B-B14F-4D97-AF65-F5344CB8AC3E}">
        <p14:creationId xmlns:p14="http://schemas.microsoft.com/office/powerpoint/2010/main" val="3082123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C4E54-2483-45FD-0408-3945D59E6E9D}"/>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495610A4-89A4-34BD-8439-E495CC15AD2A}"/>
              </a:ext>
            </a:extLst>
          </p:cNvPr>
          <p:cNvSpPr>
            <a:spLocks noGrp="1"/>
          </p:cNvSpPr>
          <p:nvPr>
            <p:ph type="dt" sz="half" idx="10"/>
          </p:nvPr>
        </p:nvSpPr>
        <p:spPr/>
        <p:txBody>
          <a:bodyPr/>
          <a:lstStyle/>
          <a:p>
            <a:fld id="{6CF50CA7-D5E5-41E6-A8D6-ACCED4097335}" type="datetime8">
              <a:rPr lang="en-PK" smtClean="0"/>
              <a:t>19/10/2025 10:35 pm</a:t>
            </a:fld>
            <a:endParaRPr lang="en-PK"/>
          </a:p>
        </p:txBody>
      </p:sp>
      <p:sp>
        <p:nvSpPr>
          <p:cNvPr id="4" name="Footer Placeholder 3">
            <a:extLst>
              <a:ext uri="{FF2B5EF4-FFF2-40B4-BE49-F238E27FC236}">
                <a16:creationId xmlns:a16="http://schemas.microsoft.com/office/drawing/2014/main" id="{240AA906-F7E2-9083-3238-CB87C08553E6}"/>
              </a:ext>
            </a:extLst>
          </p:cNvPr>
          <p:cNvSpPr>
            <a:spLocks noGrp="1"/>
          </p:cNvSpPr>
          <p:nvPr>
            <p:ph type="ftr" sz="quarter" idx="11"/>
          </p:nvPr>
        </p:nvSpPr>
        <p:spPr/>
        <p:txBody>
          <a:bodyPr/>
          <a:lstStyle/>
          <a:p>
            <a:r>
              <a:rPr lang="en-US"/>
              <a:t>Engr.Muhammad Umer Haroon</a:t>
            </a:r>
            <a:endParaRPr lang="en-PK"/>
          </a:p>
        </p:txBody>
      </p:sp>
      <p:sp>
        <p:nvSpPr>
          <p:cNvPr id="5" name="Slide Number Placeholder 4">
            <a:extLst>
              <a:ext uri="{FF2B5EF4-FFF2-40B4-BE49-F238E27FC236}">
                <a16:creationId xmlns:a16="http://schemas.microsoft.com/office/drawing/2014/main" id="{C84E74B9-DE2C-DE69-3DF3-781BFBE98816}"/>
              </a:ext>
            </a:extLst>
          </p:cNvPr>
          <p:cNvSpPr>
            <a:spLocks noGrp="1"/>
          </p:cNvSpPr>
          <p:nvPr>
            <p:ph type="sldNum" sz="quarter" idx="12"/>
          </p:nvPr>
        </p:nvSpPr>
        <p:spPr/>
        <p:txBody>
          <a:bodyPr/>
          <a:lstStyle/>
          <a:p>
            <a:fld id="{0D0A5746-0EC8-4E7C-A919-4DC4CAA0AC80}" type="slidenum">
              <a:rPr lang="en-PK" smtClean="0"/>
              <a:t>‹#›</a:t>
            </a:fld>
            <a:endParaRPr lang="en-PK"/>
          </a:p>
        </p:txBody>
      </p:sp>
    </p:spTree>
    <p:extLst>
      <p:ext uri="{BB962C8B-B14F-4D97-AF65-F5344CB8AC3E}">
        <p14:creationId xmlns:p14="http://schemas.microsoft.com/office/powerpoint/2010/main" val="1719268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457AA8-1437-0FB1-E5FD-819AC6488CFB}"/>
              </a:ext>
            </a:extLst>
          </p:cNvPr>
          <p:cNvSpPr>
            <a:spLocks noGrp="1"/>
          </p:cNvSpPr>
          <p:nvPr>
            <p:ph type="dt" sz="half" idx="10"/>
          </p:nvPr>
        </p:nvSpPr>
        <p:spPr/>
        <p:txBody>
          <a:bodyPr/>
          <a:lstStyle/>
          <a:p>
            <a:fld id="{6FE6C5E5-F519-4EB6-91D4-321496544452}" type="datetime8">
              <a:rPr lang="en-PK" smtClean="0"/>
              <a:t>19/10/2025 10:35 pm</a:t>
            </a:fld>
            <a:endParaRPr lang="en-PK"/>
          </a:p>
        </p:txBody>
      </p:sp>
      <p:sp>
        <p:nvSpPr>
          <p:cNvPr id="3" name="Footer Placeholder 2">
            <a:extLst>
              <a:ext uri="{FF2B5EF4-FFF2-40B4-BE49-F238E27FC236}">
                <a16:creationId xmlns:a16="http://schemas.microsoft.com/office/drawing/2014/main" id="{DC83283D-400D-BCC8-567E-52C62827FC00}"/>
              </a:ext>
            </a:extLst>
          </p:cNvPr>
          <p:cNvSpPr>
            <a:spLocks noGrp="1"/>
          </p:cNvSpPr>
          <p:nvPr>
            <p:ph type="ftr" sz="quarter" idx="11"/>
          </p:nvPr>
        </p:nvSpPr>
        <p:spPr/>
        <p:txBody>
          <a:bodyPr/>
          <a:lstStyle/>
          <a:p>
            <a:r>
              <a:rPr lang="en-US"/>
              <a:t>Engr.Muhammad Umer Haroon</a:t>
            </a:r>
            <a:endParaRPr lang="en-PK"/>
          </a:p>
        </p:txBody>
      </p:sp>
      <p:sp>
        <p:nvSpPr>
          <p:cNvPr id="4" name="Slide Number Placeholder 3">
            <a:extLst>
              <a:ext uri="{FF2B5EF4-FFF2-40B4-BE49-F238E27FC236}">
                <a16:creationId xmlns:a16="http://schemas.microsoft.com/office/drawing/2014/main" id="{1532F545-DB15-E837-2072-662730BF55DD}"/>
              </a:ext>
            </a:extLst>
          </p:cNvPr>
          <p:cNvSpPr>
            <a:spLocks noGrp="1"/>
          </p:cNvSpPr>
          <p:nvPr>
            <p:ph type="sldNum" sz="quarter" idx="12"/>
          </p:nvPr>
        </p:nvSpPr>
        <p:spPr/>
        <p:txBody>
          <a:bodyPr/>
          <a:lstStyle/>
          <a:p>
            <a:fld id="{0D0A5746-0EC8-4E7C-A919-4DC4CAA0AC80}" type="slidenum">
              <a:rPr lang="en-PK" smtClean="0"/>
              <a:t>‹#›</a:t>
            </a:fld>
            <a:endParaRPr lang="en-PK"/>
          </a:p>
        </p:txBody>
      </p:sp>
    </p:spTree>
    <p:extLst>
      <p:ext uri="{BB962C8B-B14F-4D97-AF65-F5344CB8AC3E}">
        <p14:creationId xmlns:p14="http://schemas.microsoft.com/office/powerpoint/2010/main" val="531039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206A6-81A2-8E89-194A-E9C2483017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D4F0BD0F-4D24-B40B-1AC0-22FB2F29A6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714F1257-4D11-3490-0811-A573D5A239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25AE74-F58B-3054-5972-BFD423129C36}"/>
              </a:ext>
            </a:extLst>
          </p:cNvPr>
          <p:cNvSpPr>
            <a:spLocks noGrp="1"/>
          </p:cNvSpPr>
          <p:nvPr>
            <p:ph type="dt" sz="half" idx="10"/>
          </p:nvPr>
        </p:nvSpPr>
        <p:spPr/>
        <p:txBody>
          <a:bodyPr/>
          <a:lstStyle/>
          <a:p>
            <a:fld id="{57876296-9B2E-48BE-9734-7E5F21C9B9F9}" type="datetime8">
              <a:rPr lang="en-PK" smtClean="0"/>
              <a:t>19/10/2025 10:35 pm</a:t>
            </a:fld>
            <a:endParaRPr lang="en-PK"/>
          </a:p>
        </p:txBody>
      </p:sp>
      <p:sp>
        <p:nvSpPr>
          <p:cNvPr id="6" name="Footer Placeholder 5">
            <a:extLst>
              <a:ext uri="{FF2B5EF4-FFF2-40B4-BE49-F238E27FC236}">
                <a16:creationId xmlns:a16="http://schemas.microsoft.com/office/drawing/2014/main" id="{E38730D4-95EA-F455-49BB-173B652A0AB5}"/>
              </a:ext>
            </a:extLst>
          </p:cNvPr>
          <p:cNvSpPr>
            <a:spLocks noGrp="1"/>
          </p:cNvSpPr>
          <p:nvPr>
            <p:ph type="ftr" sz="quarter" idx="11"/>
          </p:nvPr>
        </p:nvSpPr>
        <p:spPr/>
        <p:txBody>
          <a:bodyPr/>
          <a:lstStyle/>
          <a:p>
            <a:r>
              <a:rPr lang="en-US"/>
              <a:t>Engr.Muhammad Umer Haroon</a:t>
            </a:r>
            <a:endParaRPr lang="en-PK"/>
          </a:p>
        </p:txBody>
      </p:sp>
      <p:sp>
        <p:nvSpPr>
          <p:cNvPr id="7" name="Slide Number Placeholder 6">
            <a:extLst>
              <a:ext uri="{FF2B5EF4-FFF2-40B4-BE49-F238E27FC236}">
                <a16:creationId xmlns:a16="http://schemas.microsoft.com/office/drawing/2014/main" id="{51977FFC-9F7F-5BD7-B0B6-799903A8768A}"/>
              </a:ext>
            </a:extLst>
          </p:cNvPr>
          <p:cNvSpPr>
            <a:spLocks noGrp="1"/>
          </p:cNvSpPr>
          <p:nvPr>
            <p:ph type="sldNum" sz="quarter" idx="12"/>
          </p:nvPr>
        </p:nvSpPr>
        <p:spPr/>
        <p:txBody>
          <a:bodyPr/>
          <a:lstStyle/>
          <a:p>
            <a:fld id="{0D0A5746-0EC8-4E7C-A919-4DC4CAA0AC80}" type="slidenum">
              <a:rPr lang="en-PK" smtClean="0"/>
              <a:t>‹#›</a:t>
            </a:fld>
            <a:endParaRPr lang="en-PK"/>
          </a:p>
        </p:txBody>
      </p:sp>
    </p:spTree>
    <p:extLst>
      <p:ext uri="{BB962C8B-B14F-4D97-AF65-F5344CB8AC3E}">
        <p14:creationId xmlns:p14="http://schemas.microsoft.com/office/powerpoint/2010/main" val="3334606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650BC-DA55-C701-8CFA-21906880A2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342D57EA-FD75-7E9F-82E8-07B3DFFB35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0E91D6E5-70EF-75E9-0EC8-27C6057196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13788-1155-26EF-0EAD-2D126C51D870}"/>
              </a:ext>
            </a:extLst>
          </p:cNvPr>
          <p:cNvSpPr>
            <a:spLocks noGrp="1"/>
          </p:cNvSpPr>
          <p:nvPr>
            <p:ph type="dt" sz="half" idx="10"/>
          </p:nvPr>
        </p:nvSpPr>
        <p:spPr/>
        <p:txBody>
          <a:bodyPr/>
          <a:lstStyle/>
          <a:p>
            <a:fld id="{4E59D41C-EDDF-4101-9422-AD9B09DEA1F9}" type="datetime8">
              <a:rPr lang="en-PK" smtClean="0"/>
              <a:t>19/10/2025 10:35 pm</a:t>
            </a:fld>
            <a:endParaRPr lang="en-PK"/>
          </a:p>
        </p:txBody>
      </p:sp>
      <p:sp>
        <p:nvSpPr>
          <p:cNvPr id="6" name="Footer Placeholder 5">
            <a:extLst>
              <a:ext uri="{FF2B5EF4-FFF2-40B4-BE49-F238E27FC236}">
                <a16:creationId xmlns:a16="http://schemas.microsoft.com/office/drawing/2014/main" id="{699AADA8-6CF9-AE5F-4BBF-9AFC11D3A8BB}"/>
              </a:ext>
            </a:extLst>
          </p:cNvPr>
          <p:cNvSpPr>
            <a:spLocks noGrp="1"/>
          </p:cNvSpPr>
          <p:nvPr>
            <p:ph type="ftr" sz="quarter" idx="11"/>
          </p:nvPr>
        </p:nvSpPr>
        <p:spPr/>
        <p:txBody>
          <a:bodyPr/>
          <a:lstStyle/>
          <a:p>
            <a:r>
              <a:rPr lang="en-US"/>
              <a:t>Engr.Muhammad Umer Haroon</a:t>
            </a:r>
            <a:endParaRPr lang="en-PK"/>
          </a:p>
        </p:txBody>
      </p:sp>
      <p:sp>
        <p:nvSpPr>
          <p:cNvPr id="7" name="Slide Number Placeholder 6">
            <a:extLst>
              <a:ext uri="{FF2B5EF4-FFF2-40B4-BE49-F238E27FC236}">
                <a16:creationId xmlns:a16="http://schemas.microsoft.com/office/drawing/2014/main" id="{49FA5BFB-CA3F-A4DA-970F-371A9C6FFC2E}"/>
              </a:ext>
            </a:extLst>
          </p:cNvPr>
          <p:cNvSpPr>
            <a:spLocks noGrp="1"/>
          </p:cNvSpPr>
          <p:nvPr>
            <p:ph type="sldNum" sz="quarter" idx="12"/>
          </p:nvPr>
        </p:nvSpPr>
        <p:spPr/>
        <p:txBody>
          <a:bodyPr/>
          <a:lstStyle/>
          <a:p>
            <a:fld id="{0D0A5746-0EC8-4E7C-A919-4DC4CAA0AC80}" type="slidenum">
              <a:rPr lang="en-PK" smtClean="0"/>
              <a:t>‹#›</a:t>
            </a:fld>
            <a:endParaRPr lang="en-PK"/>
          </a:p>
        </p:txBody>
      </p:sp>
    </p:spTree>
    <p:extLst>
      <p:ext uri="{BB962C8B-B14F-4D97-AF65-F5344CB8AC3E}">
        <p14:creationId xmlns:p14="http://schemas.microsoft.com/office/powerpoint/2010/main" val="1729565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D6373-8ABB-1745-7BEB-E142B55A1619}"/>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1DE60FE-3728-9D78-5864-C51834E18C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37FAA2B-6879-454A-CEB4-F39948D6C207}"/>
              </a:ext>
            </a:extLst>
          </p:cNvPr>
          <p:cNvSpPr>
            <a:spLocks noGrp="1"/>
          </p:cNvSpPr>
          <p:nvPr>
            <p:ph type="dt" sz="half" idx="10"/>
          </p:nvPr>
        </p:nvSpPr>
        <p:spPr/>
        <p:txBody>
          <a:bodyPr/>
          <a:lstStyle/>
          <a:p>
            <a:fld id="{1E26C115-54DB-4570-AB8E-87B100B0CADB}" type="datetime8">
              <a:rPr lang="en-PK" smtClean="0"/>
              <a:t>19/10/2025 10:35 pm</a:t>
            </a:fld>
            <a:endParaRPr lang="en-PK"/>
          </a:p>
        </p:txBody>
      </p:sp>
      <p:sp>
        <p:nvSpPr>
          <p:cNvPr id="5" name="Footer Placeholder 4">
            <a:extLst>
              <a:ext uri="{FF2B5EF4-FFF2-40B4-BE49-F238E27FC236}">
                <a16:creationId xmlns:a16="http://schemas.microsoft.com/office/drawing/2014/main" id="{A11A37C1-7291-7B9E-128B-56375E43AA16}"/>
              </a:ext>
            </a:extLst>
          </p:cNvPr>
          <p:cNvSpPr>
            <a:spLocks noGrp="1"/>
          </p:cNvSpPr>
          <p:nvPr>
            <p:ph type="ftr" sz="quarter" idx="11"/>
          </p:nvPr>
        </p:nvSpPr>
        <p:spPr/>
        <p:txBody>
          <a:bodyPr/>
          <a:lstStyle/>
          <a:p>
            <a:r>
              <a:rPr lang="en-US"/>
              <a:t>Engr.Muhammad Umer Haroon</a:t>
            </a:r>
            <a:endParaRPr lang="en-PK"/>
          </a:p>
        </p:txBody>
      </p:sp>
      <p:sp>
        <p:nvSpPr>
          <p:cNvPr id="6" name="Slide Number Placeholder 5">
            <a:extLst>
              <a:ext uri="{FF2B5EF4-FFF2-40B4-BE49-F238E27FC236}">
                <a16:creationId xmlns:a16="http://schemas.microsoft.com/office/drawing/2014/main" id="{FD1A464D-338B-CBE9-D336-1A9150D33FCB}"/>
              </a:ext>
            </a:extLst>
          </p:cNvPr>
          <p:cNvSpPr>
            <a:spLocks noGrp="1"/>
          </p:cNvSpPr>
          <p:nvPr>
            <p:ph type="sldNum" sz="quarter" idx="12"/>
          </p:nvPr>
        </p:nvSpPr>
        <p:spPr/>
        <p:txBody>
          <a:bodyPr/>
          <a:lstStyle/>
          <a:p>
            <a:fld id="{0D0A5746-0EC8-4E7C-A919-4DC4CAA0AC80}" type="slidenum">
              <a:rPr lang="en-PK" smtClean="0"/>
              <a:t>‹#›</a:t>
            </a:fld>
            <a:endParaRPr lang="en-PK"/>
          </a:p>
        </p:txBody>
      </p:sp>
    </p:spTree>
    <p:extLst>
      <p:ext uri="{BB962C8B-B14F-4D97-AF65-F5344CB8AC3E}">
        <p14:creationId xmlns:p14="http://schemas.microsoft.com/office/powerpoint/2010/main" val="1635102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DAE868-032F-05EC-D6AB-F8FD901502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627918BB-A9C7-362C-C068-7A57B05CDC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58D517C-2C35-1241-D2ED-104320B019F3}"/>
              </a:ext>
            </a:extLst>
          </p:cNvPr>
          <p:cNvSpPr>
            <a:spLocks noGrp="1"/>
          </p:cNvSpPr>
          <p:nvPr>
            <p:ph type="dt" sz="half" idx="10"/>
          </p:nvPr>
        </p:nvSpPr>
        <p:spPr/>
        <p:txBody>
          <a:bodyPr/>
          <a:lstStyle/>
          <a:p>
            <a:fld id="{AF941A70-1EA5-44C0-A8B7-73D41F7C26D3}" type="datetime8">
              <a:rPr lang="en-PK" smtClean="0"/>
              <a:t>19/10/2025 10:35 pm</a:t>
            </a:fld>
            <a:endParaRPr lang="en-PK"/>
          </a:p>
        </p:txBody>
      </p:sp>
      <p:sp>
        <p:nvSpPr>
          <p:cNvPr id="5" name="Footer Placeholder 4">
            <a:extLst>
              <a:ext uri="{FF2B5EF4-FFF2-40B4-BE49-F238E27FC236}">
                <a16:creationId xmlns:a16="http://schemas.microsoft.com/office/drawing/2014/main" id="{F7C962B8-F2A7-D074-7D5F-9F39D0B16506}"/>
              </a:ext>
            </a:extLst>
          </p:cNvPr>
          <p:cNvSpPr>
            <a:spLocks noGrp="1"/>
          </p:cNvSpPr>
          <p:nvPr>
            <p:ph type="ftr" sz="quarter" idx="11"/>
          </p:nvPr>
        </p:nvSpPr>
        <p:spPr/>
        <p:txBody>
          <a:bodyPr/>
          <a:lstStyle/>
          <a:p>
            <a:r>
              <a:rPr lang="en-US"/>
              <a:t>Engr.Muhammad Umer Haroon</a:t>
            </a:r>
            <a:endParaRPr lang="en-PK"/>
          </a:p>
        </p:txBody>
      </p:sp>
      <p:sp>
        <p:nvSpPr>
          <p:cNvPr id="6" name="Slide Number Placeholder 5">
            <a:extLst>
              <a:ext uri="{FF2B5EF4-FFF2-40B4-BE49-F238E27FC236}">
                <a16:creationId xmlns:a16="http://schemas.microsoft.com/office/drawing/2014/main" id="{803D141E-86F7-3D30-41AD-30DD8A460FF3}"/>
              </a:ext>
            </a:extLst>
          </p:cNvPr>
          <p:cNvSpPr>
            <a:spLocks noGrp="1"/>
          </p:cNvSpPr>
          <p:nvPr>
            <p:ph type="sldNum" sz="quarter" idx="12"/>
          </p:nvPr>
        </p:nvSpPr>
        <p:spPr/>
        <p:txBody>
          <a:bodyPr/>
          <a:lstStyle/>
          <a:p>
            <a:fld id="{0D0A5746-0EC8-4E7C-A919-4DC4CAA0AC80}" type="slidenum">
              <a:rPr lang="en-PK" smtClean="0"/>
              <a:t>‹#›</a:t>
            </a:fld>
            <a:endParaRPr lang="en-PK"/>
          </a:p>
        </p:txBody>
      </p:sp>
    </p:spTree>
    <p:extLst>
      <p:ext uri="{BB962C8B-B14F-4D97-AF65-F5344CB8AC3E}">
        <p14:creationId xmlns:p14="http://schemas.microsoft.com/office/powerpoint/2010/main" val="2678032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86E3CC-6744-0AC0-45E1-687D36D49A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DD238C2D-8080-42BC-1D05-9600CF0285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05B9E6F-9F60-F794-FCED-3CC52490DC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8AA443-C312-4FB3-8638-7F7509DD703B}" type="datetime8">
              <a:rPr lang="en-PK" smtClean="0"/>
              <a:t>19/10/2025 10:35 pm</a:t>
            </a:fld>
            <a:endParaRPr lang="en-PK"/>
          </a:p>
        </p:txBody>
      </p:sp>
      <p:sp>
        <p:nvSpPr>
          <p:cNvPr id="5" name="Footer Placeholder 4">
            <a:extLst>
              <a:ext uri="{FF2B5EF4-FFF2-40B4-BE49-F238E27FC236}">
                <a16:creationId xmlns:a16="http://schemas.microsoft.com/office/drawing/2014/main" id="{33DA8202-6124-C7DC-E0DF-011B0C352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Engr.Muhammad Umer Haroon</a:t>
            </a:r>
            <a:endParaRPr lang="en-PK"/>
          </a:p>
        </p:txBody>
      </p:sp>
      <p:sp>
        <p:nvSpPr>
          <p:cNvPr id="6" name="Slide Number Placeholder 5">
            <a:extLst>
              <a:ext uri="{FF2B5EF4-FFF2-40B4-BE49-F238E27FC236}">
                <a16:creationId xmlns:a16="http://schemas.microsoft.com/office/drawing/2014/main" id="{DF54ED70-F775-7AD9-9735-35ECD35396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0A5746-0EC8-4E7C-A919-4DC4CAA0AC80}" type="slidenum">
              <a:rPr lang="en-PK" smtClean="0"/>
              <a:t>‹#›</a:t>
            </a:fld>
            <a:endParaRPr lang="en-PK"/>
          </a:p>
        </p:txBody>
      </p:sp>
    </p:spTree>
    <p:extLst>
      <p:ext uri="{BB962C8B-B14F-4D97-AF65-F5344CB8AC3E}">
        <p14:creationId xmlns:p14="http://schemas.microsoft.com/office/powerpoint/2010/main" val="4871156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techopedia.com/definition/7035/end-to-end-tes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oftwaretestingfundamentals.com/system-testing/" TargetMode="External"/><Relationship Id="rId4" Type="http://schemas.openxmlformats.org/officeDocument/2006/relationships/hyperlink" Target="http://softwaretestingfundamentals.com/integration-testing/"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1CE66-78AF-B677-E5F2-6CF2308B5F0E}"/>
              </a:ext>
            </a:extLst>
          </p:cNvPr>
          <p:cNvSpPr>
            <a:spLocks noGrp="1"/>
          </p:cNvSpPr>
          <p:nvPr>
            <p:ph type="ctrTitle"/>
          </p:nvPr>
        </p:nvSpPr>
        <p:spPr/>
        <p:txBody>
          <a:bodyPr/>
          <a:lstStyle/>
          <a:p>
            <a:endParaRPr lang="en-PK"/>
          </a:p>
        </p:txBody>
      </p:sp>
      <p:sp>
        <p:nvSpPr>
          <p:cNvPr id="3" name="Subtitle 2">
            <a:extLst>
              <a:ext uri="{FF2B5EF4-FFF2-40B4-BE49-F238E27FC236}">
                <a16:creationId xmlns:a16="http://schemas.microsoft.com/office/drawing/2014/main" id="{52741DF4-1919-BEDC-9816-1B0809AD4EA6}"/>
              </a:ext>
            </a:extLst>
          </p:cNvPr>
          <p:cNvSpPr>
            <a:spLocks noGrp="1"/>
          </p:cNvSpPr>
          <p:nvPr>
            <p:ph type="subTitle" idx="1"/>
          </p:nvPr>
        </p:nvSpPr>
        <p:spPr/>
        <p:txBody>
          <a:bodyPr/>
          <a:lstStyle/>
          <a:p>
            <a:endParaRPr lang="en-PK"/>
          </a:p>
        </p:txBody>
      </p:sp>
      <p:sp>
        <p:nvSpPr>
          <p:cNvPr id="4" name="Footer Placeholder 3">
            <a:extLst>
              <a:ext uri="{FF2B5EF4-FFF2-40B4-BE49-F238E27FC236}">
                <a16:creationId xmlns:a16="http://schemas.microsoft.com/office/drawing/2014/main" id="{723671E5-856F-354D-83F9-E516EB8D1D4C}"/>
              </a:ext>
            </a:extLst>
          </p:cNvPr>
          <p:cNvSpPr>
            <a:spLocks noGrp="1"/>
          </p:cNvSpPr>
          <p:nvPr>
            <p:ph type="ftr" sz="quarter" idx="11"/>
          </p:nvPr>
        </p:nvSpPr>
        <p:spPr/>
        <p:txBody>
          <a:bodyPr/>
          <a:lstStyle/>
          <a:p>
            <a:r>
              <a:rPr lang="en-US"/>
              <a:t>Engr.Muhammad Umer Haroon</a:t>
            </a:r>
            <a:endParaRPr lang="en-PK"/>
          </a:p>
        </p:txBody>
      </p:sp>
    </p:spTree>
    <p:extLst>
      <p:ext uri="{BB962C8B-B14F-4D97-AF65-F5344CB8AC3E}">
        <p14:creationId xmlns:p14="http://schemas.microsoft.com/office/powerpoint/2010/main" val="2359474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7614" y="123407"/>
            <a:ext cx="11073186" cy="6408126"/>
          </a:xfrm>
          <a:custGeom>
            <a:avLst/>
            <a:gdLst/>
            <a:ahLst/>
            <a:cxnLst/>
            <a:rect l="l" t="t" r="r" b="b"/>
            <a:pathLst>
              <a:path w="13762907" h="9612189">
                <a:moveTo>
                  <a:pt x="0" y="0"/>
                </a:moveTo>
                <a:lnTo>
                  <a:pt x="13762907" y="0"/>
                </a:lnTo>
                <a:lnTo>
                  <a:pt x="13762907" y="9612189"/>
                </a:lnTo>
                <a:lnTo>
                  <a:pt x="0" y="96121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609600" y="1796665"/>
            <a:ext cx="5926677" cy="3178499"/>
          </a:xfrm>
          <a:prstGeom prst="rect">
            <a:avLst/>
          </a:prstGeom>
        </p:spPr>
        <p:txBody>
          <a:bodyPr wrap="square" lIns="0" tIns="0" rIns="0" bIns="0" rtlCol="0" anchor="t">
            <a:spAutoFit/>
          </a:bodyPr>
          <a:lstStyle/>
          <a:p>
            <a:pPr>
              <a:lnSpc>
                <a:spcPts val="3563"/>
              </a:lnSpc>
            </a:pPr>
            <a:r>
              <a:rPr lang="en-US" sz="2400" dirty="0">
                <a:solidFill>
                  <a:srgbClr val="000000"/>
                </a:solidFill>
                <a:latin typeface="ABeeZee"/>
                <a:ea typeface="ABeeZee"/>
                <a:cs typeface="ABeeZee"/>
                <a:sym typeface="ABeeZee"/>
              </a:rPr>
              <a:t>Welcome to</a:t>
            </a:r>
          </a:p>
          <a:p>
            <a:pPr marL="0" lvl="1">
              <a:lnSpc>
                <a:spcPts val="3563"/>
              </a:lnSpc>
            </a:pPr>
            <a:r>
              <a:rPr lang="en-US" sz="2400" dirty="0">
                <a:solidFill>
                  <a:srgbClr val="000000"/>
                </a:solidFill>
                <a:latin typeface="ABeeZee"/>
                <a:ea typeface="ABeeZee"/>
                <a:cs typeface="ABeeZee"/>
                <a:sym typeface="ABeeZee"/>
              </a:rPr>
              <a:t>Fundamentals of Software Engineering</a:t>
            </a:r>
          </a:p>
          <a:p>
            <a:pPr marL="0" lvl="1">
              <a:lnSpc>
                <a:spcPts val="3563"/>
              </a:lnSpc>
            </a:pPr>
            <a:r>
              <a:rPr lang="en-US" sz="2400" dirty="0">
                <a:solidFill>
                  <a:srgbClr val="000000"/>
                </a:solidFill>
                <a:latin typeface="ABeeZee"/>
                <a:ea typeface="ABeeZee"/>
                <a:cs typeface="ABeeZee"/>
                <a:sym typeface="ABeeZee"/>
              </a:rPr>
              <a:t>Taught by :</a:t>
            </a:r>
          </a:p>
          <a:p>
            <a:pPr marL="0" lvl="1">
              <a:lnSpc>
                <a:spcPts val="3563"/>
              </a:lnSpc>
            </a:pPr>
            <a:r>
              <a:rPr lang="en-US" sz="2400" dirty="0">
                <a:solidFill>
                  <a:srgbClr val="FF0066"/>
                </a:solidFill>
                <a:latin typeface="ABeeZee"/>
                <a:ea typeface="ABeeZee"/>
                <a:cs typeface="ABeeZee"/>
                <a:sym typeface="ABeeZee"/>
              </a:rPr>
              <a:t>Muhammad Umer Haroon</a:t>
            </a:r>
          </a:p>
          <a:p>
            <a:pPr marL="0" lvl="1">
              <a:lnSpc>
                <a:spcPts val="3563"/>
              </a:lnSpc>
            </a:pPr>
            <a:endParaRPr lang="en-US" sz="2400" dirty="0">
              <a:solidFill>
                <a:srgbClr val="000000"/>
              </a:solidFill>
              <a:latin typeface="ABeeZee"/>
              <a:ea typeface="ABeeZee"/>
              <a:cs typeface="ABeeZee"/>
              <a:sym typeface="ABeeZee"/>
            </a:endParaRPr>
          </a:p>
          <a:p>
            <a:pPr>
              <a:lnSpc>
                <a:spcPts val="3563"/>
              </a:lnSpc>
            </a:pPr>
            <a:r>
              <a:rPr lang="en-US" sz="2400" dirty="0">
                <a:solidFill>
                  <a:srgbClr val="000000"/>
                </a:solidFill>
                <a:latin typeface="ABeeZee"/>
                <a:ea typeface="ABeeZee"/>
                <a:cs typeface="ABeeZee"/>
                <a:sym typeface="ABeeZee"/>
              </a:rPr>
              <a:t>You can follow me at</a:t>
            </a:r>
          </a:p>
          <a:p>
            <a:pPr>
              <a:lnSpc>
                <a:spcPts val="3563"/>
              </a:lnSpc>
            </a:pPr>
            <a:r>
              <a:rPr lang="en-US" sz="2133" b="1" dirty="0">
                <a:solidFill>
                  <a:srgbClr val="FF0066"/>
                </a:solidFill>
                <a:latin typeface="ABeeZee"/>
                <a:ea typeface="ABeeZee"/>
                <a:cs typeface="ABeeZee"/>
                <a:sym typeface="ABeeZee"/>
              </a:rPr>
              <a:t>www.linkedin.com/in/engrmuh/</a:t>
            </a:r>
          </a:p>
        </p:txBody>
      </p:sp>
      <p:sp>
        <p:nvSpPr>
          <p:cNvPr id="9" name="Freeform 9"/>
          <p:cNvSpPr/>
          <p:nvPr/>
        </p:nvSpPr>
        <p:spPr>
          <a:xfrm rot="1193799">
            <a:off x="6062184" y="1872633"/>
            <a:ext cx="3681987" cy="3432464"/>
          </a:xfrm>
          <a:custGeom>
            <a:avLst/>
            <a:gdLst/>
            <a:ahLst/>
            <a:cxnLst/>
            <a:rect l="l" t="t" r="r" b="b"/>
            <a:pathLst>
              <a:path w="5522981" h="5148696">
                <a:moveTo>
                  <a:pt x="0" y="0"/>
                </a:moveTo>
                <a:lnTo>
                  <a:pt x="5522981" y="0"/>
                </a:lnTo>
                <a:lnTo>
                  <a:pt x="5522981" y="5148695"/>
                </a:lnTo>
                <a:lnTo>
                  <a:pt x="0" y="51486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TextBox 10"/>
          <p:cNvSpPr txBox="1"/>
          <p:nvPr/>
        </p:nvSpPr>
        <p:spPr>
          <a:xfrm rot="1193799">
            <a:off x="6993884" y="3048775"/>
            <a:ext cx="2250693" cy="1506823"/>
          </a:xfrm>
          <a:prstGeom prst="rect">
            <a:avLst/>
          </a:prstGeom>
        </p:spPr>
        <p:txBody>
          <a:bodyPr lIns="0" tIns="0" rIns="0" bIns="0" rtlCol="0" anchor="t">
            <a:spAutoFit/>
          </a:bodyPr>
          <a:lstStyle/>
          <a:p>
            <a:pPr algn="ctr">
              <a:lnSpc>
                <a:spcPts val="5758"/>
              </a:lnSpc>
              <a:spcBef>
                <a:spcPct val="0"/>
              </a:spcBef>
            </a:pPr>
            <a:r>
              <a:rPr lang="ar-AE" sz="5334" b="1" spc="200" dirty="0">
                <a:solidFill>
                  <a:srgbClr val="C00000"/>
                </a:solidFill>
                <a:latin typeface="Dubai Medium" panose="020B0603030403030204" pitchFamily="34" charset="-78"/>
                <a:ea typeface="Wedges"/>
                <a:cs typeface="Dubai Medium" panose="020B0603030403030204" pitchFamily="34" charset="-78"/>
                <a:sym typeface="Wedges"/>
              </a:rPr>
              <a:t>السلام</a:t>
            </a:r>
          </a:p>
          <a:p>
            <a:pPr algn="ctr">
              <a:lnSpc>
                <a:spcPts val="5758"/>
              </a:lnSpc>
              <a:spcBef>
                <a:spcPct val="0"/>
              </a:spcBef>
            </a:pPr>
            <a:r>
              <a:rPr lang="ar-AE" sz="5334" b="1" spc="200" dirty="0">
                <a:solidFill>
                  <a:srgbClr val="C00000"/>
                </a:solidFill>
                <a:latin typeface="Dubai Medium" panose="020B0603030403030204" pitchFamily="34" charset="-78"/>
                <a:ea typeface="Wedges"/>
                <a:cs typeface="Dubai Medium" panose="020B0603030403030204" pitchFamily="34" charset="-78"/>
                <a:sym typeface="Wedges"/>
              </a:rPr>
              <a:t> عليكم</a:t>
            </a:r>
            <a:endParaRPr lang="en-US" sz="5334" b="1" spc="200" dirty="0">
              <a:solidFill>
                <a:srgbClr val="C00000"/>
              </a:solidFill>
              <a:latin typeface="Dubai Medium" panose="020B0603030403030204" pitchFamily="34" charset="-78"/>
              <a:ea typeface="Wedges"/>
              <a:cs typeface="Dubai Medium" panose="020B0603030403030204" pitchFamily="34" charset="-78"/>
              <a:sym typeface="Wedges"/>
            </a:endParaRPr>
          </a:p>
        </p:txBody>
      </p:sp>
      <p:pic>
        <p:nvPicPr>
          <p:cNvPr id="26" name="Picture 25">
            <a:extLst>
              <a:ext uri="{FF2B5EF4-FFF2-40B4-BE49-F238E27FC236}">
                <a16:creationId xmlns:a16="http://schemas.microsoft.com/office/drawing/2014/main" id="{53CF2321-500D-53BF-BDDC-00D39254B594}"/>
              </a:ext>
            </a:extLst>
          </p:cNvPr>
          <p:cNvPicPr>
            <a:picLocks noChangeAspect="1"/>
          </p:cNvPicPr>
          <p:nvPr/>
        </p:nvPicPr>
        <p:blipFill rotWithShape="1">
          <a:blip r:embed="rId6">
            <a:alphaModFix amt="20000"/>
            <a:extLst>
              <a:ext uri="{28A0092B-C50C-407E-A947-70E740481C1C}">
                <a14:useLocalDpi xmlns:a14="http://schemas.microsoft.com/office/drawing/2010/main" val="0"/>
              </a:ext>
            </a:extLst>
          </a:blip>
          <a:srcRect l="17500" r="10625"/>
          <a:stretch/>
        </p:blipFill>
        <p:spPr>
          <a:xfrm>
            <a:off x="6104169" y="2134187"/>
            <a:ext cx="3598015" cy="3336000"/>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 calcmode="lin" valueType="num">
                                      <p:cBhvr>
                                        <p:cTn id="9" dur="500" fill="hold"/>
                                        <p:tgtEl>
                                          <p:spTgt spid="9"/>
                                        </p:tgtEl>
                                        <p:attrNameLst>
                                          <p:attrName>style.rotation</p:attrName>
                                        </p:attrNameLst>
                                      </p:cBhvr>
                                      <p:tavLst>
                                        <p:tav tm="0">
                                          <p:val>
                                            <p:fltVal val="360"/>
                                          </p:val>
                                        </p:tav>
                                        <p:tav tm="100000">
                                          <p:val>
                                            <p:fltVal val="0"/>
                                          </p:val>
                                        </p:tav>
                                      </p:tavLst>
                                    </p:anim>
                                    <p:animEffect transition="in" filter="fade">
                                      <p:cBhvr>
                                        <p:cTn id="10" dur="500"/>
                                        <p:tgtEl>
                                          <p:spTgt spid="9"/>
                                        </p:tgtEl>
                                      </p:cBhvr>
                                    </p:animEffect>
                                  </p:childTnLst>
                                </p:cTn>
                              </p:par>
                              <p:par>
                                <p:cTn id="11" presetID="49" presetClass="entr" presetSubtype="0" decel="10000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ppt_w</p:attrName>
                                        </p:attrNameLst>
                                      </p:cBhvr>
                                      <p:tavLst>
                                        <p:tav tm="0">
                                          <p:val>
                                            <p:fltVal val="0"/>
                                          </p:val>
                                        </p:tav>
                                        <p:tav tm="100000">
                                          <p:val>
                                            <p:strVal val="#ppt_w"/>
                                          </p:val>
                                        </p:tav>
                                      </p:tavLst>
                                    </p:anim>
                                    <p:anim calcmode="lin" valueType="num">
                                      <p:cBhvr>
                                        <p:cTn id="14" dur="500" fill="hold"/>
                                        <p:tgtEl>
                                          <p:spTgt spid="10"/>
                                        </p:tgtEl>
                                        <p:attrNameLst>
                                          <p:attrName>ppt_h</p:attrName>
                                        </p:attrNameLst>
                                      </p:cBhvr>
                                      <p:tavLst>
                                        <p:tav tm="0">
                                          <p:val>
                                            <p:fltVal val="0"/>
                                          </p:val>
                                        </p:tav>
                                        <p:tav tm="100000">
                                          <p:val>
                                            <p:strVal val="#ppt_h"/>
                                          </p:val>
                                        </p:tav>
                                      </p:tavLst>
                                    </p:anim>
                                    <p:anim calcmode="lin" valueType="num">
                                      <p:cBhvr>
                                        <p:cTn id="15" dur="500" fill="hold"/>
                                        <p:tgtEl>
                                          <p:spTgt spid="10"/>
                                        </p:tgtEl>
                                        <p:attrNameLst>
                                          <p:attrName>style.rotation</p:attrName>
                                        </p:attrNameLst>
                                      </p:cBhvr>
                                      <p:tavLst>
                                        <p:tav tm="0">
                                          <p:val>
                                            <p:fltVal val="360"/>
                                          </p:val>
                                        </p:tav>
                                        <p:tav tm="100000">
                                          <p:val>
                                            <p:fltVal val="0"/>
                                          </p:val>
                                        </p:tav>
                                      </p:tavLst>
                                    </p:anim>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Heart 10">
            <a:extLst>
              <a:ext uri="{FF2B5EF4-FFF2-40B4-BE49-F238E27FC236}">
                <a16:creationId xmlns:a16="http://schemas.microsoft.com/office/drawing/2014/main" id="{4C0BDD68-B882-03E8-FDE7-5CA24BFB31A2}"/>
              </a:ext>
            </a:extLst>
          </p:cNvPr>
          <p:cNvSpPr/>
          <p:nvPr/>
        </p:nvSpPr>
        <p:spPr>
          <a:xfrm rot="3331128">
            <a:off x="-318125" y="5006483"/>
            <a:ext cx="2387600" cy="1970607"/>
          </a:xfrm>
          <a:prstGeom prst="hear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sz="1200"/>
          </a:p>
        </p:txBody>
      </p:sp>
      <p:sp>
        <p:nvSpPr>
          <p:cNvPr id="2" name="Freeform 2"/>
          <p:cNvSpPr/>
          <p:nvPr/>
        </p:nvSpPr>
        <p:spPr>
          <a:xfrm>
            <a:off x="-612376" y="-498388"/>
            <a:ext cx="4876800" cy="2624605"/>
          </a:xfrm>
          <a:custGeom>
            <a:avLst/>
            <a:gdLst/>
            <a:ahLst/>
            <a:cxnLst/>
            <a:rect l="l" t="t" r="r" b="b"/>
            <a:pathLst>
              <a:path w="7315200" h="3936908">
                <a:moveTo>
                  <a:pt x="0" y="0"/>
                </a:moveTo>
                <a:lnTo>
                  <a:pt x="7315200" y="0"/>
                </a:lnTo>
                <a:lnTo>
                  <a:pt x="7315200" y="3936908"/>
                </a:lnTo>
                <a:lnTo>
                  <a:pt x="0" y="39369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9293" y="4360783"/>
            <a:ext cx="2024981" cy="2743200"/>
          </a:xfrm>
          <a:custGeom>
            <a:avLst/>
            <a:gdLst/>
            <a:ahLst/>
            <a:cxnLst/>
            <a:rect l="l" t="t" r="r" b="b"/>
            <a:pathLst>
              <a:path w="3037471" h="4114800">
                <a:moveTo>
                  <a:pt x="0" y="0"/>
                </a:moveTo>
                <a:lnTo>
                  <a:pt x="3037471" y="0"/>
                </a:lnTo>
                <a:lnTo>
                  <a:pt x="303747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2888808" y="-1282827"/>
            <a:ext cx="6031139" cy="9423655"/>
          </a:xfrm>
          <a:custGeom>
            <a:avLst/>
            <a:gdLst/>
            <a:ahLst/>
            <a:cxnLst/>
            <a:rect l="l" t="t" r="r" b="b"/>
            <a:pathLst>
              <a:path w="9046709" h="14135483">
                <a:moveTo>
                  <a:pt x="0" y="0"/>
                </a:moveTo>
                <a:lnTo>
                  <a:pt x="9046709" y="0"/>
                </a:lnTo>
                <a:lnTo>
                  <a:pt x="9046709" y="14135482"/>
                </a:lnTo>
                <a:lnTo>
                  <a:pt x="0" y="1413548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0707687" y="685800"/>
            <a:ext cx="1695455" cy="2348867"/>
          </a:xfrm>
          <a:custGeom>
            <a:avLst/>
            <a:gdLst/>
            <a:ahLst/>
            <a:cxnLst/>
            <a:rect l="l" t="t" r="r" b="b"/>
            <a:pathLst>
              <a:path w="2543182" h="3523300">
                <a:moveTo>
                  <a:pt x="0" y="0"/>
                </a:moveTo>
                <a:lnTo>
                  <a:pt x="2543183" y="0"/>
                </a:lnTo>
                <a:lnTo>
                  <a:pt x="2543183" y="3523300"/>
                </a:lnTo>
                <a:lnTo>
                  <a:pt x="0" y="35233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3592879" y="1263155"/>
            <a:ext cx="5601921" cy="410625"/>
          </a:xfrm>
          <a:prstGeom prst="rect">
            <a:avLst/>
          </a:prstGeom>
        </p:spPr>
        <p:txBody>
          <a:bodyPr wrap="square" lIns="0" tIns="0" rIns="0" bIns="0" rtlCol="0" anchor="t">
            <a:spAutoFit/>
          </a:bodyPr>
          <a:lstStyle/>
          <a:p>
            <a:pPr marL="0" lvl="1" algn="ctr">
              <a:lnSpc>
                <a:spcPts val="3547"/>
              </a:lnSpc>
              <a:spcBef>
                <a:spcPct val="0"/>
              </a:spcBef>
            </a:pPr>
            <a:r>
              <a:rPr lang="en-US" sz="2533" dirty="0">
                <a:solidFill>
                  <a:srgbClr val="2834A6"/>
                </a:solidFill>
                <a:latin typeface="ABeeZee Bold"/>
                <a:ea typeface="ABeeZee Bold"/>
                <a:cs typeface="ABeeZee Bold"/>
                <a:sym typeface="ABeeZee Bold"/>
              </a:rPr>
              <a:t>ENGR. MUHAMMAD UMER HAROON</a:t>
            </a:r>
          </a:p>
        </p:txBody>
      </p:sp>
      <p:grpSp>
        <p:nvGrpSpPr>
          <p:cNvPr id="8" name="Group 8"/>
          <p:cNvGrpSpPr/>
          <p:nvPr/>
        </p:nvGrpSpPr>
        <p:grpSpPr>
          <a:xfrm>
            <a:off x="2447029" y="1673780"/>
            <a:ext cx="7297941" cy="4001277"/>
            <a:chOff x="-1" y="-2204243"/>
            <a:chExt cx="14595883" cy="8002554"/>
          </a:xfrm>
        </p:grpSpPr>
        <p:sp>
          <p:nvSpPr>
            <p:cNvPr id="9" name="TextBox 9"/>
            <p:cNvSpPr txBox="1"/>
            <p:nvPr/>
          </p:nvSpPr>
          <p:spPr>
            <a:xfrm>
              <a:off x="-1" y="-2204243"/>
              <a:ext cx="14595883" cy="2002856"/>
            </a:xfrm>
            <a:prstGeom prst="rect">
              <a:avLst/>
            </a:prstGeom>
          </p:spPr>
          <p:txBody>
            <a:bodyPr lIns="0" tIns="0" rIns="0" bIns="0" rtlCol="0" anchor="t">
              <a:spAutoFit/>
            </a:bodyPr>
            <a:lstStyle/>
            <a:p>
              <a:pPr algn="ctr">
                <a:lnSpc>
                  <a:spcPts val="8280"/>
                </a:lnSpc>
              </a:pPr>
              <a:endParaRPr lang="en-US" sz="6000" dirty="0">
                <a:solidFill>
                  <a:srgbClr val="2834A6"/>
                </a:solidFill>
                <a:latin typeface="Wedges"/>
                <a:ea typeface="Wedges"/>
                <a:cs typeface="Wedges"/>
                <a:sym typeface="Wedges"/>
              </a:endParaRPr>
            </a:p>
          </p:txBody>
        </p:sp>
        <p:sp>
          <p:nvSpPr>
            <p:cNvPr id="10" name="TextBox 10"/>
            <p:cNvSpPr txBox="1"/>
            <p:nvPr/>
          </p:nvSpPr>
          <p:spPr>
            <a:xfrm>
              <a:off x="17799" y="1722451"/>
              <a:ext cx="13936869" cy="4075860"/>
            </a:xfrm>
            <a:prstGeom prst="rect">
              <a:avLst/>
            </a:prstGeom>
          </p:spPr>
          <p:txBody>
            <a:bodyPr wrap="square" lIns="0" tIns="0" rIns="0" bIns="0" rtlCol="0" anchor="t">
              <a:spAutoFit/>
            </a:bodyPr>
            <a:lstStyle/>
            <a:p>
              <a:pPr algn="ctr">
                <a:lnSpc>
                  <a:spcPts val="8280"/>
                </a:lnSpc>
                <a:spcBef>
                  <a:spcPct val="0"/>
                </a:spcBef>
              </a:pPr>
              <a:r>
                <a:rPr lang="en-US" sz="6000" dirty="0">
                  <a:solidFill>
                    <a:srgbClr val="2834A6"/>
                  </a:solidFill>
                  <a:latin typeface="Wedges"/>
                  <a:ea typeface="Wedges"/>
                  <a:cs typeface="Wedges"/>
                  <a:sym typeface="Wedges"/>
                </a:rPr>
                <a:t>SOFTWARE ENGINEERING</a:t>
              </a:r>
            </a:p>
          </p:txBody>
        </p:sp>
      </p:grpSp>
      <p:sp>
        <p:nvSpPr>
          <p:cNvPr id="5" name="Footer Placeholder 4">
            <a:extLst>
              <a:ext uri="{FF2B5EF4-FFF2-40B4-BE49-F238E27FC236}">
                <a16:creationId xmlns:a16="http://schemas.microsoft.com/office/drawing/2014/main" id="{4B2BC757-7A03-7879-379F-350CA9F840EA}"/>
              </a:ext>
            </a:extLst>
          </p:cNvPr>
          <p:cNvSpPr>
            <a:spLocks noGrp="1"/>
          </p:cNvSpPr>
          <p:nvPr>
            <p:ph type="ftr" sz="quarter" idx="11"/>
          </p:nvPr>
        </p:nvSpPr>
        <p:spPr/>
        <p:txBody>
          <a:bodyPr/>
          <a:lstStyle/>
          <a:p>
            <a:r>
              <a:rPr lang="en-US"/>
              <a:t>Engr. Muhammad Umer Haroon</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A07C4-EDDE-C011-AFD8-E29DE82A6EF6}"/>
              </a:ext>
            </a:extLst>
          </p:cNvPr>
          <p:cNvSpPr>
            <a:spLocks noGrp="1"/>
          </p:cNvSpPr>
          <p:nvPr>
            <p:ph type="title"/>
          </p:nvPr>
        </p:nvSpPr>
        <p:spPr/>
        <p:txBody>
          <a:bodyPr/>
          <a:lstStyle/>
          <a:p>
            <a:r>
              <a:rPr lang="en-US" dirty="0"/>
              <a:t>Testing</a:t>
            </a:r>
            <a:br>
              <a:rPr lang="en-US" dirty="0"/>
            </a:br>
            <a:endParaRPr lang="en-PK" dirty="0"/>
          </a:p>
        </p:txBody>
      </p:sp>
      <p:sp>
        <p:nvSpPr>
          <p:cNvPr id="3" name="Content Placeholder 2">
            <a:extLst>
              <a:ext uri="{FF2B5EF4-FFF2-40B4-BE49-F238E27FC236}">
                <a16:creationId xmlns:a16="http://schemas.microsoft.com/office/drawing/2014/main" id="{3ED4EDF4-AA5A-86CE-A1BE-10F9D0AF15EC}"/>
              </a:ext>
            </a:extLst>
          </p:cNvPr>
          <p:cNvSpPr>
            <a:spLocks noGrp="1"/>
          </p:cNvSpPr>
          <p:nvPr>
            <p:ph idx="1"/>
          </p:nvPr>
        </p:nvSpPr>
        <p:spPr/>
        <p:txBody>
          <a:bodyPr/>
          <a:lstStyle/>
          <a:p>
            <a:r>
              <a:rPr lang="en-US" dirty="0"/>
              <a:t>According to ANSI/IEEE 1059 standard, Testing can be defined as - A process of analyzing a software item to detect the differences between existing and required conditions (that is defects/errors/bugs) and to evaluate the features of the software item.</a:t>
            </a:r>
          </a:p>
          <a:p>
            <a:endParaRPr lang="en-PK" dirty="0"/>
          </a:p>
        </p:txBody>
      </p:sp>
      <p:sp>
        <p:nvSpPr>
          <p:cNvPr id="4" name="Footer Placeholder 3">
            <a:extLst>
              <a:ext uri="{FF2B5EF4-FFF2-40B4-BE49-F238E27FC236}">
                <a16:creationId xmlns:a16="http://schemas.microsoft.com/office/drawing/2014/main" id="{23EC989F-F56A-5BE4-AA62-72CAECAE2507}"/>
              </a:ext>
            </a:extLst>
          </p:cNvPr>
          <p:cNvSpPr>
            <a:spLocks noGrp="1"/>
          </p:cNvSpPr>
          <p:nvPr>
            <p:ph type="ftr" sz="quarter" idx="11"/>
          </p:nvPr>
        </p:nvSpPr>
        <p:spPr/>
        <p:txBody>
          <a:bodyPr/>
          <a:lstStyle/>
          <a:p>
            <a:r>
              <a:rPr lang="en-US"/>
              <a:t>Engr.Muhammad Umer Haroon</a:t>
            </a:r>
            <a:endParaRPr lang="en-PK"/>
          </a:p>
        </p:txBody>
      </p:sp>
    </p:spTree>
    <p:extLst>
      <p:ext uri="{BB962C8B-B14F-4D97-AF65-F5344CB8AC3E}">
        <p14:creationId xmlns:p14="http://schemas.microsoft.com/office/powerpoint/2010/main" val="3977209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41F52-3BD3-AC0F-AA14-AC70DF70EAEF}"/>
              </a:ext>
            </a:extLst>
          </p:cNvPr>
          <p:cNvSpPr>
            <a:spLocks noGrp="1"/>
          </p:cNvSpPr>
          <p:nvPr>
            <p:ph type="title"/>
          </p:nvPr>
        </p:nvSpPr>
        <p:spPr/>
        <p:txBody>
          <a:bodyPr/>
          <a:lstStyle/>
          <a:p>
            <a:r>
              <a:rPr lang="en-US" dirty="0"/>
              <a:t>Who does Testing?</a:t>
            </a:r>
            <a:br>
              <a:rPr lang="en-US" dirty="0"/>
            </a:br>
            <a:endParaRPr lang="en-PK" dirty="0"/>
          </a:p>
        </p:txBody>
      </p:sp>
      <p:sp>
        <p:nvSpPr>
          <p:cNvPr id="3" name="Content Placeholder 2">
            <a:extLst>
              <a:ext uri="{FF2B5EF4-FFF2-40B4-BE49-F238E27FC236}">
                <a16:creationId xmlns:a16="http://schemas.microsoft.com/office/drawing/2014/main" id="{ADB5F5C0-0F4D-F9E4-BD0C-68BE3FEC7F3A}"/>
              </a:ext>
            </a:extLst>
          </p:cNvPr>
          <p:cNvSpPr>
            <a:spLocks noGrp="1"/>
          </p:cNvSpPr>
          <p:nvPr>
            <p:ph idx="1"/>
          </p:nvPr>
        </p:nvSpPr>
        <p:spPr/>
        <p:txBody>
          <a:bodyPr>
            <a:normAutofit lnSpcReduction="10000"/>
          </a:bodyPr>
          <a:lstStyle/>
          <a:p>
            <a:r>
              <a:rPr lang="en-US" dirty="0"/>
              <a:t>It depends on the process and the associated stakeholders of the project(s). In the IT industry, large companies have a team with responsibilities to evaluate the developed software in context of the given requirements. Moreover, developers also conduct testing which is called Unit Testing. In most cases, the following professionals are involved in testing a system within their respective capacities:</a:t>
            </a:r>
          </a:p>
          <a:p>
            <a:r>
              <a:rPr lang="en-US" dirty="0"/>
              <a:t>Software Tester</a:t>
            </a:r>
          </a:p>
          <a:p>
            <a:r>
              <a:rPr lang="en-US" dirty="0"/>
              <a:t>Software Developer</a:t>
            </a:r>
          </a:p>
          <a:p>
            <a:r>
              <a:rPr lang="en-US" dirty="0"/>
              <a:t>Project Lead/Manager</a:t>
            </a:r>
          </a:p>
          <a:p>
            <a:r>
              <a:rPr lang="en-US" dirty="0"/>
              <a:t>End User (how…………… ?)</a:t>
            </a:r>
          </a:p>
          <a:p>
            <a:endParaRPr lang="en-PK" dirty="0"/>
          </a:p>
        </p:txBody>
      </p:sp>
      <p:sp>
        <p:nvSpPr>
          <p:cNvPr id="4" name="Footer Placeholder 3">
            <a:extLst>
              <a:ext uri="{FF2B5EF4-FFF2-40B4-BE49-F238E27FC236}">
                <a16:creationId xmlns:a16="http://schemas.microsoft.com/office/drawing/2014/main" id="{8185E12C-FFE0-4B5D-E8BE-59F80543E5CB}"/>
              </a:ext>
            </a:extLst>
          </p:cNvPr>
          <p:cNvSpPr>
            <a:spLocks noGrp="1"/>
          </p:cNvSpPr>
          <p:nvPr>
            <p:ph type="ftr" sz="quarter" idx="11"/>
          </p:nvPr>
        </p:nvSpPr>
        <p:spPr/>
        <p:txBody>
          <a:bodyPr/>
          <a:lstStyle/>
          <a:p>
            <a:r>
              <a:rPr lang="en-US"/>
              <a:t>Engr.Muhammad Umer Haroon</a:t>
            </a:r>
            <a:endParaRPr lang="en-PK"/>
          </a:p>
        </p:txBody>
      </p:sp>
    </p:spTree>
    <p:extLst>
      <p:ext uri="{BB962C8B-B14F-4D97-AF65-F5344CB8AC3E}">
        <p14:creationId xmlns:p14="http://schemas.microsoft.com/office/powerpoint/2010/main" val="2013882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86169-FFBE-12B8-CCD8-36E7C1F18242}"/>
              </a:ext>
            </a:extLst>
          </p:cNvPr>
          <p:cNvSpPr>
            <a:spLocks noGrp="1"/>
          </p:cNvSpPr>
          <p:nvPr>
            <p:ph type="title"/>
          </p:nvPr>
        </p:nvSpPr>
        <p:spPr/>
        <p:txBody>
          <a:bodyPr/>
          <a:lstStyle/>
          <a:p>
            <a:r>
              <a:rPr lang="en-US" dirty="0"/>
              <a:t>When to Start Testing?</a:t>
            </a:r>
            <a:br>
              <a:rPr lang="en-US" dirty="0"/>
            </a:br>
            <a:endParaRPr lang="en-PK" dirty="0"/>
          </a:p>
        </p:txBody>
      </p:sp>
      <p:sp>
        <p:nvSpPr>
          <p:cNvPr id="3" name="Content Placeholder 2">
            <a:extLst>
              <a:ext uri="{FF2B5EF4-FFF2-40B4-BE49-F238E27FC236}">
                <a16:creationId xmlns:a16="http://schemas.microsoft.com/office/drawing/2014/main" id="{E2D92BF3-F7C3-215A-AAE1-1EDC3F8EC68D}"/>
              </a:ext>
            </a:extLst>
          </p:cNvPr>
          <p:cNvSpPr>
            <a:spLocks noGrp="1"/>
          </p:cNvSpPr>
          <p:nvPr>
            <p:ph idx="1"/>
          </p:nvPr>
        </p:nvSpPr>
        <p:spPr/>
        <p:txBody>
          <a:bodyPr>
            <a:normAutofit lnSpcReduction="10000"/>
          </a:bodyPr>
          <a:lstStyle/>
          <a:p>
            <a:r>
              <a:rPr lang="en-US" dirty="0"/>
              <a:t>Testing is done in different forms at every phase of SDLC:</a:t>
            </a:r>
          </a:p>
          <a:p>
            <a:endParaRPr lang="en-US" dirty="0"/>
          </a:p>
          <a:p>
            <a:r>
              <a:rPr lang="en-US" dirty="0"/>
              <a:t>During the requirement gathering phase, the analysis and verification of requirements are also </a:t>
            </a:r>
            <a:r>
              <a:rPr lang="en-US" u="sng" dirty="0"/>
              <a:t>considered as testing.</a:t>
            </a:r>
          </a:p>
          <a:p>
            <a:endParaRPr lang="en-US" dirty="0"/>
          </a:p>
          <a:p>
            <a:r>
              <a:rPr lang="en-US" dirty="0"/>
              <a:t>Reviewing the design in the design phase with the intent to improve the design is also </a:t>
            </a:r>
            <a:r>
              <a:rPr lang="en-US" u="sng" dirty="0"/>
              <a:t>considered as testing.</a:t>
            </a:r>
          </a:p>
          <a:p>
            <a:endParaRPr lang="en-US" dirty="0"/>
          </a:p>
          <a:p>
            <a:r>
              <a:rPr lang="en-US" u="sng" dirty="0"/>
              <a:t>Testing performed by a developer on completion of the code is also categorized as testing.</a:t>
            </a:r>
          </a:p>
          <a:p>
            <a:endParaRPr lang="en-PK" dirty="0"/>
          </a:p>
        </p:txBody>
      </p:sp>
      <p:sp>
        <p:nvSpPr>
          <p:cNvPr id="4" name="Footer Placeholder 3">
            <a:extLst>
              <a:ext uri="{FF2B5EF4-FFF2-40B4-BE49-F238E27FC236}">
                <a16:creationId xmlns:a16="http://schemas.microsoft.com/office/drawing/2014/main" id="{92DB9AEC-16E2-E476-B5C7-169C728ED35D}"/>
              </a:ext>
            </a:extLst>
          </p:cNvPr>
          <p:cNvSpPr>
            <a:spLocks noGrp="1"/>
          </p:cNvSpPr>
          <p:nvPr>
            <p:ph type="ftr" sz="quarter" idx="11"/>
          </p:nvPr>
        </p:nvSpPr>
        <p:spPr/>
        <p:txBody>
          <a:bodyPr/>
          <a:lstStyle/>
          <a:p>
            <a:r>
              <a:rPr lang="en-US"/>
              <a:t>Engr.Muhammad Umer Haroon</a:t>
            </a:r>
            <a:endParaRPr lang="en-PK"/>
          </a:p>
        </p:txBody>
      </p:sp>
    </p:spTree>
    <p:extLst>
      <p:ext uri="{BB962C8B-B14F-4D97-AF65-F5344CB8AC3E}">
        <p14:creationId xmlns:p14="http://schemas.microsoft.com/office/powerpoint/2010/main" val="4249773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B5169-10EB-E19A-4939-3E3EB0211CE8}"/>
              </a:ext>
            </a:extLst>
          </p:cNvPr>
          <p:cNvSpPr>
            <a:spLocks noGrp="1"/>
          </p:cNvSpPr>
          <p:nvPr>
            <p:ph type="title"/>
          </p:nvPr>
        </p:nvSpPr>
        <p:spPr/>
        <p:txBody>
          <a:bodyPr/>
          <a:lstStyle/>
          <a:p>
            <a:r>
              <a:rPr lang="en-US" dirty="0"/>
              <a:t>When to Stop Testing?</a:t>
            </a:r>
            <a:br>
              <a:rPr lang="en-US" dirty="0"/>
            </a:br>
            <a:endParaRPr lang="en-PK" dirty="0"/>
          </a:p>
        </p:txBody>
      </p:sp>
      <p:sp>
        <p:nvSpPr>
          <p:cNvPr id="3" name="Content Placeholder 2">
            <a:extLst>
              <a:ext uri="{FF2B5EF4-FFF2-40B4-BE49-F238E27FC236}">
                <a16:creationId xmlns:a16="http://schemas.microsoft.com/office/drawing/2014/main" id="{57E67A30-ED59-0B40-07B4-E6EF7D6DA847}"/>
              </a:ext>
            </a:extLst>
          </p:cNvPr>
          <p:cNvSpPr>
            <a:spLocks noGrp="1"/>
          </p:cNvSpPr>
          <p:nvPr>
            <p:ph idx="1"/>
          </p:nvPr>
        </p:nvSpPr>
        <p:spPr/>
        <p:txBody>
          <a:bodyPr>
            <a:normAutofit lnSpcReduction="10000"/>
          </a:bodyPr>
          <a:lstStyle/>
          <a:p>
            <a:r>
              <a:rPr lang="en-US" dirty="0"/>
              <a:t>It is difficult to determine when to stop testing, as testing is a never-ending process and no one can claim that a software is 100% tested. The following aspects are to be considered for stopping the testing process:</a:t>
            </a:r>
          </a:p>
          <a:p>
            <a:r>
              <a:rPr lang="en-US" dirty="0"/>
              <a:t>Testing Deadlines</a:t>
            </a:r>
          </a:p>
          <a:p>
            <a:r>
              <a:rPr lang="en-US" dirty="0"/>
              <a:t>Completion of test case execution</a:t>
            </a:r>
          </a:p>
          <a:p>
            <a:r>
              <a:rPr lang="en-US" dirty="0"/>
              <a:t>Completion of functional and code coverage to a certain point</a:t>
            </a:r>
          </a:p>
          <a:p>
            <a:r>
              <a:rPr lang="en-US" dirty="0"/>
              <a:t>Bug rate falls below a certain level and no high-priority bugs are identified</a:t>
            </a:r>
          </a:p>
          <a:p>
            <a:r>
              <a:rPr lang="en-US" dirty="0"/>
              <a:t>Management decision</a:t>
            </a:r>
          </a:p>
          <a:p>
            <a:endParaRPr lang="en-PK" dirty="0"/>
          </a:p>
        </p:txBody>
      </p:sp>
      <p:sp>
        <p:nvSpPr>
          <p:cNvPr id="4" name="Footer Placeholder 3">
            <a:extLst>
              <a:ext uri="{FF2B5EF4-FFF2-40B4-BE49-F238E27FC236}">
                <a16:creationId xmlns:a16="http://schemas.microsoft.com/office/drawing/2014/main" id="{4E393C3E-EBF7-B9D0-34FC-126D252C99B9}"/>
              </a:ext>
            </a:extLst>
          </p:cNvPr>
          <p:cNvSpPr>
            <a:spLocks noGrp="1"/>
          </p:cNvSpPr>
          <p:nvPr>
            <p:ph type="ftr" sz="quarter" idx="11"/>
          </p:nvPr>
        </p:nvSpPr>
        <p:spPr/>
        <p:txBody>
          <a:bodyPr/>
          <a:lstStyle/>
          <a:p>
            <a:r>
              <a:rPr lang="en-US"/>
              <a:t>Engr.Muhammad Umer Haroon</a:t>
            </a:r>
            <a:endParaRPr lang="en-PK"/>
          </a:p>
        </p:txBody>
      </p:sp>
    </p:spTree>
    <p:extLst>
      <p:ext uri="{BB962C8B-B14F-4D97-AF65-F5344CB8AC3E}">
        <p14:creationId xmlns:p14="http://schemas.microsoft.com/office/powerpoint/2010/main" val="3461625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5D31A-542E-49C0-97E7-F2912CF8F214}"/>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5B6483B3-588D-FF57-BF36-F574B196151E}"/>
              </a:ext>
            </a:extLst>
          </p:cNvPr>
          <p:cNvSpPr>
            <a:spLocks noGrp="1"/>
          </p:cNvSpPr>
          <p:nvPr>
            <p:ph idx="1"/>
          </p:nvPr>
        </p:nvSpPr>
        <p:spPr/>
        <p:txBody>
          <a:bodyPr>
            <a:normAutofit lnSpcReduction="10000"/>
          </a:bodyPr>
          <a:lstStyle/>
          <a:p>
            <a:r>
              <a:rPr lang="en-US" dirty="0"/>
              <a:t>Functional coverage refers to the extent to which the software has been tested to ensure that it meets its intended functionality or requirements. </a:t>
            </a:r>
          </a:p>
          <a:p>
            <a:r>
              <a:rPr lang="en-US" dirty="0"/>
              <a:t>Code coverage, on the other hand, refers to the percentage of code that has been tested through automated testing or other methods.</a:t>
            </a:r>
          </a:p>
          <a:p>
            <a:r>
              <a:rPr lang="en-US" dirty="0"/>
              <a:t>It's important to note that achieving complete functional and code coverage is often difficult or even impossible, particularly for large or complex software projects. Instead, testing efforts typically focus on testing the most critical and high-risk parts of the code, while acknowledging that some areas may remain untested or under-tested.</a:t>
            </a:r>
          </a:p>
          <a:p>
            <a:endParaRPr lang="en-PK" dirty="0"/>
          </a:p>
        </p:txBody>
      </p:sp>
      <p:sp>
        <p:nvSpPr>
          <p:cNvPr id="4" name="Footer Placeholder 3">
            <a:extLst>
              <a:ext uri="{FF2B5EF4-FFF2-40B4-BE49-F238E27FC236}">
                <a16:creationId xmlns:a16="http://schemas.microsoft.com/office/drawing/2014/main" id="{62379153-8DAC-FB0C-4858-90A2150B3A75}"/>
              </a:ext>
            </a:extLst>
          </p:cNvPr>
          <p:cNvSpPr>
            <a:spLocks noGrp="1"/>
          </p:cNvSpPr>
          <p:nvPr>
            <p:ph type="ftr" sz="quarter" idx="11"/>
          </p:nvPr>
        </p:nvSpPr>
        <p:spPr/>
        <p:txBody>
          <a:bodyPr/>
          <a:lstStyle/>
          <a:p>
            <a:r>
              <a:rPr lang="en-US"/>
              <a:t>Engr.Muhammad Umer Haroon</a:t>
            </a:r>
            <a:endParaRPr lang="en-PK"/>
          </a:p>
        </p:txBody>
      </p:sp>
    </p:spTree>
    <p:extLst>
      <p:ext uri="{BB962C8B-B14F-4D97-AF65-F5344CB8AC3E}">
        <p14:creationId xmlns:p14="http://schemas.microsoft.com/office/powerpoint/2010/main" val="3758803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E02A0-DCA5-D5D0-0F6D-7006E8A81862}"/>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7B68361B-D25B-008B-1BF9-0F069D10A537}"/>
              </a:ext>
            </a:extLst>
          </p:cNvPr>
          <p:cNvSpPr>
            <a:spLocks noGrp="1"/>
          </p:cNvSpPr>
          <p:nvPr>
            <p:ph idx="1"/>
          </p:nvPr>
        </p:nvSpPr>
        <p:spPr/>
        <p:txBody>
          <a:bodyPr/>
          <a:lstStyle/>
          <a:p>
            <a:endParaRPr lang="en-PK"/>
          </a:p>
        </p:txBody>
      </p:sp>
      <p:pic>
        <p:nvPicPr>
          <p:cNvPr id="1026" name="Picture 2">
            <a:extLst>
              <a:ext uri="{FF2B5EF4-FFF2-40B4-BE49-F238E27FC236}">
                <a16:creationId xmlns:a16="http://schemas.microsoft.com/office/drawing/2014/main" id="{7E396AA5-217C-CD68-D60C-62A473931A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2024" y="1385887"/>
            <a:ext cx="6981825" cy="4086225"/>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F318F694-571F-D21D-D822-28BA5238C047}"/>
              </a:ext>
            </a:extLst>
          </p:cNvPr>
          <p:cNvSpPr>
            <a:spLocks noGrp="1"/>
          </p:cNvSpPr>
          <p:nvPr>
            <p:ph type="ftr" sz="quarter" idx="11"/>
          </p:nvPr>
        </p:nvSpPr>
        <p:spPr/>
        <p:txBody>
          <a:bodyPr/>
          <a:lstStyle/>
          <a:p>
            <a:r>
              <a:rPr lang="en-US"/>
              <a:t>Engr.Muhammad Umer Haroon</a:t>
            </a:r>
            <a:endParaRPr lang="en-PK"/>
          </a:p>
        </p:txBody>
      </p:sp>
    </p:spTree>
    <p:extLst>
      <p:ext uri="{BB962C8B-B14F-4D97-AF65-F5344CB8AC3E}">
        <p14:creationId xmlns:p14="http://schemas.microsoft.com/office/powerpoint/2010/main" val="1396136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3CDC-D319-0FCE-E475-482E9FC597B0}"/>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CE3E78A6-AD33-5DCE-4C5F-F0FCF37BB6B9}"/>
              </a:ext>
            </a:extLst>
          </p:cNvPr>
          <p:cNvSpPr>
            <a:spLocks noGrp="1"/>
          </p:cNvSpPr>
          <p:nvPr>
            <p:ph idx="1"/>
          </p:nvPr>
        </p:nvSpPr>
        <p:spPr/>
        <p:txBody>
          <a:bodyPr/>
          <a:lstStyle/>
          <a:p>
            <a:endParaRPr lang="en-PK"/>
          </a:p>
        </p:txBody>
      </p:sp>
      <p:pic>
        <p:nvPicPr>
          <p:cNvPr id="2050" name="Picture 2">
            <a:extLst>
              <a:ext uri="{FF2B5EF4-FFF2-40B4-BE49-F238E27FC236}">
                <a16:creationId xmlns:a16="http://schemas.microsoft.com/office/drawing/2014/main" id="{3E2560F4-51B6-C973-CE18-5E4498F671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9880" y="1385887"/>
            <a:ext cx="6981825" cy="40862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9024BE2-BB90-1285-90D2-3670DB11DBC9}"/>
              </a:ext>
            </a:extLst>
          </p:cNvPr>
          <p:cNvSpPr txBox="1"/>
          <p:nvPr/>
        </p:nvSpPr>
        <p:spPr>
          <a:xfrm>
            <a:off x="2399190" y="5846543"/>
            <a:ext cx="6094520" cy="646331"/>
          </a:xfrm>
          <a:prstGeom prst="rect">
            <a:avLst/>
          </a:prstGeom>
          <a:noFill/>
        </p:spPr>
        <p:txBody>
          <a:bodyPr wrap="square">
            <a:spAutoFit/>
          </a:bodyPr>
          <a:lstStyle/>
          <a:p>
            <a:r>
              <a:rPr lang="en-US" sz="1800" b="0" i="0" u="none" strike="noStrike" dirty="0">
                <a:solidFill>
                  <a:srgbClr val="000000"/>
                </a:solidFill>
                <a:effectLst/>
                <a:latin typeface="Calibri" panose="020F0502020204030204" pitchFamily="34" charset="0"/>
              </a:rPr>
              <a:t>Our objective with Inspections is to reduce the Cost of Quality by finding and removing defects earlier and at a lower cost.</a:t>
            </a:r>
            <a:endParaRPr lang="en-PK" dirty="0"/>
          </a:p>
        </p:txBody>
      </p:sp>
      <p:sp>
        <p:nvSpPr>
          <p:cNvPr id="4" name="Footer Placeholder 3">
            <a:extLst>
              <a:ext uri="{FF2B5EF4-FFF2-40B4-BE49-F238E27FC236}">
                <a16:creationId xmlns:a16="http://schemas.microsoft.com/office/drawing/2014/main" id="{F65DA2D1-3DA1-94D6-ACEB-F03D4DBAA4B1}"/>
              </a:ext>
            </a:extLst>
          </p:cNvPr>
          <p:cNvSpPr>
            <a:spLocks noGrp="1"/>
          </p:cNvSpPr>
          <p:nvPr>
            <p:ph type="ftr" sz="quarter" idx="11"/>
          </p:nvPr>
        </p:nvSpPr>
        <p:spPr/>
        <p:txBody>
          <a:bodyPr/>
          <a:lstStyle/>
          <a:p>
            <a:r>
              <a:rPr lang="en-US"/>
              <a:t>Engr.Muhammad Umer Haroon</a:t>
            </a:r>
            <a:endParaRPr lang="en-PK"/>
          </a:p>
        </p:txBody>
      </p:sp>
    </p:spTree>
    <p:extLst>
      <p:ext uri="{BB962C8B-B14F-4D97-AF65-F5344CB8AC3E}">
        <p14:creationId xmlns:p14="http://schemas.microsoft.com/office/powerpoint/2010/main" val="2499821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8EEF9-9830-DD66-E218-2CC77DB34519}"/>
              </a:ext>
            </a:extLst>
          </p:cNvPr>
          <p:cNvSpPr>
            <a:spLocks noGrp="1"/>
          </p:cNvSpPr>
          <p:nvPr>
            <p:ph type="title"/>
          </p:nvPr>
        </p:nvSpPr>
        <p:spPr/>
        <p:txBody>
          <a:bodyPr/>
          <a:lstStyle/>
          <a:p>
            <a:r>
              <a:rPr lang="en-US" dirty="0"/>
              <a:t>Types of black box testing</a:t>
            </a:r>
            <a:br>
              <a:rPr lang="en-US" dirty="0"/>
            </a:br>
            <a:endParaRPr lang="en-PK" dirty="0"/>
          </a:p>
        </p:txBody>
      </p:sp>
      <p:sp>
        <p:nvSpPr>
          <p:cNvPr id="3" name="Content Placeholder 2">
            <a:extLst>
              <a:ext uri="{FF2B5EF4-FFF2-40B4-BE49-F238E27FC236}">
                <a16:creationId xmlns:a16="http://schemas.microsoft.com/office/drawing/2014/main" id="{18BEC44A-47D4-CAF2-69E4-A9971F95CBD4}"/>
              </a:ext>
            </a:extLst>
          </p:cNvPr>
          <p:cNvSpPr>
            <a:spLocks noGrp="1"/>
          </p:cNvSpPr>
          <p:nvPr>
            <p:ph idx="1"/>
          </p:nvPr>
        </p:nvSpPr>
        <p:spPr>
          <a:xfrm>
            <a:off x="838200" y="1047564"/>
            <a:ext cx="10515600" cy="5717219"/>
          </a:xfrm>
        </p:spPr>
        <p:txBody>
          <a:bodyPr>
            <a:normAutofit/>
          </a:bodyPr>
          <a:lstStyle/>
          <a:p>
            <a:pPr rtl="0" fontAlgn="base">
              <a:buFont typeface="+mj-lt"/>
              <a:buAutoNum type="arabicPeriod"/>
            </a:pPr>
            <a:r>
              <a:rPr lang="en-US" sz="1800" b="0" i="0" u="none" strike="noStrike" dirty="0">
                <a:solidFill>
                  <a:srgbClr val="000000"/>
                </a:solidFill>
                <a:effectLst/>
                <a:latin typeface="Calibri" panose="020F0502020204030204" pitchFamily="34" charset="0"/>
              </a:rPr>
              <a:t>Functional testing</a:t>
            </a:r>
            <a:endParaRPr lang="en-US" sz="1800" b="0"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US" sz="1800" b="0" i="0" u="none" strike="noStrike" dirty="0">
                <a:solidFill>
                  <a:srgbClr val="000000"/>
                </a:solidFill>
                <a:effectLst/>
                <a:latin typeface="Calibri" panose="020F0502020204030204" pitchFamily="34" charset="0"/>
              </a:rPr>
              <a:t>System testing</a:t>
            </a:r>
            <a:endParaRPr lang="en-US" sz="1800" b="0"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US" sz="1800" b="0" i="0" u="none" strike="noStrike" dirty="0">
                <a:solidFill>
                  <a:srgbClr val="000000"/>
                </a:solidFill>
                <a:effectLst/>
                <a:latin typeface="Calibri" panose="020F0502020204030204" pitchFamily="34" charset="0"/>
              </a:rPr>
              <a:t>End-to-end testing</a:t>
            </a:r>
            <a:endParaRPr lang="en-US" sz="1800" b="0"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US" sz="1800" b="0" i="0" u="none" strike="noStrike" dirty="0">
                <a:solidFill>
                  <a:srgbClr val="000000"/>
                </a:solidFill>
                <a:effectLst/>
                <a:latin typeface="Calibri" panose="020F0502020204030204" pitchFamily="34" charset="0"/>
              </a:rPr>
              <a:t>Sanity testing</a:t>
            </a:r>
            <a:endParaRPr lang="en-US" sz="1800" b="0"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US" sz="1800" b="0" i="0" u="none" strike="noStrike" dirty="0">
                <a:solidFill>
                  <a:srgbClr val="000000"/>
                </a:solidFill>
                <a:effectLst/>
                <a:latin typeface="Calibri" panose="020F0502020204030204" pitchFamily="34" charset="0"/>
              </a:rPr>
              <a:t>Regression testing</a:t>
            </a:r>
            <a:endParaRPr lang="en-US" sz="1800" b="0"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US" sz="1800" b="0" i="0" u="none" strike="noStrike" dirty="0">
                <a:solidFill>
                  <a:srgbClr val="000000"/>
                </a:solidFill>
                <a:effectLst/>
                <a:latin typeface="Calibri" panose="020F0502020204030204" pitchFamily="34" charset="0"/>
              </a:rPr>
              <a:t>Acceptance testing</a:t>
            </a:r>
            <a:endParaRPr lang="en-US" sz="1800" b="0"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US" sz="1800" b="0" i="0" u="none" strike="noStrike" dirty="0">
                <a:solidFill>
                  <a:srgbClr val="000000"/>
                </a:solidFill>
                <a:effectLst/>
                <a:latin typeface="Calibri" panose="020F0502020204030204" pitchFamily="34" charset="0"/>
              </a:rPr>
              <a:t>Load testing</a:t>
            </a:r>
            <a:endParaRPr lang="en-US" sz="1800" b="0" i="0" u="none" strike="noStrike" dirty="0">
              <a:solidFill>
                <a:srgbClr val="000000"/>
              </a:solidFill>
              <a:effectLst/>
              <a:latin typeface="Arial" panose="020B0604020202020204" pitchFamily="34" charset="0"/>
            </a:endParaRPr>
          </a:p>
          <a:p>
            <a:pPr rtl="0" fontAlgn="base">
              <a:spcBef>
                <a:spcPts val="1000"/>
              </a:spcBef>
              <a:buFont typeface="+mj-lt"/>
              <a:buAutoNum type="arabicPeriod"/>
            </a:pPr>
            <a:r>
              <a:rPr lang="en-US" sz="1800" b="0" i="0" u="none" strike="noStrike" dirty="0">
                <a:solidFill>
                  <a:srgbClr val="000000"/>
                </a:solidFill>
                <a:effectLst/>
                <a:latin typeface="Calibri" panose="020F0502020204030204" pitchFamily="34" charset="0"/>
              </a:rPr>
              <a:t>Stress testing</a:t>
            </a:r>
            <a:endParaRPr lang="en-US" sz="1800" b="0" i="0" u="none" strike="noStrike" dirty="0">
              <a:solidFill>
                <a:srgbClr val="000000"/>
              </a:solidFill>
              <a:effectLst/>
              <a:latin typeface="Arial" panose="020B0604020202020204" pitchFamily="34" charset="0"/>
            </a:endParaRPr>
          </a:p>
          <a:p>
            <a:pPr rtl="0" fontAlgn="base">
              <a:buFont typeface="+mj-lt"/>
              <a:buAutoNum type="arabicPeriod" startAt="9"/>
            </a:pPr>
            <a:r>
              <a:rPr lang="en-US" sz="1800" b="0" i="0" u="none" strike="noStrike" dirty="0">
                <a:solidFill>
                  <a:srgbClr val="000000"/>
                </a:solidFill>
                <a:effectLst/>
                <a:latin typeface="Calibri" panose="020F0502020204030204" pitchFamily="34" charset="0"/>
              </a:rPr>
              <a:t>Install/uninstall testing</a:t>
            </a:r>
          </a:p>
          <a:p>
            <a:pPr rtl="0" fontAlgn="base">
              <a:spcBef>
                <a:spcPts val="1000"/>
              </a:spcBef>
              <a:buFont typeface="+mj-lt"/>
              <a:buAutoNum type="arabicPeriod" startAt="9"/>
            </a:pPr>
            <a:r>
              <a:rPr lang="en-US" sz="1800" b="0" i="0" u="none" strike="noStrike" dirty="0">
                <a:solidFill>
                  <a:srgbClr val="000000"/>
                </a:solidFill>
                <a:effectLst/>
                <a:latin typeface="Calibri" panose="020F0502020204030204" pitchFamily="34" charset="0"/>
              </a:rPr>
              <a:t>Recovery testing</a:t>
            </a:r>
            <a:endParaRPr lang="en-US" sz="1800" b="0" i="0" u="none" strike="noStrike" dirty="0">
              <a:solidFill>
                <a:srgbClr val="000000"/>
              </a:solidFill>
              <a:effectLst/>
              <a:latin typeface="Arial" panose="020B0604020202020204" pitchFamily="34" charset="0"/>
            </a:endParaRPr>
          </a:p>
          <a:p>
            <a:pPr rtl="0" fontAlgn="base">
              <a:spcBef>
                <a:spcPts val="1000"/>
              </a:spcBef>
              <a:buFont typeface="+mj-lt"/>
              <a:buAutoNum type="arabicPeriod" startAt="9"/>
            </a:pPr>
            <a:r>
              <a:rPr lang="en-US" sz="1800" b="0" i="0" u="none" strike="noStrike" dirty="0">
                <a:solidFill>
                  <a:srgbClr val="000000"/>
                </a:solidFill>
                <a:effectLst/>
                <a:latin typeface="Calibri" panose="020F0502020204030204" pitchFamily="34" charset="0"/>
              </a:rPr>
              <a:t>Compatibility testing</a:t>
            </a:r>
            <a:endParaRPr lang="en-US" sz="1800" b="0" i="0" u="none" strike="noStrike" dirty="0">
              <a:solidFill>
                <a:srgbClr val="000000"/>
              </a:solidFill>
              <a:effectLst/>
              <a:latin typeface="Arial" panose="020B0604020202020204" pitchFamily="34" charset="0"/>
            </a:endParaRPr>
          </a:p>
          <a:p>
            <a:pPr rtl="0" fontAlgn="base">
              <a:spcBef>
                <a:spcPts val="1000"/>
              </a:spcBef>
              <a:buFont typeface="+mj-lt"/>
              <a:buAutoNum type="arabicPeriod" startAt="9"/>
            </a:pPr>
            <a:r>
              <a:rPr lang="en-US" sz="1800" b="0" i="0" u="none" strike="noStrike" dirty="0">
                <a:solidFill>
                  <a:srgbClr val="000000"/>
                </a:solidFill>
                <a:effectLst/>
                <a:latin typeface="Calibri" panose="020F0502020204030204" pitchFamily="34" charset="0"/>
              </a:rPr>
              <a:t>Comparison testing</a:t>
            </a:r>
            <a:endParaRPr lang="en-US" sz="1800" b="0" i="0" u="none" strike="noStrike" dirty="0">
              <a:solidFill>
                <a:srgbClr val="000000"/>
              </a:solidFill>
              <a:effectLst/>
              <a:latin typeface="Arial" panose="020B0604020202020204" pitchFamily="34" charset="0"/>
            </a:endParaRPr>
          </a:p>
          <a:p>
            <a:pPr rtl="0" fontAlgn="base">
              <a:spcBef>
                <a:spcPts val="1000"/>
              </a:spcBef>
              <a:buFont typeface="+mj-lt"/>
              <a:buAutoNum type="arabicPeriod" startAt="9"/>
            </a:pPr>
            <a:r>
              <a:rPr lang="en-US" sz="1800" b="0" i="0" u="none" strike="noStrike" dirty="0">
                <a:solidFill>
                  <a:srgbClr val="000000"/>
                </a:solidFill>
                <a:effectLst/>
                <a:latin typeface="Calibri" panose="020F0502020204030204" pitchFamily="34" charset="0"/>
              </a:rPr>
              <a:t>Alpha testing</a:t>
            </a:r>
            <a:endParaRPr lang="en-US" sz="1800" b="0" i="0" u="none" strike="noStrike" dirty="0">
              <a:solidFill>
                <a:srgbClr val="000000"/>
              </a:solidFill>
              <a:effectLst/>
              <a:latin typeface="Arial" panose="020B0604020202020204" pitchFamily="34" charset="0"/>
            </a:endParaRPr>
          </a:p>
          <a:p>
            <a:pPr rtl="0" fontAlgn="base">
              <a:spcBef>
                <a:spcPts val="1000"/>
              </a:spcBef>
              <a:buFont typeface="+mj-lt"/>
              <a:buAutoNum type="arabicPeriod" startAt="9"/>
            </a:pPr>
            <a:r>
              <a:rPr lang="en-US" sz="1800" b="0" i="0" u="none" strike="noStrike" dirty="0">
                <a:solidFill>
                  <a:srgbClr val="000000"/>
                </a:solidFill>
                <a:effectLst/>
                <a:latin typeface="Calibri" panose="020F0502020204030204" pitchFamily="34" charset="0"/>
              </a:rPr>
              <a:t>Beta testing</a:t>
            </a:r>
            <a:endParaRPr lang="en-US" sz="1800" b="0" i="0" u="none" strike="noStrike" dirty="0">
              <a:solidFill>
                <a:srgbClr val="000000"/>
              </a:solidFill>
              <a:effectLst/>
              <a:latin typeface="Arial" panose="020B0604020202020204" pitchFamily="34" charset="0"/>
            </a:endParaRPr>
          </a:p>
          <a:p>
            <a:pPr rtl="0" fontAlgn="base">
              <a:spcBef>
                <a:spcPts val="1000"/>
              </a:spcBef>
              <a:buFont typeface="+mj-lt"/>
              <a:buAutoNum type="arabicPeriod" startAt="9"/>
            </a:pPr>
            <a:r>
              <a:rPr lang="en-US" sz="1800" b="0" i="0" u="none" strike="noStrike" dirty="0">
                <a:solidFill>
                  <a:srgbClr val="000000"/>
                </a:solidFill>
                <a:effectLst/>
                <a:latin typeface="Calibri" panose="020F0502020204030204" pitchFamily="34" charset="0"/>
              </a:rPr>
              <a:t>Mutation testing</a:t>
            </a:r>
            <a:endParaRPr lang="en-US" sz="1800" b="0" i="0" u="none" strike="noStrike" dirty="0">
              <a:solidFill>
                <a:srgbClr val="000000"/>
              </a:solidFill>
              <a:effectLst/>
              <a:latin typeface="Arial" panose="020B0604020202020204" pitchFamily="34" charset="0"/>
            </a:endParaRPr>
          </a:p>
          <a:p>
            <a:endParaRPr lang="en-PK" dirty="0"/>
          </a:p>
        </p:txBody>
      </p:sp>
      <p:sp>
        <p:nvSpPr>
          <p:cNvPr id="4" name="Footer Placeholder 3">
            <a:extLst>
              <a:ext uri="{FF2B5EF4-FFF2-40B4-BE49-F238E27FC236}">
                <a16:creationId xmlns:a16="http://schemas.microsoft.com/office/drawing/2014/main" id="{50767048-AEAF-5872-C60B-88D8BD1CA56B}"/>
              </a:ext>
            </a:extLst>
          </p:cNvPr>
          <p:cNvSpPr>
            <a:spLocks noGrp="1"/>
          </p:cNvSpPr>
          <p:nvPr>
            <p:ph type="ftr" sz="quarter" idx="11"/>
          </p:nvPr>
        </p:nvSpPr>
        <p:spPr/>
        <p:txBody>
          <a:bodyPr/>
          <a:lstStyle/>
          <a:p>
            <a:r>
              <a:rPr lang="en-US"/>
              <a:t>Engr.Muhammad Umer Haroon</a:t>
            </a:r>
            <a:endParaRPr lang="en-PK"/>
          </a:p>
        </p:txBody>
      </p:sp>
    </p:spTree>
    <p:extLst>
      <p:ext uri="{BB962C8B-B14F-4D97-AF65-F5344CB8AC3E}">
        <p14:creationId xmlns:p14="http://schemas.microsoft.com/office/powerpoint/2010/main" val="1726778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0"/>
          <p:cNvSpPr txBox="1">
            <a:spLocks noGrp="1"/>
          </p:cNvSpPr>
          <p:nvPr>
            <p:ph type="body" idx="1"/>
          </p:nvPr>
        </p:nvSpPr>
        <p:spPr>
          <a:xfrm>
            <a:off x="323850" y="371475"/>
            <a:ext cx="11734800" cy="6372225"/>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400"/>
              <a:buNone/>
            </a:pPr>
            <a:endParaRPr sz="24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Functional testing</a:t>
            </a:r>
            <a:endParaRPr/>
          </a:p>
          <a:p>
            <a:pPr marL="228600" lvl="0" indent="-228600" algn="just" rtl="0">
              <a:lnSpc>
                <a:spcPct val="90000"/>
              </a:lnSpc>
              <a:spcBef>
                <a:spcPts val="1000"/>
              </a:spcBef>
              <a:spcAft>
                <a:spcPts val="0"/>
              </a:spcAft>
              <a:buClr>
                <a:schemeClr val="dk1"/>
              </a:buClr>
              <a:buSzPts val="1000"/>
              <a:buNone/>
            </a:pPr>
            <a:endParaRPr sz="10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Black box type testing geared to functional requirements of an application.</a:t>
            </a:r>
            <a:endParaRPr/>
          </a:p>
          <a:p>
            <a:pPr marL="228600" lvl="0" indent="-228600" algn="just" rtl="0">
              <a:lnSpc>
                <a:spcPct val="90000"/>
              </a:lnSpc>
              <a:spcBef>
                <a:spcPts val="1000"/>
              </a:spcBef>
              <a:spcAft>
                <a:spcPts val="0"/>
              </a:spcAft>
              <a:buClr>
                <a:schemeClr val="dk1"/>
              </a:buClr>
              <a:buSzPts val="3200"/>
              <a:buNone/>
            </a:pPr>
            <a:endParaRPr sz="32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System testing</a:t>
            </a:r>
            <a:endParaRPr/>
          </a:p>
          <a:p>
            <a:pPr marL="228600" lvl="0" indent="-228600" algn="just" rtl="0">
              <a:lnSpc>
                <a:spcPct val="90000"/>
              </a:lnSpc>
              <a:spcBef>
                <a:spcPts val="1000"/>
              </a:spcBef>
              <a:spcAft>
                <a:spcPts val="0"/>
              </a:spcAft>
              <a:buClr>
                <a:schemeClr val="dk1"/>
              </a:buClr>
              <a:buSzPts val="1000"/>
              <a:buNone/>
            </a:pPr>
            <a:endParaRPr sz="10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Black box type testing that is based on overall requirements specifications; covering all combined parts of the system.</a:t>
            </a:r>
            <a:endParaRPr/>
          </a:p>
          <a:p>
            <a:pPr marL="228600" lvl="0" indent="-101600" algn="just" rtl="0">
              <a:lnSpc>
                <a:spcPct val="90000"/>
              </a:lnSpc>
              <a:spcBef>
                <a:spcPts val="1000"/>
              </a:spcBef>
              <a:spcAft>
                <a:spcPts val="0"/>
              </a:spcAft>
              <a:buClr>
                <a:schemeClr val="dk1"/>
              </a:buClr>
              <a:buSzPts val="2000"/>
              <a:buFont typeface="Arial"/>
              <a:buNone/>
            </a:pPr>
            <a:endParaRPr sz="2000" b="0"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End-to-end testing</a:t>
            </a:r>
            <a:endParaRPr/>
          </a:p>
          <a:p>
            <a:pPr marL="228600" lvl="0" indent="-228600" algn="just" rtl="0">
              <a:lnSpc>
                <a:spcPct val="90000"/>
              </a:lnSpc>
              <a:spcBef>
                <a:spcPts val="1000"/>
              </a:spcBef>
              <a:spcAft>
                <a:spcPts val="0"/>
              </a:spcAft>
              <a:buClr>
                <a:schemeClr val="dk1"/>
              </a:buClr>
              <a:buSzPts val="1000"/>
              <a:buNone/>
            </a:pPr>
            <a:endParaRPr sz="10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Similar to system testing; involves testing of a complete application environment in a situation that mimics real-world use.</a:t>
            </a:r>
            <a:endParaRPr/>
          </a:p>
          <a:p>
            <a:pPr marL="228600" lvl="0" indent="-101600" algn="l" rtl="0">
              <a:lnSpc>
                <a:spcPct val="90000"/>
              </a:lnSpc>
              <a:spcBef>
                <a:spcPts val="1000"/>
              </a:spcBef>
              <a:spcAft>
                <a:spcPts val="0"/>
              </a:spcAft>
              <a:buClr>
                <a:schemeClr val="dk1"/>
              </a:buClr>
              <a:buSzPts val="2000"/>
              <a:buNone/>
            </a:pPr>
            <a:endParaRPr sz="2000" b="0" i="0" u="none">
              <a:solidFill>
                <a:schemeClr val="dk1"/>
              </a:solidFill>
              <a:latin typeface="Calibri"/>
              <a:ea typeface="Calibri"/>
              <a:cs typeface="Calibri"/>
              <a:sym typeface="Calibri"/>
            </a:endParaRPr>
          </a:p>
        </p:txBody>
      </p:sp>
      <p:sp>
        <p:nvSpPr>
          <p:cNvPr id="137" name="Google Shape;137;p20"/>
          <p:cNvSpPr txBox="1"/>
          <p:nvPr/>
        </p:nvSpPr>
        <p:spPr>
          <a:xfrm>
            <a:off x="4203700" y="114300"/>
            <a:ext cx="6094412" cy="1477962"/>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111111"/>
              </a:buClr>
              <a:buSzPts val="1800"/>
              <a:buFont typeface="Arial"/>
              <a:buChar char="•"/>
            </a:pPr>
            <a:r>
              <a:rPr lang="en-US" sz="1800" b="0" i="0" u="none">
                <a:solidFill>
                  <a:srgbClr val="111111"/>
                </a:solidFill>
                <a:latin typeface="Arial"/>
                <a:ea typeface="Arial"/>
                <a:cs typeface="Arial"/>
                <a:sym typeface="Arial"/>
              </a:rPr>
              <a:t>Checking login functionality</a:t>
            </a:r>
            <a:endParaRPr/>
          </a:p>
          <a:p>
            <a:pPr marL="0" marR="0" lvl="0" indent="0" algn="l" rtl="0">
              <a:lnSpc>
                <a:spcPct val="100000"/>
              </a:lnSpc>
              <a:spcBef>
                <a:spcPts val="0"/>
              </a:spcBef>
              <a:spcAft>
                <a:spcPts val="0"/>
              </a:spcAft>
              <a:buClr>
                <a:srgbClr val="111111"/>
              </a:buClr>
              <a:buSzPts val="1800"/>
              <a:buFont typeface="Arial"/>
              <a:buNone/>
            </a:pPr>
            <a:r>
              <a:rPr lang="en-US" sz="1800" b="0" i="0" u="none">
                <a:solidFill>
                  <a:srgbClr val="111111"/>
                </a:solidFill>
                <a:latin typeface="Arial"/>
                <a:ea typeface="Arial"/>
                <a:cs typeface="Arial"/>
                <a:sym typeface="Arial"/>
              </a:rPr>
              <a:t>Functional testing is a type of software testing that verifies that each function of the software application operates in conformance with the requirement specification. It focuses on what the software does . </a:t>
            </a:r>
            <a:endParaRPr/>
          </a:p>
        </p:txBody>
      </p:sp>
      <p:sp>
        <p:nvSpPr>
          <p:cNvPr id="138" name="Google Shape;138;p20"/>
          <p:cNvSpPr txBox="1"/>
          <p:nvPr/>
        </p:nvSpPr>
        <p:spPr>
          <a:xfrm>
            <a:off x="4203700" y="4152900"/>
            <a:ext cx="6094412" cy="923925"/>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111111"/>
              </a:buClr>
              <a:buSzPts val="1800"/>
              <a:buFont typeface="Arial"/>
              <a:buChar char="•"/>
            </a:pPr>
            <a:r>
              <a:rPr lang="en-US" sz="1800" b="0" i="0" u="none">
                <a:solidFill>
                  <a:srgbClr val="111111"/>
                </a:solidFill>
                <a:latin typeface="Arial"/>
                <a:ea typeface="Arial"/>
                <a:cs typeface="Arial"/>
                <a:sym typeface="Arial"/>
              </a:rPr>
              <a:t>Testing the entire process of booking a flight ticket online</a:t>
            </a:r>
            <a:endParaRPr/>
          </a:p>
          <a:p>
            <a:pPr marL="0" marR="0" lvl="0" indent="0" algn="l" rtl="0">
              <a:lnSpc>
                <a:spcPct val="100000"/>
              </a:lnSpc>
              <a:spcBef>
                <a:spcPts val="0"/>
              </a:spcBef>
              <a:spcAft>
                <a:spcPts val="0"/>
              </a:spcAft>
              <a:buClr>
                <a:srgbClr val="111111"/>
              </a:buClr>
              <a:buSzPts val="1800"/>
              <a:buFont typeface="Arial"/>
              <a:buNone/>
            </a:pPr>
            <a:r>
              <a:rPr lang="en-US" sz="1800" b="0" i="0" u="none">
                <a:solidFill>
                  <a:srgbClr val="111111"/>
                </a:solidFill>
                <a:latin typeface="Arial"/>
                <a:ea typeface="Arial"/>
                <a:cs typeface="Arial"/>
                <a:sym typeface="Arial"/>
              </a:rPr>
              <a:t>End-to-end testing is performed after system testing and before acceptance testing.</a:t>
            </a:r>
            <a:endParaRPr/>
          </a:p>
        </p:txBody>
      </p:sp>
      <p:sp>
        <p:nvSpPr>
          <p:cNvPr id="139" name="Google Shape;139;p20"/>
          <p:cNvSpPr txBox="1"/>
          <p:nvPr/>
        </p:nvSpPr>
        <p:spPr>
          <a:xfrm>
            <a:off x="4889898" y="1993285"/>
            <a:ext cx="6093618" cy="3970318"/>
          </a:xfrm>
          <a:prstGeom prst="rect">
            <a:avLst/>
          </a:prstGeom>
          <a:gradFill>
            <a:gsLst>
              <a:gs pos="0">
                <a:srgbClr val="474747"/>
              </a:gs>
              <a:gs pos="50000">
                <a:schemeClr val="dk1"/>
              </a:gs>
              <a:gs pos="100000">
                <a:schemeClr val="dk1"/>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t" anchorCtr="0">
            <a:spAutoFit/>
          </a:bodyPr>
          <a:lstStyle/>
          <a:p>
            <a:pPr marL="0" marR="0" lvl="0" indent="-177800" algn="l" rtl="0">
              <a:lnSpc>
                <a:spcPct val="100000"/>
              </a:lnSpc>
              <a:spcBef>
                <a:spcPts val="0"/>
              </a:spcBef>
              <a:spcAft>
                <a:spcPts val="0"/>
              </a:spcAft>
              <a:buClr>
                <a:schemeClr val="lt2"/>
              </a:buClr>
              <a:buSzPts val="2800"/>
              <a:buFont typeface="Calibri"/>
              <a:buAutoNum type="arabicPeriod"/>
            </a:pPr>
            <a:r>
              <a:rPr lang="en-US" sz="2800" b="1" i="0" u="sng" strike="noStrike" cap="none">
                <a:solidFill>
                  <a:schemeClr val="hlink"/>
                </a:solidFill>
                <a:latin typeface="Arial"/>
                <a:ea typeface="Arial"/>
                <a:cs typeface="Arial"/>
                <a:sym typeface="Arial"/>
                <a:hlinkClick r:id="rId3"/>
              </a:rPr>
              <a:t>End to End testing</a:t>
            </a:r>
            <a:r>
              <a:rPr lang="en-US" sz="2800" b="1" i="0" u="none" strike="noStrike" cap="none">
                <a:solidFill>
                  <a:schemeClr val="lt2"/>
                </a:solidFill>
                <a:latin typeface="Arial"/>
                <a:ea typeface="Arial"/>
                <a:cs typeface="Arial"/>
                <a:sym typeface="Arial"/>
              </a:rPr>
              <a:t> is testing the application from start to finish. I.e. a complete flow that a user would be expected to do.</a:t>
            </a:r>
            <a:endParaRPr/>
          </a:p>
          <a:p>
            <a:pPr marL="0" marR="0" lvl="0" indent="-177800" algn="l" rtl="0">
              <a:lnSpc>
                <a:spcPct val="100000"/>
              </a:lnSpc>
              <a:spcBef>
                <a:spcPts val="0"/>
              </a:spcBef>
              <a:spcAft>
                <a:spcPts val="0"/>
              </a:spcAft>
              <a:buClr>
                <a:schemeClr val="lt2"/>
              </a:buClr>
              <a:buSzPts val="2800"/>
              <a:buFont typeface="Calibri"/>
              <a:buAutoNum type="arabicPeriod"/>
            </a:pPr>
            <a:r>
              <a:rPr lang="en-US" sz="2800" b="1" i="0" u="sng" strike="noStrike" cap="none">
                <a:solidFill>
                  <a:schemeClr val="hlink"/>
                </a:solidFill>
                <a:latin typeface="Arial"/>
                <a:ea typeface="Arial"/>
                <a:cs typeface="Arial"/>
                <a:sym typeface="Arial"/>
                <a:hlinkClick r:id="rId4"/>
              </a:rPr>
              <a:t>Integration testing</a:t>
            </a:r>
            <a:r>
              <a:rPr lang="en-US" sz="2800" b="1" i="0" u="none" strike="noStrike" cap="none">
                <a:solidFill>
                  <a:schemeClr val="lt2"/>
                </a:solidFill>
                <a:latin typeface="Arial"/>
                <a:ea typeface="Arial"/>
                <a:cs typeface="Arial"/>
                <a:sym typeface="Arial"/>
              </a:rPr>
              <a:t> is testing a group of components together as a single item.</a:t>
            </a:r>
            <a:endParaRPr/>
          </a:p>
          <a:p>
            <a:pPr marL="0" marR="0" lvl="0" indent="-177800" algn="l" rtl="0">
              <a:lnSpc>
                <a:spcPct val="100000"/>
              </a:lnSpc>
              <a:spcBef>
                <a:spcPts val="0"/>
              </a:spcBef>
              <a:spcAft>
                <a:spcPts val="0"/>
              </a:spcAft>
              <a:buClr>
                <a:schemeClr val="lt2"/>
              </a:buClr>
              <a:buSzPts val="2800"/>
              <a:buFont typeface="Calibri"/>
              <a:buAutoNum type="arabicPeriod"/>
            </a:pPr>
            <a:r>
              <a:rPr lang="en-US" sz="2800" b="1" i="0" u="sng" strike="noStrike" cap="none">
                <a:solidFill>
                  <a:schemeClr val="hlink"/>
                </a:solidFill>
                <a:latin typeface="Arial"/>
                <a:ea typeface="Arial"/>
                <a:cs typeface="Arial"/>
                <a:sym typeface="Arial"/>
                <a:hlinkClick r:id="rId5"/>
              </a:rPr>
              <a:t>System testing</a:t>
            </a:r>
            <a:r>
              <a:rPr lang="en-US" sz="2800" b="1" i="0" u="none" strike="noStrike" cap="none">
                <a:solidFill>
                  <a:schemeClr val="lt2"/>
                </a:solidFill>
                <a:latin typeface="Arial"/>
                <a:ea typeface="Arial"/>
                <a:cs typeface="Arial"/>
                <a:sym typeface="Arial"/>
              </a:rPr>
              <a:t> is testing the system as a whole against the requirements.</a:t>
            </a:r>
            <a:endParaRPr/>
          </a:p>
        </p:txBody>
      </p:sp>
      <p:sp>
        <p:nvSpPr>
          <p:cNvPr id="2" name="Footer Placeholder 1">
            <a:extLst>
              <a:ext uri="{FF2B5EF4-FFF2-40B4-BE49-F238E27FC236}">
                <a16:creationId xmlns:a16="http://schemas.microsoft.com/office/drawing/2014/main" id="{CA44C533-0C48-D294-3647-99D50C08B4C7}"/>
              </a:ext>
            </a:extLst>
          </p:cNvPr>
          <p:cNvSpPr>
            <a:spLocks noGrp="1"/>
          </p:cNvSpPr>
          <p:nvPr>
            <p:ph type="ftr" sz="quarter" idx="11"/>
          </p:nvPr>
        </p:nvSpPr>
        <p:spPr/>
        <p:txBody>
          <a:bodyPr/>
          <a:lstStyle/>
          <a:p>
            <a:r>
              <a:rPr lang="en-US"/>
              <a:t>Engr.Muhammad Umer Haroon</a:t>
            </a:r>
            <a:endParaRPr lang="en-PK"/>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fade">
                                      <p:cBhvr>
                                        <p:cTn id="7" dur="500"/>
                                        <p:tgtEl>
                                          <p:spTgt spid="1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8"/>
                                        </p:tgtEl>
                                        <p:attrNameLst>
                                          <p:attrName>style.visibility</p:attrName>
                                        </p:attrNameLst>
                                      </p:cBhvr>
                                      <p:to>
                                        <p:strVal val="visible"/>
                                      </p:to>
                                    </p:set>
                                    <p:animEffect transition="in" filter="fade">
                                      <p:cBhvr>
                                        <p:cTn id="12" dur="20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1"/>
          <p:cNvSpPr txBox="1">
            <a:spLocks noGrp="1"/>
          </p:cNvSpPr>
          <p:nvPr>
            <p:ph type="body" idx="1"/>
          </p:nvPr>
        </p:nvSpPr>
        <p:spPr>
          <a:xfrm>
            <a:off x="200025" y="109537"/>
            <a:ext cx="11991975" cy="6605587"/>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None/>
            </a:pPr>
            <a:r>
              <a:rPr lang="en-US" sz="2800" b="1" i="0" u="none">
                <a:solidFill>
                  <a:schemeClr val="dk1"/>
                </a:solidFill>
                <a:latin typeface="Calibri"/>
                <a:ea typeface="Calibri"/>
                <a:cs typeface="Calibri"/>
                <a:sym typeface="Calibri"/>
              </a:rPr>
              <a:t>Sanity testing</a:t>
            </a:r>
            <a:endParaRPr/>
          </a:p>
          <a:p>
            <a:pPr marL="228600" lvl="0" indent="-228600" algn="just" rtl="0">
              <a:lnSpc>
                <a:spcPct val="90000"/>
              </a:lnSpc>
              <a:spcBef>
                <a:spcPts val="1000"/>
              </a:spcBef>
              <a:spcAft>
                <a:spcPts val="0"/>
              </a:spcAft>
              <a:buClr>
                <a:schemeClr val="dk1"/>
              </a:buClr>
              <a:buSzPts val="1100"/>
              <a:buNone/>
            </a:pPr>
            <a:endParaRPr sz="11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Initial effort to determine if a new software version is performing well enough to accept it for a major testing effort.</a:t>
            </a:r>
            <a:endParaRPr/>
          </a:p>
          <a:p>
            <a:pPr marL="228600" lvl="0" indent="-228600" algn="just" rtl="0">
              <a:lnSpc>
                <a:spcPct val="90000"/>
              </a:lnSpc>
              <a:spcBef>
                <a:spcPts val="1000"/>
              </a:spcBef>
              <a:spcAft>
                <a:spcPts val="0"/>
              </a:spcAft>
              <a:buClr>
                <a:schemeClr val="dk1"/>
              </a:buClr>
              <a:buSzPts val="3600"/>
              <a:buNone/>
            </a:pPr>
            <a:endParaRPr sz="36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800"/>
              <a:buNone/>
            </a:pPr>
            <a:r>
              <a:rPr lang="en-US" sz="2800" b="1" i="0" u="none">
                <a:solidFill>
                  <a:schemeClr val="dk1"/>
                </a:solidFill>
                <a:latin typeface="Calibri"/>
                <a:ea typeface="Calibri"/>
                <a:cs typeface="Calibri"/>
                <a:sym typeface="Calibri"/>
              </a:rPr>
              <a:t>Regression testing</a:t>
            </a:r>
            <a:endParaRPr/>
          </a:p>
          <a:p>
            <a:pPr marL="228600" lvl="0" indent="-228600" algn="just" rtl="0">
              <a:lnSpc>
                <a:spcPct val="90000"/>
              </a:lnSpc>
              <a:spcBef>
                <a:spcPts val="1000"/>
              </a:spcBef>
              <a:spcAft>
                <a:spcPts val="0"/>
              </a:spcAft>
              <a:buClr>
                <a:schemeClr val="dk1"/>
              </a:buClr>
              <a:buSzPts val="1100"/>
              <a:buNone/>
            </a:pPr>
            <a:endParaRPr sz="11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Re-testing after fixes or modifications of the software or its environment.</a:t>
            </a:r>
            <a:endParaRPr/>
          </a:p>
          <a:p>
            <a:pPr marL="228600" lvl="0" indent="-228600" algn="just" rtl="0">
              <a:lnSpc>
                <a:spcPct val="90000"/>
              </a:lnSpc>
              <a:spcBef>
                <a:spcPts val="1000"/>
              </a:spcBef>
              <a:spcAft>
                <a:spcPts val="0"/>
              </a:spcAft>
              <a:buClr>
                <a:schemeClr val="dk1"/>
              </a:buClr>
              <a:buSzPts val="3600"/>
              <a:buNone/>
            </a:pPr>
            <a:endParaRPr sz="36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800"/>
              <a:buNone/>
            </a:pPr>
            <a:r>
              <a:rPr lang="en-US" sz="2800" b="1" i="0" u="none">
                <a:solidFill>
                  <a:schemeClr val="dk1"/>
                </a:solidFill>
                <a:latin typeface="Calibri"/>
                <a:ea typeface="Calibri"/>
                <a:cs typeface="Calibri"/>
                <a:sym typeface="Calibri"/>
              </a:rPr>
              <a:t>Acceptance testing</a:t>
            </a:r>
            <a:endParaRPr/>
          </a:p>
          <a:p>
            <a:pPr marL="228600" lvl="0" indent="-228600" algn="just" rtl="0">
              <a:lnSpc>
                <a:spcPct val="90000"/>
              </a:lnSpc>
              <a:spcBef>
                <a:spcPts val="100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Final testing based on specifications of the end-user or customer.</a:t>
            </a:r>
            <a:endParaRPr/>
          </a:p>
        </p:txBody>
      </p:sp>
      <p:sp>
        <p:nvSpPr>
          <p:cNvPr id="146" name="Google Shape;146;p21"/>
          <p:cNvSpPr txBox="1"/>
          <p:nvPr/>
        </p:nvSpPr>
        <p:spPr>
          <a:xfrm>
            <a:off x="4968875" y="1354137"/>
            <a:ext cx="6149975" cy="9223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Sanity Testing is a type of software testing that is performed after receiving a software build. The goal is to determine that the proposed functionality works approximately as expected.</a:t>
            </a:r>
            <a:endParaRPr/>
          </a:p>
        </p:txBody>
      </p:sp>
      <p:sp>
        <p:nvSpPr>
          <p:cNvPr id="147" name="Google Shape;147;p21"/>
          <p:cNvSpPr txBox="1"/>
          <p:nvPr/>
        </p:nvSpPr>
        <p:spPr>
          <a:xfrm>
            <a:off x="5843587" y="3627437"/>
            <a:ext cx="6148387" cy="12001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Regression testing is a software testing practice that ensures an application still functions as expected after any code changes, updates, or improvements. Regression testing is responsible for the overall stability and functionality of the existing features</a:t>
            </a:r>
            <a:endParaRPr/>
          </a:p>
        </p:txBody>
      </p:sp>
      <p:sp>
        <p:nvSpPr>
          <p:cNvPr id="2" name="Footer Placeholder 1">
            <a:extLst>
              <a:ext uri="{FF2B5EF4-FFF2-40B4-BE49-F238E27FC236}">
                <a16:creationId xmlns:a16="http://schemas.microsoft.com/office/drawing/2014/main" id="{1EA74EA7-BB71-9FF2-2096-A1B8A4CA1A05}"/>
              </a:ext>
            </a:extLst>
          </p:cNvPr>
          <p:cNvSpPr>
            <a:spLocks noGrp="1"/>
          </p:cNvSpPr>
          <p:nvPr>
            <p:ph type="ftr" sz="quarter" idx="11"/>
          </p:nvPr>
        </p:nvSpPr>
        <p:spPr/>
        <p:txBody>
          <a:bodyPr/>
          <a:lstStyle/>
          <a:p>
            <a:r>
              <a:rPr lang="en-US"/>
              <a:t>Engr.Muhammad Umer Haroon</a:t>
            </a:r>
            <a:endParaRPr lang="en-PK"/>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fade">
                                      <p:cBhvr>
                                        <p:cTn id="7" dur="1000"/>
                                        <p:tgtEl>
                                          <p:spTgt spid="1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7"/>
                                        </p:tgtEl>
                                        <p:attrNameLst>
                                          <p:attrName>style.visibility</p:attrName>
                                        </p:attrNameLst>
                                      </p:cBhvr>
                                      <p:to>
                                        <p:strVal val="visible"/>
                                      </p:to>
                                    </p:set>
                                    <p:animEffect transition="in" filter="fade">
                                      <p:cBhvr>
                                        <p:cTn id="12" dur="5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2"/>
          <p:cNvSpPr txBox="1">
            <a:spLocks noGrp="1"/>
          </p:cNvSpPr>
          <p:nvPr>
            <p:ph type="body" idx="1"/>
          </p:nvPr>
        </p:nvSpPr>
        <p:spPr>
          <a:xfrm>
            <a:off x="173037" y="119062"/>
            <a:ext cx="11726862" cy="6535737"/>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400"/>
              <a:buNone/>
            </a:pPr>
            <a:r>
              <a:rPr lang="en-US" sz="2400" b="1" i="0" u="none">
                <a:solidFill>
                  <a:schemeClr val="dk1"/>
                </a:solidFill>
                <a:latin typeface="Calibri"/>
                <a:ea typeface="Calibri"/>
                <a:cs typeface="Calibri"/>
                <a:sym typeface="Calibri"/>
              </a:rPr>
              <a:t>Load testing	</a:t>
            </a:r>
            <a:endParaRPr/>
          </a:p>
          <a:p>
            <a:pPr marL="228600" lvl="0" indent="-228600" algn="just" rtl="0">
              <a:lnSpc>
                <a:spcPct val="90000"/>
              </a:lnSpc>
              <a:spcBef>
                <a:spcPts val="1000"/>
              </a:spcBef>
              <a:spcAft>
                <a:spcPts val="0"/>
              </a:spcAft>
              <a:buClr>
                <a:schemeClr val="dk1"/>
              </a:buClr>
              <a:buSzPts val="1000"/>
              <a:buNone/>
            </a:pPr>
            <a:endParaRPr sz="10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Testing an application under heavy loads.</a:t>
            </a:r>
            <a:endParaRPr/>
          </a:p>
          <a:p>
            <a:pPr marL="228600" lvl="0" indent="-165100" algn="just" rtl="0">
              <a:lnSpc>
                <a:spcPct val="90000"/>
              </a:lnSpc>
              <a:spcBef>
                <a:spcPts val="1000"/>
              </a:spcBef>
              <a:spcAft>
                <a:spcPts val="0"/>
              </a:spcAft>
              <a:buClr>
                <a:schemeClr val="dk1"/>
              </a:buClr>
              <a:buSzPts val="1000"/>
              <a:buFont typeface="Arial"/>
              <a:buNone/>
            </a:pPr>
            <a:endParaRPr sz="1000" b="0"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Eg. Testing of a web site under a range of loads to determine, when the system response time degraded or fails.</a:t>
            </a:r>
            <a:endParaRPr sz="2400" b="0"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400"/>
              <a:buNone/>
            </a:pPr>
            <a:endParaRPr sz="2400" b="0"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Stress Testing</a:t>
            </a:r>
            <a:endParaRPr/>
          </a:p>
          <a:p>
            <a:pPr marL="228600" lvl="0" indent="-228600" algn="just" rtl="0">
              <a:lnSpc>
                <a:spcPct val="90000"/>
              </a:lnSpc>
              <a:spcBef>
                <a:spcPts val="1000"/>
              </a:spcBef>
              <a:spcAft>
                <a:spcPts val="0"/>
              </a:spcAft>
              <a:buClr>
                <a:schemeClr val="dk1"/>
              </a:buClr>
              <a:buSzPts val="1100"/>
              <a:buNone/>
            </a:pPr>
            <a:endParaRPr sz="11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Testing under unusually heavy loads, heavy repetition of certain actions or inputs, input of large numerical values, large complex queries to a database etc.</a:t>
            </a:r>
            <a:endParaRPr/>
          </a:p>
          <a:p>
            <a:pPr marL="228600" lvl="0" indent="-101600" algn="just" rtl="0">
              <a:lnSpc>
                <a:spcPct val="90000"/>
              </a:lnSpc>
              <a:spcBef>
                <a:spcPts val="1000"/>
              </a:spcBef>
              <a:spcAft>
                <a:spcPts val="0"/>
              </a:spcAft>
              <a:buClr>
                <a:schemeClr val="dk1"/>
              </a:buClr>
              <a:buSzPts val="2000"/>
              <a:buFont typeface="Arial"/>
              <a:buNone/>
            </a:pPr>
            <a:endParaRPr sz="20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Term often used interchangeably with ‘load’ and ‘performance’ testing.</a:t>
            </a:r>
            <a:endParaRPr/>
          </a:p>
          <a:p>
            <a:pPr marL="228600" lvl="0" indent="-228600" algn="just" rtl="0">
              <a:lnSpc>
                <a:spcPct val="90000"/>
              </a:lnSpc>
              <a:spcBef>
                <a:spcPts val="1000"/>
              </a:spcBef>
              <a:spcAft>
                <a:spcPts val="0"/>
              </a:spcAft>
              <a:buClr>
                <a:schemeClr val="dk1"/>
              </a:buClr>
              <a:buSzPts val="2400"/>
              <a:buNone/>
            </a:pPr>
            <a:endParaRPr sz="24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Performance testing</a:t>
            </a:r>
            <a:endParaRPr/>
          </a:p>
          <a:p>
            <a:pPr marL="228600" lvl="0" indent="-228600" algn="just" rtl="0">
              <a:lnSpc>
                <a:spcPct val="90000"/>
              </a:lnSpc>
              <a:spcBef>
                <a:spcPts val="1000"/>
              </a:spcBef>
              <a:spcAft>
                <a:spcPts val="0"/>
              </a:spcAft>
              <a:buClr>
                <a:schemeClr val="dk1"/>
              </a:buClr>
              <a:buSzPts val="1000"/>
              <a:buNone/>
            </a:pPr>
            <a:endParaRPr sz="10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Testing how well an application complies to performance requirements</a:t>
            </a:r>
            <a:endParaRPr/>
          </a:p>
          <a:p>
            <a:pPr marL="228600" lvl="0" indent="-76200" algn="just" rtl="0">
              <a:lnSpc>
                <a:spcPct val="90000"/>
              </a:lnSpc>
              <a:spcBef>
                <a:spcPts val="1000"/>
              </a:spcBef>
              <a:spcAft>
                <a:spcPts val="0"/>
              </a:spcAft>
              <a:buClr>
                <a:schemeClr val="dk1"/>
              </a:buClr>
              <a:buSzPts val="2400"/>
              <a:buFont typeface="Arial"/>
              <a:buNone/>
            </a:pPr>
            <a:endParaRPr sz="2400" b="0" i="0" u="none">
              <a:solidFill>
                <a:schemeClr val="dk1"/>
              </a:solidFill>
              <a:latin typeface="Calibri"/>
              <a:ea typeface="Calibri"/>
              <a:cs typeface="Calibri"/>
              <a:sym typeface="Calibri"/>
            </a:endParaRPr>
          </a:p>
          <a:p>
            <a:pPr marL="228600" lvl="0" indent="-139700" algn="just" rtl="0">
              <a:lnSpc>
                <a:spcPct val="90000"/>
              </a:lnSpc>
              <a:spcBef>
                <a:spcPts val="1000"/>
              </a:spcBef>
              <a:spcAft>
                <a:spcPts val="0"/>
              </a:spcAft>
              <a:buClr>
                <a:schemeClr val="dk1"/>
              </a:buClr>
              <a:buSzPts val="1400"/>
              <a:buFont typeface="Arial"/>
              <a:buNone/>
            </a:pPr>
            <a:endParaRPr sz="1400" b="0" i="0" u="none">
              <a:solidFill>
                <a:schemeClr val="dk1"/>
              </a:solidFill>
              <a:latin typeface="Calibri"/>
              <a:ea typeface="Calibri"/>
              <a:cs typeface="Calibri"/>
              <a:sym typeface="Calibri"/>
            </a:endParaRPr>
          </a:p>
          <a:p>
            <a:pPr marL="228600" lvl="0" indent="-139700" algn="just" rtl="0">
              <a:lnSpc>
                <a:spcPct val="90000"/>
              </a:lnSpc>
              <a:spcBef>
                <a:spcPts val="1000"/>
              </a:spcBef>
              <a:spcAft>
                <a:spcPts val="0"/>
              </a:spcAft>
              <a:buClr>
                <a:schemeClr val="dk1"/>
              </a:buClr>
              <a:buSzPts val="1400"/>
              <a:buFont typeface="Arial"/>
              <a:buNone/>
            </a:pPr>
            <a:endParaRPr sz="1400" b="0" i="0" u="none">
              <a:solidFill>
                <a:schemeClr val="dk1"/>
              </a:solidFill>
              <a:latin typeface="Calibri"/>
              <a:ea typeface="Calibri"/>
              <a:cs typeface="Calibri"/>
              <a:sym typeface="Calibri"/>
            </a:endParaRPr>
          </a:p>
          <a:p>
            <a:pPr marL="228600" lvl="0" indent="-139700" algn="l" rtl="0">
              <a:lnSpc>
                <a:spcPct val="90000"/>
              </a:lnSpc>
              <a:spcBef>
                <a:spcPts val="1000"/>
              </a:spcBef>
              <a:spcAft>
                <a:spcPts val="0"/>
              </a:spcAft>
              <a:buClr>
                <a:schemeClr val="dk1"/>
              </a:buClr>
              <a:buSzPts val="1400"/>
              <a:buNone/>
            </a:pPr>
            <a:endParaRPr sz="1400" b="0" i="0" u="none">
              <a:solidFill>
                <a:schemeClr val="dk1"/>
              </a:solidFill>
              <a:latin typeface="Calibri"/>
              <a:ea typeface="Calibri"/>
              <a:cs typeface="Calibri"/>
              <a:sym typeface="Calibri"/>
            </a:endParaRPr>
          </a:p>
        </p:txBody>
      </p:sp>
      <p:sp>
        <p:nvSpPr>
          <p:cNvPr id="154" name="Google Shape;154;p22"/>
          <p:cNvSpPr txBox="1"/>
          <p:nvPr/>
        </p:nvSpPr>
        <p:spPr>
          <a:xfrm>
            <a:off x="5181600" y="452437"/>
            <a:ext cx="6096000" cy="9239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Testing the app with maximum number of user and input is defined as load testing. While testing the app with more than maximum number of user and input is defined as stress testing.</a:t>
            </a:r>
            <a:endParaRPr/>
          </a:p>
        </p:txBody>
      </p:sp>
      <p:graphicFrame>
        <p:nvGraphicFramePr>
          <p:cNvPr id="155" name="Google Shape;155;p22"/>
          <p:cNvGraphicFramePr/>
          <p:nvPr/>
        </p:nvGraphicFramePr>
        <p:xfrm>
          <a:off x="5514975" y="3375025"/>
          <a:ext cx="7286625" cy="639990"/>
        </p:xfrm>
        <a:graphic>
          <a:graphicData uri="http://schemas.openxmlformats.org/drawingml/2006/table">
            <a:tbl>
              <a:tblPr>
                <a:noFill/>
              </a:tblPr>
              <a:tblGrid>
                <a:gridCol w="7286625">
                  <a:extLst>
                    <a:ext uri="{9D8B030D-6E8A-4147-A177-3AD203B41FA5}">
                      <a16:colId xmlns:a16="http://schemas.microsoft.com/office/drawing/2014/main" val="20000"/>
                    </a:ext>
                  </a:extLst>
                </a:gridCol>
              </a:tblGrid>
              <a:tr h="639750">
                <a:tc>
                  <a:txBody>
                    <a:bodyPr/>
                    <a:lstStyle/>
                    <a:p>
                      <a:pPr marL="0" marR="0" lvl="0" indent="0" algn="l" rtl="0">
                        <a:lnSpc>
                          <a:spcPct val="100000"/>
                        </a:lnSpc>
                        <a:spcBef>
                          <a:spcPts val="0"/>
                        </a:spcBef>
                        <a:spcAft>
                          <a:spcPts val="0"/>
                        </a:spcAft>
                        <a:buClr>
                          <a:schemeClr val="dk1"/>
                        </a:buClr>
                        <a:buSzPts val="1800"/>
                        <a:buFont typeface="Calibri"/>
                        <a:buNone/>
                      </a:pP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Load is beyond the expected threshold.</a:t>
                      </a:r>
                      <a:endParaRPr/>
                    </a:p>
                  </a:txBody>
                  <a:tcPr marL="91450" marR="91450" marT="45675" marB="45675" anchor="ctr"/>
                </a:tc>
                <a:extLst>
                  <a:ext uri="{0D108BD9-81ED-4DB2-BD59-A6C34878D82A}">
                    <a16:rowId xmlns:a16="http://schemas.microsoft.com/office/drawing/2014/main" val="10000"/>
                  </a:ext>
                </a:extLst>
              </a:tr>
            </a:tbl>
          </a:graphicData>
        </a:graphic>
      </p:graphicFrame>
      <p:sp>
        <p:nvSpPr>
          <p:cNvPr id="2" name="Footer Placeholder 1">
            <a:extLst>
              <a:ext uri="{FF2B5EF4-FFF2-40B4-BE49-F238E27FC236}">
                <a16:creationId xmlns:a16="http://schemas.microsoft.com/office/drawing/2014/main" id="{C669D2A4-5598-7F07-7066-583179455D7F}"/>
              </a:ext>
            </a:extLst>
          </p:cNvPr>
          <p:cNvSpPr>
            <a:spLocks noGrp="1"/>
          </p:cNvSpPr>
          <p:nvPr>
            <p:ph type="ftr" sz="quarter" idx="11"/>
          </p:nvPr>
        </p:nvSpPr>
        <p:spPr/>
        <p:txBody>
          <a:bodyPr/>
          <a:lstStyle/>
          <a:p>
            <a:r>
              <a:rPr lang="en-US"/>
              <a:t>Engr.Muhammad Umer Haroon</a:t>
            </a:r>
            <a:endParaRPr lang="en-PK"/>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3"/>
          <p:cNvSpPr txBox="1">
            <a:spLocks noGrp="1"/>
          </p:cNvSpPr>
          <p:nvPr>
            <p:ph type="body" idx="1"/>
          </p:nvPr>
        </p:nvSpPr>
        <p:spPr>
          <a:xfrm>
            <a:off x="254000" y="127000"/>
            <a:ext cx="11126787" cy="6588125"/>
          </a:xfrm>
          <a:prstGeom prst="rect">
            <a:avLst/>
          </a:prstGeom>
          <a:noFill/>
          <a:ln>
            <a:noFill/>
          </a:ln>
        </p:spPr>
        <p:txBody>
          <a:bodyPr spcFirstLastPara="1" wrap="square" lIns="91425" tIns="45700" rIns="91425" bIns="45700" anchor="t" anchorCtr="0">
            <a:normAutofit/>
          </a:bodyPr>
          <a:lstStyle/>
          <a:p>
            <a:pPr marL="0" lvl="0" indent="0" algn="just" rtl="0">
              <a:lnSpc>
                <a:spcPct val="80000"/>
              </a:lnSpc>
              <a:spcBef>
                <a:spcPts val="0"/>
              </a:spcBef>
              <a:spcAft>
                <a:spcPts val="0"/>
              </a:spcAft>
              <a:buClr>
                <a:schemeClr val="dk1"/>
              </a:buClr>
              <a:buSzPts val="2200"/>
              <a:buNone/>
            </a:pPr>
            <a:endParaRPr sz="2200" b="0" i="0" u="none">
              <a:solidFill>
                <a:schemeClr val="dk1"/>
              </a:solidFill>
              <a:latin typeface="Calibri"/>
              <a:ea typeface="Calibri"/>
              <a:cs typeface="Calibri"/>
              <a:sym typeface="Calibri"/>
            </a:endParaRPr>
          </a:p>
          <a:p>
            <a:pPr marL="0" lvl="0" indent="0" algn="just" rtl="0">
              <a:lnSpc>
                <a:spcPct val="80000"/>
              </a:lnSpc>
              <a:spcBef>
                <a:spcPts val="1000"/>
              </a:spcBef>
              <a:spcAft>
                <a:spcPts val="0"/>
              </a:spcAft>
              <a:buClr>
                <a:schemeClr val="dk1"/>
              </a:buClr>
              <a:buSzPts val="2600"/>
              <a:buNone/>
            </a:pPr>
            <a:r>
              <a:rPr lang="en-US" sz="2600" b="1" i="0" u="none">
                <a:solidFill>
                  <a:schemeClr val="dk1"/>
                </a:solidFill>
                <a:latin typeface="Calibri"/>
                <a:ea typeface="Calibri"/>
                <a:cs typeface="Calibri"/>
                <a:sym typeface="Calibri"/>
              </a:rPr>
              <a:t>Install/uninstall testing</a:t>
            </a:r>
            <a:endParaRPr/>
          </a:p>
          <a:p>
            <a:pPr marL="0" lvl="0" indent="0" algn="just" rtl="0">
              <a:lnSpc>
                <a:spcPct val="80000"/>
              </a:lnSpc>
              <a:spcBef>
                <a:spcPts val="1000"/>
              </a:spcBef>
              <a:spcAft>
                <a:spcPts val="0"/>
              </a:spcAft>
              <a:buClr>
                <a:schemeClr val="dk1"/>
              </a:buClr>
              <a:buSzPts val="1000"/>
              <a:buNone/>
            </a:pPr>
            <a:endParaRPr sz="1000" b="1" i="0" u="none">
              <a:solidFill>
                <a:schemeClr val="dk1"/>
              </a:solidFill>
              <a:latin typeface="Calibri"/>
              <a:ea typeface="Calibri"/>
              <a:cs typeface="Calibri"/>
              <a:sym typeface="Calibri"/>
            </a:endParaRPr>
          </a:p>
          <a:p>
            <a:pPr marL="0" lvl="0" indent="-139700" algn="just" rtl="0">
              <a:lnSpc>
                <a:spcPct val="80000"/>
              </a:lnSpc>
              <a:spcBef>
                <a:spcPts val="1000"/>
              </a:spcBef>
              <a:spcAft>
                <a:spcPts val="0"/>
              </a:spcAft>
              <a:buClr>
                <a:schemeClr val="dk1"/>
              </a:buClr>
              <a:buSzPts val="2200"/>
              <a:buFont typeface="Arial"/>
              <a:buChar char="•"/>
            </a:pPr>
            <a:r>
              <a:rPr lang="en-US" sz="2200" b="0" i="0" u="none">
                <a:solidFill>
                  <a:schemeClr val="dk1"/>
                </a:solidFill>
                <a:latin typeface="Calibri"/>
                <a:ea typeface="Calibri"/>
                <a:cs typeface="Calibri"/>
                <a:sym typeface="Calibri"/>
              </a:rPr>
              <a:t>Testing of full, partial or upgrade install/uninstall process.</a:t>
            </a:r>
            <a:endParaRPr/>
          </a:p>
          <a:p>
            <a:pPr marL="0" lvl="0" indent="0" algn="just" rtl="0">
              <a:lnSpc>
                <a:spcPct val="80000"/>
              </a:lnSpc>
              <a:spcBef>
                <a:spcPts val="1000"/>
              </a:spcBef>
              <a:spcAft>
                <a:spcPts val="0"/>
              </a:spcAft>
              <a:buClr>
                <a:schemeClr val="dk1"/>
              </a:buClr>
              <a:buSzPts val="2200"/>
              <a:buNone/>
            </a:pPr>
            <a:endParaRPr sz="2200" b="0" i="0" u="none">
              <a:solidFill>
                <a:schemeClr val="dk1"/>
              </a:solidFill>
              <a:latin typeface="Calibri"/>
              <a:ea typeface="Calibri"/>
              <a:cs typeface="Calibri"/>
              <a:sym typeface="Calibri"/>
            </a:endParaRPr>
          </a:p>
          <a:p>
            <a:pPr marL="0" lvl="0" indent="0" algn="just" rtl="0">
              <a:lnSpc>
                <a:spcPct val="80000"/>
              </a:lnSpc>
              <a:spcBef>
                <a:spcPts val="1000"/>
              </a:spcBef>
              <a:spcAft>
                <a:spcPts val="0"/>
              </a:spcAft>
              <a:buClr>
                <a:schemeClr val="dk1"/>
              </a:buClr>
              <a:buSzPts val="2600"/>
              <a:buNone/>
            </a:pPr>
            <a:r>
              <a:rPr lang="en-US" sz="2600" b="1" i="0" u="none">
                <a:solidFill>
                  <a:schemeClr val="dk1"/>
                </a:solidFill>
                <a:latin typeface="Calibri"/>
                <a:ea typeface="Calibri"/>
                <a:cs typeface="Calibri"/>
                <a:sym typeface="Calibri"/>
              </a:rPr>
              <a:t>Recovery testing</a:t>
            </a:r>
            <a:endParaRPr/>
          </a:p>
          <a:p>
            <a:pPr marL="0" lvl="0" indent="0" algn="just" rtl="0">
              <a:lnSpc>
                <a:spcPct val="80000"/>
              </a:lnSpc>
              <a:spcBef>
                <a:spcPts val="1000"/>
              </a:spcBef>
              <a:spcAft>
                <a:spcPts val="0"/>
              </a:spcAft>
              <a:buClr>
                <a:schemeClr val="dk1"/>
              </a:buClr>
              <a:buSzPts val="1000"/>
              <a:buNone/>
            </a:pPr>
            <a:endParaRPr sz="1000" b="1" i="0" u="none">
              <a:solidFill>
                <a:schemeClr val="dk1"/>
              </a:solidFill>
              <a:latin typeface="Calibri"/>
              <a:ea typeface="Calibri"/>
              <a:cs typeface="Calibri"/>
              <a:sym typeface="Calibri"/>
            </a:endParaRPr>
          </a:p>
          <a:p>
            <a:pPr marL="0" lvl="0" indent="-139700" algn="just" rtl="0">
              <a:lnSpc>
                <a:spcPct val="80000"/>
              </a:lnSpc>
              <a:spcBef>
                <a:spcPts val="1000"/>
              </a:spcBef>
              <a:spcAft>
                <a:spcPts val="0"/>
              </a:spcAft>
              <a:buClr>
                <a:schemeClr val="dk1"/>
              </a:buClr>
              <a:buSzPts val="2200"/>
              <a:buFont typeface="Arial"/>
              <a:buChar char="•"/>
            </a:pPr>
            <a:r>
              <a:rPr lang="en-US" sz="2200" b="0" i="0" u="none">
                <a:solidFill>
                  <a:schemeClr val="dk1"/>
                </a:solidFill>
                <a:latin typeface="Calibri"/>
                <a:ea typeface="Calibri"/>
                <a:cs typeface="Calibri"/>
                <a:sym typeface="Calibri"/>
              </a:rPr>
              <a:t>Testing how well a system recovers from crashes, HW failures or other problems.</a:t>
            </a:r>
            <a:endParaRPr/>
          </a:p>
          <a:p>
            <a:pPr marL="0" lvl="0" indent="0" algn="just" rtl="0">
              <a:lnSpc>
                <a:spcPct val="80000"/>
              </a:lnSpc>
              <a:spcBef>
                <a:spcPts val="1000"/>
              </a:spcBef>
              <a:spcAft>
                <a:spcPts val="0"/>
              </a:spcAft>
              <a:buClr>
                <a:schemeClr val="dk1"/>
              </a:buClr>
              <a:buSzPts val="2200"/>
              <a:buFont typeface="Arial"/>
              <a:buNone/>
            </a:pPr>
            <a:endParaRPr sz="2200" b="0" i="0" u="none">
              <a:solidFill>
                <a:schemeClr val="dk1"/>
              </a:solidFill>
              <a:latin typeface="Calibri"/>
              <a:ea typeface="Calibri"/>
              <a:cs typeface="Calibri"/>
              <a:sym typeface="Calibri"/>
            </a:endParaRPr>
          </a:p>
          <a:p>
            <a:pPr marL="0" lvl="0" indent="0" algn="just" rtl="0">
              <a:lnSpc>
                <a:spcPct val="80000"/>
              </a:lnSpc>
              <a:spcBef>
                <a:spcPts val="1000"/>
              </a:spcBef>
              <a:spcAft>
                <a:spcPts val="0"/>
              </a:spcAft>
              <a:buClr>
                <a:schemeClr val="dk1"/>
              </a:buClr>
              <a:buSzPts val="2200"/>
              <a:buFont typeface="Arial"/>
              <a:buNone/>
            </a:pPr>
            <a:endParaRPr sz="2200" b="0" i="0" u="none">
              <a:solidFill>
                <a:schemeClr val="dk1"/>
              </a:solidFill>
              <a:latin typeface="Calibri"/>
              <a:ea typeface="Calibri"/>
              <a:cs typeface="Calibri"/>
              <a:sym typeface="Calibri"/>
            </a:endParaRPr>
          </a:p>
          <a:p>
            <a:pPr marL="0" lvl="0" indent="0" algn="just" rtl="0">
              <a:lnSpc>
                <a:spcPct val="80000"/>
              </a:lnSpc>
              <a:spcBef>
                <a:spcPts val="1000"/>
              </a:spcBef>
              <a:spcAft>
                <a:spcPts val="0"/>
              </a:spcAft>
              <a:buClr>
                <a:schemeClr val="dk1"/>
              </a:buClr>
              <a:buSzPts val="2600"/>
              <a:buNone/>
            </a:pPr>
            <a:r>
              <a:rPr lang="en-US" sz="2600" b="1" i="0" u="none">
                <a:solidFill>
                  <a:schemeClr val="dk1"/>
                </a:solidFill>
                <a:latin typeface="Calibri"/>
                <a:ea typeface="Calibri"/>
                <a:cs typeface="Calibri"/>
                <a:sym typeface="Calibri"/>
              </a:rPr>
              <a:t>Compatibility testing</a:t>
            </a:r>
            <a:endParaRPr/>
          </a:p>
          <a:p>
            <a:pPr marL="0" lvl="0" indent="0" algn="just" rtl="0">
              <a:lnSpc>
                <a:spcPct val="80000"/>
              </a:lnSpc>
              <a:spcBef>
                <a:spcPts val="1000"/>
              </a:spcBef>
              <a:spcAft>
                <a:spcPts val="0"/>
              </a:spcAft>
              <a:buClr>
                <a:schemeClr val="dk1"/>
              </a:buClr>
              <a:buSzPts val="1000"/>
              <a:buNone/>
            </a:pPr>
            <a:endParaRPr sz="1000" b="1" i="0" u="none">
              <a:solidFill>
                <a:schemeClr val="dk1"/>
              </a:solidFill>
              <a:latin typeface="Calibri"/>
              <a:ea typeface="Calibri"/>
              <a:cs typeface="Calibri"/>
              <a:sym typeface="Calibri"/>
            </a:endParaRPr>
          </a:p>
          <a:p>
            <a:pPr marL="0" lvl="0" indent="-139700" algn="just" rtl="0">
              <a:lnSpc>
                <a:spcPct val="80000"/>
              </a:lnSpc>
              <a:spcBef>
                <a:spcPts val="1000"/>
              </a:spcBef>
              <a:spcAft>
                <a:spcPts val="0"/>
              </a:spcAft>
              <a:buClr>
                <a:schemeClr val="dk1"/>
              </a:buClr>
              <a:buSzPts val="2200"/>
              <a:buFont typeface="Arial"/>
              <a:buChar char="•"/>
            </a:pPr>
            <a:r>
              <a:rPr lang="en-US" sz="2200" b="0" i="0" u="none">
                <a:solidFill>
                  <a:schemeClr val="dk1"/>
                </a:solidFill>
                <a:latin typeface="Calibri"/>
                <a:ea typeface="Calibri"/>
                <a:cs typeface="Calibri"/>
                <a:sym typeface="Calibri"/>
              </a:rPr>
              <a:t>Testing how well software performs in a particular HW/SW/OS/NW environment.</a:t>
            </a:r>
            <a:endParaRPr/>
          </a:p>
          <a:p>
            <a:pPr marL="0" lvl="0" indent="0" algn="l" rtl="0">
              <a:lnSpc>
                <a:spcPct val="80000"/>
              </a:lnSpc>
              <a:spcBef>
                <a:spcPts val="1000"/>
              </a:spcBef>
              <a:spcAft>
                <a:spcPts val="0"/>
              </a:spcAft>
              <a:buClr>
                <a:schemeClr val="dk1"/>
              </a:buClr>
              <a:buSzPts val="3300"/>
              <a:buNone/>
            </a:pPr>
            <a:endParaRPr sz="3300" b="1" i="0" u="none">
              <a:solidFill>
                <a:schemeClr val="dk1"/>
              </a:solidFill>
              <a:latin typeface="Calibri"/>
              <a:ea typeface="Calibri"/>
              <a:cs typeface="Calibri"/>
              <a:sym typeface="Calibri"/>
            </a:endParaRPr>
          </a:p>
          <a:p>
            <a:pPr marL="0" lvl="0" indent="0" algn="l" rtl="0">
              <a:lnSpc>
                <a:spcPct val="80000"/>
              </a:lnSpc>
              <a:spcBef>
                <a:spcPts val="1000"/>
              </a:spcBef>
              <a:spcAft>
                <a:spcPts val="0"/>
              </a:spcAft>
              <a:buClr>
                <a:schemeClr val="dk1"/>
              </a:buClr>
              <a:buSzPts val="2600"/>
              <a:buNone/>
            </a:pPr>
            <a:r>
              <a:rPr lang="en-US" sz="2600" b="1" i="0" u="none">
                <a:solidFill>
                  <a:schemeClr val="dk1"/>
                </a:solidFill>
                <a:latin typeface="Calibri"/>
                <a:ea typeface="Calibri"/>
                <a:cs typeface="Calibri"/>
                <a:sym typeface="Calibri"/>
              </a:rPr>
              <a:t>Comparison testing</a:t>
            </a:r>
            <a:endParaRPr/>
          </a:p>
          <a:p>
            <a:pPr marL="0" lvl="0" indent="0" algn="l" rtl="0">
              <a:lnSpc>
                <a:spcPct val="80000"/>
              </a:lnSpc>
              <a:spcBef>
                <a:spcPts val="1000"/>
              </a:spcBef>
              <a:spcAft>
                <a:spcPts val="0"/>
              </a:spcAft>
              <a:buClr>
                <a:schemeClr val="dk1"/>
              </a:buClr>
              <a:buSzPts val="1000"/>
              <a:buNone/>
            </a:pPr>
            <a:endParaRPr sz="1000" b="1" i="0" u="none">
              <a:solidFill>
                <a:schemeClr val="dk1"/>
              </a:solidFill>
              <a:latin typeface="Calibri"/>
              <a:ea typeface="Calibri"/>
              <a:cs typeface="Calibri"/>
              <a:sym typeface="Calibri"/>
            </a:endParaRPr>
          </a:p>
          <a:p>
            <a:pPr marL="0" lvl="0" indent="-139700" algn="l" rtl="0">
              <a:lnSpc>
                <a:spcPct val="80000"/>
              </a:lnSpc>
              <a:spcBef>
                <a:spcPts val="1000"/>
              </a:spcBef>
              <a:spcAft>
                <a:spcPts val="0"/>
              </a:spcAft>
              <a:buClr>
                <a:schemeClr val="dk1"/>
              </a:buClr>
              <a:buSzPts val="2200"/>
              <a:buFont typeface="Arial"/>
              <a:buChar char="•"/>
            </a:pPr>
            <a:r>
              <a:rPr lang="en-US" sz="2200" b="0" i="0" u="none">
                <a:solidFill>
                  <a:schemeClr val="dk1"/>
                </a:solidFill>
                <a:latin typeface="Calibri"/>
                <a:ea typeface="Calibri"/>
                <a:cs typeface="Calibri"/>
                <a:sym typeface="Calibri"/>
              </a:rPr>
              <a:t>Comparing SW strengths and weakness to competing products.</a:t>
            </a:r>
            <a:endParaRPr/>
          </a:p>
          <a:p>
            <a:pPr marL="0" lvl="0" indent="0" algn="just" rtl="0">
              <a:lnSpc>
                <a:spcPct val="80000"/>
              </a:lnSpc>
              <a:spcBef>
                <a:spcPts val="1000"/>
              </a:spcBef>
              <a:spcAft>
                <a:spcPts val="0"/>
              </a:spcAft>
              <a:buClr>
                <a:schemeClr val="dk1"/>
              </a:buClr>
              <a:buSzPts val="2200"/>
              <a:buFont typeface="Arial"/>
              <a:buNone/>
            </a:pPr>
            <a:endParaRPr sz="2200" b="0" i="0" u="none">
              <a:solidFill>
                <a:schemeClr val="dk1"/>
              </a:solidFill>
              <a:latin typeface="Calibri"/>
              <a:ea typeface="Calibri"/>
              <a:cs typeface="Calibri"/>
              <a:sym typeface="Calibri"/>
            </a:endParaRPr>
          </a:p>
          <a:p>
            <a:pPr marL="228600" lvl="0" indent="-88900" algn="l" rtl="0">
              <a:lnSpc>
                <a:spcPct val="90000"/>
              </a:lnSpc>
              <a:spcBef>
                <a:spcPts val="1000"/>
              </a:spcBef>
              <a:spcAft>
                <a:spcPts val="0"/>
              </a:spcAft>
              <a:buClr>
                <a:schemeClr val="dk1"/>
              </a:buClr>
              <a:buSzPts val="2200"/>
              <a:buNone/>
            </a:pPr>
            <a:endParaRPr sz="2200" b="0" i="0" u="none">
              <a:solidFill>
                <a:schemeClr val="dk1"/>
              </a:solidFill>
              <a:latin typeface="Calibri"/>
              <a:ea typeface="Calibri"/>
              <a:cs typeface="Calibri"/>
              <a:sym typeface="Calibri"/>
            </a:endParaRPr>
          </a:p>
        </p:txBody>
      </p:sp>
      <p:sp>
        <p:nvSpPr>
          <p:cNvPr id="161" name="Google Shape;161;p23"/>
          <p:cNvSpPr txBox="1"/>
          <p:nvPr/>
        </p:nvSpPr>
        <p:spPr>
          <a:xfrm>
            <a:off x="2794000" y="1549400"/>
            <a:ext cx="9144000" cy="12001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Recovery testing is a type of system testing which aims at testing whether a system can recover from failures or not. The technique involves failing the system and then verifying that the system recovery is performed properly. Recovery testing is important to perform to ensure that a system is fault-tolerant and can recover well from failures</a:t>
            </a:r>
            <a:endParaRPr/>
          </a:p>
        </p:txBody>
      </p:sp>
      <p:sp>
        <p:nvSpPr>
          <p:cNvPr id="162" name="Google Shape;162;p23"/>
          <p:cNvSpPr txBox="1"/>
          <p:nvPr/>
        </p:nvSpPr>
        <p:spPr>
          <a:xfrm>
            <a:off x="9874250" y="2476500"/>
            <a:ext cx="2063750" cy="369887"/>
          </a:xfrm>
          <a:prstGeom prst="rect">
            <a:avLst/>
          </a:prstGeom>
          <a:gradFill>
            <a:gsLst>
              <a:gs pos="0">
                <a:srgbClr val="FFC746"/>
              </a:gs>
              <a:gs pos="50000">
                <a:srgbClr val="FFC600"/>
              </a:gs>
              <a:gs pos="100000">
                <a:srgbClr val="E5B600"/>
              </a:gs>
            </a:gsLst>
            <a:lin ang="5400000" scaled="0"/>
          </a:gradFill>
          <a:ln w="9525" cap="flat" cmpd="sng">
            <a:solidFill>
              <a:srgbClr val="FFC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Printing software ….</a:t>
            </a:r>
            <a:endParaRPr/>
          </a:p>
        </p:txBody>
      </p:sp>
      <p:sp>
        <p:nvSpPr>
          <p:cNvPr id="2" name="Footer Placeholder 1">
            <a:extLst>
              <a:ext uri="{FF2B5EF4-FFF2-40B4-BE49-F238E27FC236}">
                <a16:creationId xmlns:a16="http://schemas.microsoft.com/office/drawing/2014/main" id="{70DA8932-8025-07B5-E116-18B52591FC2F}"/>
              </a:ext>
            </a:extLst>
          </p:cNvPr>
          <p:cNvSpPr>
            <a:spLocks noGrp="1"/>
          </p:cNvSpPr>
          <p:nvPr>
            <p:ph type="ftr" sz="quarter" idx="11"/>
          </p:nvPr>
        </p:nvSpPr>
        <p:spPr/>
        <p:txBody>
          <a:bodyPr/>
          <a:lstStyle/>
          <a:p>
            <a:r>
              <a:rPr lang="en-US"/>
              <a:t>Engr.Muhammad Umer Haroon</a:t>
            </a:r>
            <a:endParaRPr lang="en-PK"/>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1"/>
                                        </p:tgtEl>
                                        <p:attrNameLst>
                                          <p:attrName>style.visibility</p:attrName>
                                        </p:attrNameLst>
                                      </p:cBhvr>
                                      <p:to>
                                        <p:strVal val="visible"/>
                                      </p:to>
                                    </p:set>
                                    <p:animEffect transition="in" filter="fade">
                                      <p:cBhvr>
                                        <p:cTn id="7" dur="500"/>
                                        <p:tgtEl>
                                          <p:spTgt spid="161"/>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62"/>
                                        </p:tgtEl>
                                        <p:attrNameLst>
                                          <p:attrName>style.visibility</p:attrName>
                                        </p:attrNameLst>
                                      </p:cBhvr>
                                      <p:to>
                                        <p:strVal val="visible"/>
                                      </p:to>
                                    </p:set>
                                    <p:anim calcmode="lin" valueType="num">
                                      <p:cBhvr additive="base">
                                        <p:cTn id="12" dur="500"/>
                                        <p:tgtEl>
                                          <p:spTgt spid="162"/>
                                        </p:tgtEl>
                                        <p:attrNameLst>
                                          <p:attrName>ppt_w</p:attrName>
                                        </p:attrNameLst>
                                      </p:cBhvr>
                                      <p:tavLst>
                                        <p:tav tm="0">
                                          <p:val>
                                            <p:strVal val="0"/>
                                          </p:val>
                                        </p:tav>
                                        <p:tav tm="100000">
                                          <p:val>
                                            <p:strVal val="#ppt_w"/>
                                          </p:val>
                                        </p:tav>
                                      </p:tavLst>
                                    </p:anim>
                                    <p:anim calcmode="lin" valueType="num">
                                      <p:cBhvr additive="base">
                                        <p:cTn id="13" dur="500"/>
                                        <p:tgtEl>
                                          <p:spTgt spid="16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4"/>
          <p:cNvSpPr txBox="1">
            <a:spLocks noGrp="1"/>
          </p:cNvSpPr>
          <p:nvPr>
            <p:ph type="body" idx="1"/>
          </p:nvPr>
        </p:nvSpPr>
        <p:spPr>
          <a:xfrm>
            <a:off x="222250" y="263525"/>
            <a:ext cx="11747500" cy="633095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None/>
            </a:pPr>
            <a:r>
              <a:rPr lang="en-US" sz="2400" b="1" i="0" u="none">
                <a:solidFill>
                  <a:schemeClr val="dk1"/>
                </a:solidFill>
                <a:latin typeface="Calibri"/>
                <a:ea typeface="Calibri"/>
                <a:cs typeface="Calibri"/>
                <a:sym typeface="Calibri"/>
              </a:rPr>
              <a:t>Alpha testing</a:t>
            </a:r>
            <a:endParaRPr/>
          </a:p>
          <a:p>
            <a:pPr marL="228600" lvl="0" indent="-228600" algn="l" rtl="0">
              <a:lnSpc>
                <a:spcPct val="90000"/>
              </a:lnSpc>
              <a:spcBef>
                <a:spcPts val="1000"/>
              </a:spcBef>
              <a:spcAft>
                <a:spcPts val="0"/>
              </a:spcAft>
              <a:buClr>
                <a:schemeClr val="dk1"/>
              </a:buClr>
              <a:buSzPts val="1000"/>
              <a:buNone/>
            </a:pPr>
            <a:endParaRPr sz="1000" b="1" i="0" u="none">
              <a:solidFill>
                <a:schemeClr val="dk1"/>
              </a:solidFill>
              <a:latin typeface="Calibri"/>
              <a:ea typeface="Calibri"/>
              <a:cs typeface="Calibri"/>
              <a:sym typeface="Calibri"/>
            </a:endParaRPr>
          </a:p>
          <a:p>
            <a:pPr marL="228600" lvl="0" indent="-228600" algn="l"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Testing done when development is nearing completion; minor design changes may still be made as a result of such testing.</a:t>
            </a:r>
            <a:endParaRPr/>
          </a:p>
          <a:p>
            <a:pPr marL="228600" lvl="0" indent="-228600" algn="l" rtl="0">
              <a:lnSpc>
                <a:spcPct val="90000"/>
              </a:lnSpc>
              <a:spcBef>
                <a:spcPts val="1000"/>
              </a:spcBef>
              <a:spcAft>
                <a:spcPts val="0"/>
              </a:spcAft>
              <a:buClr>
                <a:schemeClr val="dk1"/>
              </a:buClr>
              <a:buSzPts val="2400"/>
              <a:buNone/>
            </a:pPr>
            <a:endParaRPr sz="2400" b="1" i="0" u="none">
              <a:solidFill>
                <a:schemeClr val="dk1"/>
              </a:solidFill>
              <a:latin typeface="Calibri"/>
              <a:ea typeface="Calibri"/>
              <a:cs typeface="Calibri"/>
              <a:sym typeface="Calibri"/>
            </a:endParaRPr>
          </a:p>
          <a:p>
            <a:pPr marL="228600" lvl="0" indent="-228600" algn="l" rtl="0">
              <a:lnSpc>
                <a:spcPct val="9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Beta-testing</a:t>
            </a:r>
            <a:endParaRPr/>
          </a:p>
          <a:p>
            <a:pPr marL="228600" lvl="0" indent="-228600" algn="l" rtl="0">
              <a:lnSpc>
                <a:spcPct val="90000"/>
              </a:lnSpc>
              <a:spcBef>
                <a:spcPts val="1000"/>
              </a:spcBef>
              <a:spcAft>
                <a:spcPts val="0"/>
              </a:spcAft>
              <a:buClr>
                <a:schemeClr val="dk1"/>
              </a:buClr>
              <a:buSzPts val="1000"/>
              <a:buNone/>
            </a:pPr>
            <a:endParaRPr sz="1000" b="1" i="0" u="none">
              <a:solidFill>
                <a:schemeClr val="dk1"/>
              </a:solidFill>
              <a:latin typeface="Calibri"/>
              <a:ea typeface="Calibri"/>
              <a:cs typeface="Calibri"/>
              <a:sym typeface="Calibri"/>
            </a:endParaRPr>
          </a:p>
          <a:p>
            <a:pPr marL="228600" lvl="0" indent="-228600" algn="l"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Testing when development and testing are essentially completed and final bugs and problems need to be found before release.</a:t>
            </a:r>
            <a:endParaRPr/>
          </a:p>
          <a:p>
            <a:pPr marL="228600" lvl="0" indent="-228600" algn="l" rtl="0">
              <a:lnSpc>
                <a:spcPct val="90000"/>
              </a:lnSpc>
              <a:spcBef>
                <a:spcPts val="1000"/>
              </a:spcBef>
              <a:spcAft>
                <a:spcPts val="0"/>
              </a:spcAft>
              <a:buClr>
                <a:schemeClr val="dk1"/>
              </a:buClr>
              <a:buSzPts val="2400"/>
              <a:buNone/>
            </a:pPr>
            <a:endParaRPr sz="2400" b="1" i="0" u="none">
              <a:solidFill>
                <a:schemeClr val="dk1"/>
              </a:solidFill>
              <a:latin typeface="Calibri"/>
              <a:ea typeface="Calibri"/>
              <a:cs typeface="Calibri"/>
              <a:sym typeface="Calibri"/>
            </a:endParaRPr>
          </a:p>
          <a:p>
            <a:pPr marL="228600" lvl="0" indent="-228600" algn="l" rtl="0">
              <a:lnSpc>
                <a:spcPct val="90000"/>
              </a:lnSpc>
              <a:spcBef>
                <a:spcPts val="1000"/>
              </a:spcBef>
              <a:spcAft>
                <a:spcPts val="0"/>
              </a:spcAft>
              <a:buClr>
                <a:schemeClr val="dk1"/>
              </a:buClr>
              <a:buSzPts val="2400"/>
              <a:buNone/>
            </a:pPr>
            <a:r>
              <a:rPr lang="en-US" sz="2400" b="1" i="0" u="none">
                <a:solidFill>
                  <a:schemeClr val="dk1"/>
                </a:solidFill>
                <a:latin typeface="Calibri"/>
                <a:ea typeface="Calibri"/>
                <a:cs typeface="Calibri"/>
                <a:sym typeface="Calibri"/>
              </a:rPr>
              <a:t>Mutation testing</a:t>
            </a:r>
            <a:endParaRPr/>
          </a:p>
          <a:p>
            <a:pPr marL="228600" lvl="0" indent="-228600" algn="l" rtl="0">
              <a:lnSpc>
                <a:spcPct val="90000"/>
              </a:lnSpc>
              <a:spcBef>
                <a:spcPts val="1000"/>
              </a:spcBef>
              <a:spcAft>
                <a:spcPts val="0"/>
              </a:spcAft>
              <a:buClr>
                <a:schemeClr val="dk1"/>
              </a:buClr>
              <a:buSzPts val="1000"/>
              <a:buNone/>
            </a:pPr>
            <a:endParaRPr sz="1000" b="1"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To determining if a set of test data or test cases is useful, by deliberately introducing various bugs.</a:t>
            </a:r>
            <a:endParaRPr sz="1000" b="0" i="0" u="none">
              <a:solidFill>
                <a:schemeClr val="dk1"/>
              </a:solidFill>
              <a:latin typeface="Calibri"/>
              <a:ea typeface="Calibri"/>
              <a:cs typeface="Calibri"/>
              <a:sym typeface="Calibri"/>
            </a:endParaRPr>
          </a:p>
          <a:p>
            <a:pPr marL="228600" lvl="0" indent="-228600" algn="just" rtl="0">
              <a:lnSpc>
                <a:spcPct val="90000"/>
              </a:lnSpc>
              <a:spcBef>
                <a:spcPts val="10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Re-testing with the original test data/cases to determine if the bugs are detected.</a:t>
            </a:r>
            <a:endParaRPr/>
          </a:p>
          <a:p>
            <a:pPr marL="228600" lvl="0" indent="-101600" algn="l" rtl="0">
              <a:lnSpc>
                <a:spcPct val="90000"/>
              </a:lnSpc>
              <a:spcBef>
                <a:spcPts val="1000"/>
              </a:spcBef>
              <a:spcAft>
                <a:spcPts val="0"/>
              </a:spcAft>
              <a:buClr>
                <a:schemeClr val="dk1"/>
              </a:buClr>
              <a:buSzPts val="2000"/>
              <a:buNone/>
            </a:pPr>
            <a:endParaRPr sz="2000" b="0" i="0" u="none">
              <a:solidFill>
                <a:schemeClr val="dk1"/>
              </a:solidFill>
              <a:latin typeface="Calibri"/>
              <a:ea typeface="Calibri"/>
              <a:cs typeface="Calibri"/>
              <a:sym typeface="Calibri"/>
            </a:endParaRPr>
          </a:p>
        </p:txBody>
      </p:sp>
      <p:sp>
        <p:nvSpPr>
          <p:cNvPr id="168" name="Google Shape;168;p24"/>
          <p:cNvSpPr txBox="1"/>
          <p:nvPr/>
        </p:nvSpPr>
        <p:spPr>
          <a:xfrm>
            <a:off x="2697162" y="1427162"/>
            <a:ext cx="8978900" cy="1477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 Beta testing is performed by a group of external users who are not part of the development team and who use the software in a real-world environment. The main goal of beta testing is to identify any remaining defects or issues with the software that were not discovered during the internal testing phase. The feedback obtained from the beta testers can be used to make any necessary changes or improvements to the software before its final release.</a:t>
            </a:r>
            <a:endParaRPr/>
          </a:p>
        </p:txBody>
      </p:sp>
      <p:sp>
        <p:nvSpPr>
          <p:cNvPr id="169" name="Google Shape;169;p24"/>
          <p:cNvSpPr txBox="1"/>
          <p:nvPr/>
        </p:nvSpPr>
        <p:spPr>
          <a:xfrm>
            <a:off x="3246437" y="3429000"/>
            <a:ext cx="8723312" cy="2678112"/>
          </a:xfrm>
          <a:prstGeom prst="rect">
            <a:avLst/>
          </a:prstGeom>
          <a:gradFill>
            <a:gsLst>
              <a:gs pos="0">
                <a:srgbClr val="454545"/>
              </a:gs>
              <a:gs pos="50000">
                <a:srgbClr val="000000"/>
              </a:gs>
              <a:gs pos="100000">
                <a:srgbClr val="000000"/>
              </a:gs>
            </a:gsLst>
            <a:lin ang="5400000" scaled="0"/>
          </a:gradFill>
          <a:ln>
            <a:noFill/>
          </a:ln>
          <a:effectLst>
            <a:outerShdw blurRad="63500" dist="19050" dir="5400000">
              <a:srgbClr val="000000">
                <a:alpha val="62745"/>
              </a:srgbClr>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1D5DB"/>
              </a:buClr>
              <a:buSzPts val="2400"/>
              <a:buFont typeface="Arial"/>
              <a:buNone/>
            </a:pPr>
            <a:r>
              <a:rPr lang="en-US" sz="2400" b="0" i="0" u="none">
                <a:solidFill>
                  <a:srgbClr val="D1D5DB"/>
                </a:solidFill>
                <a:latin typeface="Arial"/>
                <a:ea typeface="Arial"/>
                <a:cs typeface="Arial"/>
                <a:sym typeface="Arial"/>
              </a:rPr>
              <a:t>Mutation testing is a type of software testing technique that is used to evaluate the effectiveness of a software testing process. It involves introducing small, deliberate changes (known as "mutations") into the code to see if the existing tests can detect these changes. The main goal of mutation testing is to identify weaknesses in the test suite by evaluating how well it can detect these changes.</a:t>
            </a:r>
            <a:endParaRPr/>
          </a:p>
        </p:txBody>
      </p:sp>
      <p:sp>
        <p:nvSpPr>
          <p:cNvPr id="2" name="Footer Placeholder 1">
            <a:extLst>
              <a:ext uri="{FF2B5EF4-FFF2-40B4-BE49-F238E27FC236}">
                <a16:creationId xmlns:a16="http://schemas.microsoft.com/office/drawing/2014/main" id="{5177409B-871A-A0E2-C9E3-219F30F14117}"/>
              </a:ext>
            </a:extLst>
          </p:cNvPr>
          <p:cNvSpPr>
            <a:spLocks noGrp="1"/>
          </p:cNvSpPr>
          <p:nvPr>
            <p:ph type="ftr" sz="quarter" idx="11"/>
          </p:nvPr>
        </p:nvSpPr>
        <p:spPr/>
        <p:txBody>
          <a:bodyPr/>
          <a:lstStyle/>
          <a:p>
            <a:r>
              <a:rPr lang="en-US"/>
              <a:t>Engr.Muhammad Umer Haroon</a:t>
            </a:r>
            <a:endParaRPr lang="en-PK"/>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8">
                                            <p:txEl>
                                              <p:pRg st="0" end="0"/>
                                            </p:txEl>
                                          </p:spTgt>
                                        </p:tgtEl>
                                        <p:attrNameLst>
                                          <p:attrName>style.visibility</p:attrName>
                                        </p:attrNameLst>
                                      </p:cBhvr>
                                      <p:to>
                                        <p:strVal val="visible"/>
                                      </p:to>
                                    </p:set>
                                    <p:animEffect transition="in" filter="fade">
                                      <p:cBhvr>
                                        <p:cTn id="7" dur="1000"/>
                                        <p:tgtEl>
                                          <p:spTgt spid="1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9"/>
                                        </p:tgtEl>
                                        <p:attrNameLst>
                                          <p:attrName>style.visibility</p:attrName>
                                        </p:attrNameLst>
                                      </p:cBhvr>
                                      <p:to>
                                        <p:strVal val="visible"/>
                                      </p:to>
                                    </p:set>
                                    <p:animEffect transition="in" filter="fade">
                                      <p:cBhvr>
                                        <p:cTn id="12" dur="10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9F39E-D6EE-8CD7-48BC-4A7CEC687C4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5045A8A4-2274-A6D4-787E-36F6887118FA}"/>
              </a:ext>
            </a:extLst>
          </p:cNvPr>
          <p:cNvSpPr>
            <a:spLocks noGrp="1"/>
          </p:cNvSpPr>
          <p:nvPr>
            <p:ph idx="1"/>
          </p:nvPr>
        </p:nvSpPr>
        <p:spPr/>
        <p:txBody>
          <a:bodyPr/>
          <a:lstStyle/>
          <a:p>
            <a:endParaRPr lang="en-PK"/>
          </a:p>
        </p:txBody>
      </p:sp>
      <p:sp>
        <p:nvSpPr>
          <p:cNvPr id="4" name="Footer Placeholder 3">
            <a:extLst>
              <a:ext uri="{FF2B5EF4-FFF2-40B4-BE49-F238E27FC236}">
                <a16:creationId xmlns:a16="http://schemas.microsoft.com/office/drawing/2014/main" id="{A4EC693E-1BD4-3469-400D-2B45518ECAD1}"/>
              </a:ext>
            </a:extLst>
          </p:cNvPr>
          <p:cNvSpPr>
            <a:spLocks noGrp="1"/>
          </p:cNvSpPr>
          <p:nvPr>
            <p:ph type="ftr" sz="quarter" idx="11"/>
          </p:nvPr>
        </p:nvSpPr>
        <p:spPr/>
        <p:txBody>
          <a:bodyPr/>
          <a:lstStyle/>
          <a:p>
            <a:r>
              <a:rPr lang="en-US"/>
              <a:t>Engr.Muhammad Umer Haroon</a:t>
            </a:r>
            <a:endParaRPr lang="en-PK"/>
          </a:p>
        </p:txBody>
      </p:sp>
    </p:spTree>
    <p:extLst>
      <p:ext uri="{BB962C8B-B14F-4D97-AF65-F5344CB8AC3E}">
        <p14:creationId xmlns:p14="http://schemas.microsoft.com/office/powerpoint/2010/main" val="3342790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3EA6E-3450-5192-5B5D-743CDBFD5A87}"/>
              </a:ext>
            </a:extLst>
          </p:cNvPr>
          <p:cNvSpPr>
            <a:spLocks noGrp="1"/>
          </p:cNvSpPr>
          <p:nvPr>
            <p:ph type="title"/>
          </p:nvPr>
        </p:nvSpPr>
        <p:spPr/>
        <p:txBody>
          <a:bodyPr/>
          <a:lstStyle/>
          <a:p>
            <a:r>
              <a:rPr lang="en-US" dirty="0"/>
              <a:t>Test Case</a:t>
            </a:r>
            <a:endParaRPr lang="en-PK" dirty="0"/>
          </a:p>
        </p:txBody>
      </p:sp>
      <p:sp>
        <p:nvSpPr>
          <p:cNvPr id="3" name="Content Placeholder 2">
            <a:extLst>
              <a:ext uri="{FF2B5EF4-FFF2-40B4-BE49-F238E27FC236}">
                <a16:creationId xmlns:a16="http://schemas.microsoft.com/office/drawing/2014/main" id="{930D31E8-5377-1752-FD2A-78EBD55B57E3}"/>
              </a:ext>
            </a:extLst>
          </p:cNvPr>
          <p:cNvSpPr>
            <a:spLocks noGrp="1"/>
          </p:cNvSpPr>
          <p:nvPr>
            <p:ph idx="1"/>
          </p:nvPr>
        </p:nvSpPr>
        <p:spPr/>
        <p:txBody>
          <a:bodyPr/>
          <a:lstStyle/>
          <a:p>
            <a:r>
              <a:rPr lang="en-US" dirty="0"/>
              <a:t>A test case is a specific set of inputs, expected results, and execution conditions designed to test a particular aspect of a software application. It is the smallest unit of testing.(not unit testing).</a:t>
            </a:r>
            <a:endParaRPr lang="en-PK" dirty="0"/>
          </a:p>
        </p:txBody>
      </p:sp>
      <p:sp>
        <p:nvSpPr>
          <p:cNvPr id="4" name="Footer Placeholder 3">
            <a:extLst>
              <a:ext uri="{FF2B5EF4-FFF2-40B4-BE49-F238E27FC236}">
                <a16:creationId xmlns:a16="http://schemas.microsoft.com/office/drawing/2014/main" id="{875B951A-A878-55CA-9A7B-CC66909E959E}"/>
              </a:ext>
            </a:extLst>
          </p:cNvPr>
          <p:cNvSpPr>
            <a:spLocks noGrp="1"/>
          </p:cNvSpPr>
          <p:nvPr>
            <p:ph type="ftr" sz="quarter" idx="11"/>
          </p:nvPr>
        </p:nvSpPr>
        <p:spPr/>
        <p:txBody>
          <a:bodyPr/>
          <a:lstStyle/>
          <a:p>
            <a:r>
              <a:rPr lang="en-US"/>
              <a:t>Engr.Muhammad Umer Haroon</a:t>
            </a:r>
            <a:endParaRPr lang="en-PK"/>
          </a:p>
        </p:txBody>
      </p:sp>
    </p:spTree>
    <p:extLst>
      <p:ext uri="{BB962C8B-B14F-4D97-AF65-F5344CB8AC3E}">
        <p14:creationId xmlns:p14="http://schemas.microsoft.com/office/powerpoint/2010/main" val="453297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51561-EC9B-1152-97D2-EF10B4A89F78}"/>
              </a:ext>
            </a:extLst>
          </p:cNvPr>
          <p:cNvSpPr>
            <a:spLocks noGrp="1"/>
          </p:cNvSpPr>
          <p:nvPr>
            <p:ph type="title"/>
          </p:nvPr>
        </p:nvSpPr>
        <p:spPr/>
        <p:txBody>
          <a:bodyPr/>
          <a:lstStyle/>
          <a:p>
            <a:r>
              <a:rPr lang="en-US" dirty="0"/>
              <a:t>Components of a Test Case</a:t>
            </a:r>
            <a:endParaRPr lang="en-PK" dirty="0"/>
          </a:p>
        </p:txBody>
      </p:sp>
      <p:sp>
        <p:nvSpPr>
          <p:cNvPr id="3" name="Content Placeholder 2">
            <a:extLst>
              <a:ext uri="{FF2B5EF4-FFF2-40B4-BE49-F238E27FC236}">
                <a16:creationId xmlns:a16="http://schemas.microsoft.com/office/drawing/2014/main" id="{BAF7EF7D-D716-C96A-2391-55057174C730}"/>
              </a:ext>
            </a:extLst>
          </p:cNvPr>
          <p:cNvSpPr>
            <a:spLocks noGrp="1"/>
          </p:cNvSpPr>
          <p:nvPr>
            <p:ph idx="1"/>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PK" sz="1800" b="1" kern="100" dirty="0">
                <a:effectLst/>
                <a:latin typeface="Calibri" panose="020F0502020204030204" pitchFamily="34" charset="0"/>
                <a:ea typeface="Calibri" panose="020F0502020204030204" pitchFamily="34" charset="0"/>
                <a:cs typeface="Times New Roman" panose="02020603050405020304" pitchFamily="18" charset="0"/>
              </a:rPr>
              <a:t>Test Case ID</a:t>
            </a:r>
            <a:r>
              <a:rPr lang="en-PK" sz="1800" kern="100" dirty="0">
                <a:effectLst/>
                <a:latin typeface="Calibri" panose="020F0502020204030204" pitchFamily="34" charset="0"/>
                <a:ea typeface="Calibri" panose="020F0502020204030204" pitchFamily="34" charset="0"/>
                <a:cs typeface="Times New Roman" panose="02020603050405020304" pitchFamily="18" charset="0"/>
              </a:rPr>
              <a:t>: Unique identifier for the test case.</a:t>
            </a:r>
          </a:p>
          <a:p>
            <a:pPr marL="342900" lvl="0" indent="-342900">
              <a:lnSpc>
                <a:spcPct val="107000"/>
              </a:lnSpc>
              <a:spcAft>
                <a:spcPts val="800"/>
              </a:spcAft>
              <a:buSzPts val="1000"/>
              <a:buFont typeface="Symbol" panose="05050102010706020507" pitchFamily="18" charset="2"/>
              <a:buChar char=""/>
              <a:tabLst>
                <a:tab pos="457200" algn="l"/>
              </a:tabLst>
            </a:pPr>
            <a:r>
              <a:rPr lang="en-PK" sz="1800" b="1" kern="100" dirty="0">
                <a:effectLst/>
                <a:latin typeface="Calibri" panose="020F0502020204030204" pitchFamily="34" charset="0"/>
                <a:ea typeface="Calibri" panose="020F0502020204030204" pitchFamily="34" charset="0"/>
                <a:cs typeface="Times New Roman" panose="02020603050405020304" pitchFamily="18" charset="0"/>
              </a:rPr>
              <a:t>Objective</a:t>
            </a:r>
            <a:r>
              <a:rPr lang="en-PK" sz="1800" kern="100" dirty="0">
                <a:effectLst/>
                <a:latin typeface="Calibri" panose="020F0502020204030204" pitchFamily="34" charset="0"/>
                <a:ea typeface="Calibri" panose="020F0502020204030204" pitchFamily="34" charset="0"/>
                <a:cs typeface="Times New Roman" panose="02020603050405020304" pitchFamily="18" charset="0"/>
              </a:rPr>
              <a:t>: Clearly states what is being tested.</a:t>
            </a:r>
          </a:p>
          <a:p>
            <a:pPr marL="342900" lvl="0" indent="-342900">
              <a:lnSpc>
                <a:spcPct val="107000"/>
              </a:lnSpc>
              <a:spcAft>
                <a:spcPts val="800"/>
              </a:spcAft>
              <a:buSzPts val="1000"/>
              <a:buFont typeface="Symbol" panose="05050102010706020507" pitchFamily="18" charset="2"/>
              <a:buChar char=""/>
              <a:tabLst>
                <a:tab pos="457200" algn="l"/>
              </a:tabLst>
            </a:pPr>
            <a:r>
              <a:rPr lang="en-PK" sz="1800" b="1" kern="100" dirty="0">
                <a:effectLst/>
                <a:latin typeface="Calibri" panose="020F0502020204030204" pitchFamily="34" charset="0"/>
                <a:ea typeface="Calibri" panose="020F0502020204030204" pitchFamily="34" charset="0"/>
                <a:cs typeface="Times New Roman" panose="02020603050405020304" pitchFamily="18" charset="0"/>
              </a:rPr>
              <a:t>Preconditions</a:t>
            </a:r>
            <a:r>
              <a:rPr lang="en-PK" sz="1800" kern="100" dirty="0">
                <a:effectLst/>
                <a:latin typeface="Calibri" panose="020F0502020204030204" pitchFamily="34" charset="0"/>
                <a:ea typeface="Calibri" panose="020F0502020204030204" pitchFamily="34" charset="0"/>
                <a:cs typeface="Times New Roman" panose="02020603050405020304" pitchFamily="18" charset="0"/>
              </a:rPr>
              <a:t>: Conditions that must be met before executing the test.</a:t>
            </a:r>
          </a:p>
          <a:p>
            <a:pPr marL="342900" lvl="0" indent="-342900">
              <a:lnSpc>
                <a:spcPct val="107000"/>
              </a:lnSpc>
              <a:spcAft>
                <a:spcPts val="800"/>
              </a:spcAft>
              <a:buSzPts val="1000"/>
              <a:buFont typeface="Symbol" panose="05050102010706020507" pitchFamily="18" charset="2"/>
              <a:buChar char=""/>
              <a:tabLst>
                <a:tab pos="457200" algn="l"/>
              </a:tabLst>
            </a:pPr>
            <a:r>
              <a:rPr lang="en-PK" sz="1800" b="1" kern="100" dirty="0">
                <a:effectLst/>
                <a:latin typeface="Calibri" panose="020F0502020204030204" pitchFamily="34" charset="0"/>
                <a:ea typeface="Calibri" panose="020F0502020204030204" pitchFamily="34" charset="0"/>
                <a:cs typeface="Times New Roman" panose="02020603050405020304" pitchFamily="18" charset="0"/>
              </a:rPr>
              <a:t>Steps</a:t>
            </a:r>
            <a:r>
              <a:rPr lang="en-PK" sz="1800" kern="100" dirty="0">
                <a:effectLst/>
                <a:latin typeface="Calibri" panose="020F0502020204030204" pitchFamily="34" charset="0"/>
                <a:ea typeface="Calibri" panose="020F0502020204030204" pitchFamily="34" charset="0"/>
                <a:cs typeface="Times New Roman" panose="02020603050405020304" pitchFamily="18" charset="0"/>
              </a:rPr>
              <a:t>: Detailed actions to perform during the test.</a:t>
            </a:r>
          </a:p>
          <a:p>
            <a:pPr>
              <a:buNone/>
            </a:pPr>
            <a:r>
              <a:rPr lang="en-PK" sz="1800" b="1" dirty="0">
                <a:effectLst/>
                <a:latin typeface="Calibri" panose="020F0502020204030204" pitchFamily="34" charset="0"/>
                <a:ea typeface="Calibri" panose="020F0502020204030204" pitchFamily="34" charset="0"/>
                <a:cs typeface="Times New Roman" panose="02020603050405020304" pitchFamily="18" charset="0"/>
              </a:rPr>
              <a:t>Expected Results</a:t>
            </a:r>
            <a:r>
              <a:rPr lang="en-PK" sz="1800" dirty="0">
                <a:effectLst/>
                <a:latin typeface="Calibri" panose="020F0502020204030204" pitchFamily="34" charset="0"/>
                <a:ea typeface="Calibri" panose="020F0502020204030204" pitchFamily="34" charset="0"/>
                <a:cs typeface="Times New Roman" panose="02020603050405020304" pitchFamily="18" charset="0"/>
              </a:rPr>
              <a:t>: What should happen if the test passes</a:t>
            </a:r>
            <a:endParaRPr lang="en-PK" dirty="0"/>
          </a:p>
        </p:txBody>
      </p:sp>
      <p:sp>
        <p:nvSpPr>
          <p:cNvPr id="4" name="Footer Placeholder 3">
            <a:extLst>
              <a:ext uri="{FF2B5EF4-FFF2-40B4-BE49-F238E27FC236}">
                <a16:creationId xmlns:a16="http://schemas.microsoft.com/office/drawing/2014/main" id="{1D3B6143-EE68-93F5-35F1-0E8A9F439DE7}"/>
              </a:ext>
            </a:extLst>
          </p:cNvPr>
          <p:cNvSpPr>
            <a:spLocks noGrp="1"/>
          </p:cNvSpPr>
          <p:nvPr>
            <p:ph type="ftr" sz="quarter" idx="11"/>
          </p:nvPr>
        </p:nvSpPr>
        <p:spPr/>
        <p:txBody>
          <a:bodyPr/>
          <a:lstStyle/>
          <a:p>
            <a:r>
              <a:rPr lang="en-US"/>
              <a:t>Engr.Muhammad Umer Haroon</a:t>
            </a:r>
            <a:endParaRPr lang="en-PK"/>
          </a:p>
        </p:txBody>
      </p:sp>
    </p:spTree>
    <p:extLst>
      <p:ext uri="{BB962C8B-B14F-4D97-AF65-F5344CB8AC3E}">
        <p14:creationId xmlns:p14="http://schemas.microsoft.com/office/powerpoint/2010/main" val="780942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41959-E95F-C878-9C4A-BFDCC8CF697D}"/>
              </a:ext>
            </a:extLst>
          </p:cNvPr>
          <p:cNvSpPr>
            <a:spLocks noGrp="1"/>
          </p:cNvSpPr>
          <p:nvPr>
            <p:ph type="title"/>
          </p:nvPr>
        </p:nvSpPr>
        <p:spPr>
          <a:xfrm>
            <a:off x="838200" y="365126"/>
            <a:ext cx="10515600" cy="649288"/>
          </a:xfrm>
        </p:spPr>
        <p:txBody>
          <a:bodyPr>
            <a:normAutofit fontScale="90000"/>
          </a:bodyPr>
          <a:lstStyle/>
          <a:p>
            <a:r>
              <a:rPr lang="en-US" dirty="0"/>
              <a:t>Example , steps missing</a:t>
            </a:r>
            <a:endParaRPr lang="en-PK" dirty="0"/>
          </a:p>
        </p:txBody>
      </p:sp>
      <p:graphicFrame>
        <p:nvGraphicFramePr>
          <p:cNvPr id="4" name="Content Placeholder 3">
            <a:extLst>
              <a:ext uri="{FF2B5EF4-FFF2-40B4-BE49-F238E27FC236}">
                <a16:creationId xmlns:a16="http://schemas.microsoft.com/office/drawing/2014/main" id="{4F6A5A3A-1480-8A1D-6DB6-3434B3A5CD9E}"/>
              </a:ext>
            </a:extLst>
          </p:cNvPr>
          <p:cNvGraphicFramePr>
            <a:graphicFrameLocks noGrp="1"/>
          </p:cNvGraphicFramePr>
          <p:nvPr>
            <p:ph idx="1"/>
            <p:extLst>
              <p:ext uri="{D42A27DB-BD31-4B8C-83A1-F6EECF244321}">
                <p14:modId xmlns:p14="http://schemas.microsoft.com/office/powerpoint/2010/main" val="3546566071"/>
              </p:ext>
            </p:extLst>
          </p:nvPr>
        </p:nvGraphicFramePr>
        <p:xfrm>
          <a:off x="2463803" y="1139823"/>
          <a:ext cx="6894510" cy="5597269"/>
        </p:xfrm>
        <a:graphic>
          <a:graphicData uri="http://schemas.openxmlformats.org/drawingml/2006/table">
            <a:tbl>
              <a:tblPr firstRow="1" firstCol="1" bandRow="1">
                <a:tableStyleId>{5C22544A-7EE6-4342-B048-85BDC9FD1C3A}</a:tableStyleId>
              </a:tblPr>
              <a:tblGrid>
                <a:gridCol w="1206791">
                  <a:extLst>
                    <a:ext uri="{9D8B030D-6E8A-4147-A177-3AD203B41FA5}">
                      <a16:colId xmlns:a16="http://schemas.microsoft.com/office/drawing/2014/main" val="3468855625"/>
                    </a:ext>
                  </a:extLst>
                </a:gridCol>
                <a:gridCol w="968122">
                  <a:extLst>
                    <a:ext uri="{9D8B030D-6E8A-4147-A177-3AD203B41FA5}">
                      <a16:colId xmlns:a16="http://schemas.microsoft.com/office/drawing/2014/main" val="2194713948"/>
                    </a:ext>
                  </a:extLst>
                </a:gridCol>
                <a:gridCol w="1936245">
                  <a:extLst>
                    <a:ext uri="{9D8B030D-6E8A-4147-A177-3AD203B41FA5}">
                      <a16:colId xmlns:a16="http://schemas.microsoft.com/office/drawing/2014/main" val="3540863508"/>
                    </a:ext>
                  </a:extLst>
                </a:gridCol>
                <a:gridCol w="1936245">
                  <a:extLst>
                    <a:ext uri="{9D8B030D-6E8A-4147-A177-3AD203B41FA5}">
                      <a16:colId xmlns:a16="http://schemas.microsoft.com/office/drawing/2014/main" val="1205759237"/>
                    </a:ext>
                  </a:extLst>
                </a:gridCol>
                <a:gridCol w="847107">
                  <a:extLst>
                    <a:ext uri="{9D8B030D-6E8A-4147-A177-3AD203B41FA5}">
                      <a16:colId xmlns:a16="http://schemas.microsoft.com/office/drawing/2014/main" val="3151788463"/>
                    </a:ext>
                  </a:extLst>
                </a:gridCol>
              </a:tblGrid>
              <a:tr h="429196">
                <a:tc>
                  <a:txBody>
                    <a:bodyPr/>
                    <a:lstStyle/>
                    <a:p>
                      <a:pPr marL="4445" indent="-4445" algn="l">
                        <a:lnSpc>
                          <a:spcPct val="115000"/>
                        </a:lnSpc>
                        <a:spcBef>
                          <a:spcPts val="600"/>
                        </a:spcBef>
                        <a:spcAft>
                          <a:spcPts val="615"/>
                        </a:spcAft>
                      </a:pPr>
                      <a:r>
                        <a:rPr lang="en-US" sz="1400">
                          <a:effectLst/>
                        </a:rPr>
                        <a:t>Test Case ID</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gridSpan="4">
                  <a:txBody>
                    <a:bodyPr/>
                    <a:lstStyle/>
                    <a:p>
                      <a:pPr marL="4445" indent="-4445" algn="l">
                        <a:lnSpc>
                          <a:spcPct val="115000"/>
                        </a:lnSpc>
                        <a:spcBef>
                          <a:spcPts val="600"/>
                        </a:spcBef>
                        <a:spcAft>
                          <a:spcPts val="615"/>
                        </a:spcAft>
                      </a:pPr>
                      <a:r>
                        <a:rPr lang="en-US" sz="1400">
                          <a:effectLst/>
                        </a:rPr>
                        <a:t>TC04</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3457659983"/>
                  </a:ext>
                </a:extLst>
              </a:tr>
              <a:tr h="427715">
                <a:tc>
                  <a:txBody>
                    <a:bodyPr/>
                    <a:lstStyle/>
                    <a:p>
                      <a:pPr marL="4445" indent="-4445" algn="l">
                        <a:lnSpc>
                          <a:spcPct val="115000"/>
                        </a:lnSpc>
                        <a:spcBef>
                          <a:spcPts val="600"/>
                        </a:spcBef>
                        <a:spcAft>
                          <a:spcPts val="615"/>
                        </a:spcAft>
                      </a:pPr>
                      <a:r>
                        <a:rPr lang="en-US" sz="1400">
                          <a:effectLst/>
                        </a:rPr>
                        <a:t>Use Case Ref. </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tc>
                <a:tc gridSpan="4">
                  <a:txBody>
                    <a:bodyPr/>
                    <a:lstStyle/>
                    <a:p>
                      <a:pPr marL="4445" indent="-4445" algn="l">
                        <a:lnSpc>
                          <a:spcPct val="115000"/>
                        </a:lnSpc>
                        <a:spcBef>
                          <a:spcPts val="600"/>
                        </a:spcBef>
                        <a:spcAft>
                          <a:spcPts val="615"/>
                        </a:spcAft>
                      </a:pPr>
                      <a:r>
                        <a:rPr lang="en-US" sz="1400">
                          <a:effectLst/>
                        </a:rPr>
                        <a:t>UC04</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3098002324"/>
                  </a:ext>
                </a:extLst>
              </a:tr>
              <a:tr h="344432">
                <a:tc>
                  <a:txBody>
                    <a:bodyPr/>
                    <a:lstStyle/>
                    <a:p>
                      <a:pPr marL="4445" indent="-4445" algn="l">
                        <a:lnSpc>
                          <a:spcPct val="115000"/>
                        </a:lnSpc>
                        <a:spcBef>
                          <a:spcPts val="600"/>
                        </a:spcBef>
                        <a:spcAft>
                          <a:spcPts val="615"/>
                        </a:spcAft>
                      </a:pPr>
                      <a:r>
                        <a:rPr lang="en-US" sz="1400">
                          <a:effectLst/>
                        </a:rPr>
                        <a:t>Test Date</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gridSpan="4">
                  <a:txBody>
                    <a:bodyPr/>
                    <a:lstStyle/>
                    <a:p>
                      <a:pPr marL="4445" indent="-4445" algn="l">
                        <a:lnSpc>
                          <a:spcPct val="115000"/>
                        </a:lnSpc>
                        <a:spcBef>
                          <a:spcPts val="600"/>
                        </a:spcBef>
                        <a:spcAft>
                          <a:spcPts val="615"/>
                        </a:spcAft>
                      </a:pPr>
                      <a:r>
                        <a:rPr lang="en-US" sz="1400">
                          <a:effectLst/>
                        </a:rPr>
                        <a:t>Dec 01, 2021</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212865074"/>
                  </a:ext>
                </a:extLst>
              </a:tr>
              <a:tr h="427715">
                <a:tc>
                  <a:txBody>
                    <a:bodyPr/>
                    <a:lstStyle/>
                    <a:p>
                      <a:pPr marL="4445" indent="-4445" algn="l">
                        <a:lnSpc>
                          <a:spcPct val="115000"/>
                        </a:lnSpc>
                        <a:spcBef>
                          <a:spcPts val="600"/>
                        </a:spcBef>
                        <a:spcAft>
                          <a:spcPts val="615"/>
                        </a:spcAft>
                      </a:pPr>
                      <a:r>
                        <a:rPr lang="en-US" sz="1400">
                          <a:effectLst/>
                        </a:rPr>
                        <a:t>Objective </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gridSpan="4">
                  <a:txBody>
                    <a:bodyPr/>
                    <a:lstStyle/>
                    <a:p>
                      <a:pPr marL="4445" indent="-4445" algn="l">
                        <a:lnSpc>
                          <a:spcPct val="115000"/>
                        </a:lnSpc>
                        <a:spcBef>
                          <a:spcPts val="600"/>
                        </a:spcBef>
                        <a:spcAft>
                          <a:spcPts val="615"/>
                        </a:spcAft>
                      </a:pPr>
                      <a:r>
                        <a:rPr lang="en-US" sz="1400">
                          <a:effectLst/>
                        </a:rPr>
                        <a:t>To test the process of updating marriage status and broadcasting the update.</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1277549962"/>
                  </a:ext>
                </a:extLst>
              </a:tr>
              <a:tr h="427715">
                <a:tc>
                  <a:txBody>
                    <a:bodyPr/>
                    <a:lstStyle/>
                    <a:p>
                      <a:pPr marL="4445" indent="-4445" algn="l">
                        <a:lnSpc>
                          <a:spcPct val="115000"/>
                        </a:lnSpc>
                        <a:spcBef>
                          <a:spcPts val="600"/>
                        </a:spcBef>
                        <a:spcAft>
                          <a:spcPts val="615"/>
                        </a:spcAft>
                      </a:pPr>
                      <a:r>
                        <a:rPr lang="en-US" sz="1400">
                          <a:effectLst/>
                        </a:rPr>
                        <a:t>Environment</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gridSpan="4">
                  <a:txBody>
                    <a:bodyPr/>
                    <a:lstStyle/>
                    <a:p>
                      <a:pPr marL="4445" indent="-4445" algn="l">
                        <a:lnSpc>
                          <a:spcPct val="115000"/>
                        </a:lnSpc>
                        <a:spcBef>
                          <a:spcPts val="600"/>
                        </a:spcBef>
                        <a:spcAft>
                          <a:spcPts val="615"/>
                        </a:spcAft>
                      </a:pPr>
                      <a:r>
                        <a:rPr lang="en-US" sz="1400">
                          <a:effectLst/>
                        </a:rPr>
                        <a:t>Web-based Application</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2377633478"/>
                  </a:ext>
                </a:extLst>
              </a:tr>
              <a:tr h="427715">
                <a:tc>
                  <a:txBody>
                    <a:bodyPr/>
                    <a:lstStyle/>
                    <a:p>
                      <a:pPr marL="4445" indent="-4445" algn="l">
                        <a:lnSpc>
                          <a:spcPct val="115000"/>
                        </a:lnSpc>
                        <a:spcBef>
                          <a:spcPts val="600"/>
                        </a:spcBef>
                        <a:spcAft>
                          <a:spcPts val="615"/>
                        </a:spcAft>
                      </a:pPr>
                      <a:r>
                        <a:rPr lang="en-US" sz="1400">
                          <a:effectLst/>
                        </a:rPr>
                        <a:t>Assumptions </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gridSpan="4">
                  <a:txBody>
                    <a:bodyPr/>
                    <a:lstStyle/>
                    <a:p>
                      <a:pPr marL="4445" indent="-4445" algn="l">
                        <a:lnSpc>
                          <a:spcPct val="115000"/>
                        </a:lnSpc>
                        <a:spcBef>
                          <a:spcPts val="600"/>
                        </a:spcBef>
                        <a:spcAft>
                          <a:spcPts val="615"/>
                        </a:spcAft>
                      </a:pPr>
                      <a:r>
                        <a:rPr lang="en-US" sz="1400">
                          <a:effectLst/>
                        </a:rPr>
                        <a:t>System displaying current marriage status on the screen.</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1698657841"/>
                  </a:ext>
                </a:extLst>
              </a:tr>
              <a:tr h="427715">
                <a:tc>
                  <a:txBody>
                    <a:bodyPr/>
                    <a:lstStyle/>
                    <a:p>
                      <a:pPr marL="4445" indent="-4445" algn="l">
                        <a:lnSpc>
                          <a:spcPct val="115000"/>
                        </a:lnSpc>
                        <a:spcBef>
                          <a:spcPts val="600"/>
                        </a:spcBef>
                        <a:spcAft>
                          <a:spcPts val="615"/>
                        </a:spcAft>
                      </a:pPr>
                      <a:r>
                        <a:rPr lang="en-US" sz="1400">
                          <a:effectLst/>
                        </a:rPr>
                        <a:t>Pre-Requisite</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gridSpan="4">
                  <a:txBody>
                    <a:bodyPr/>
                    <a:lstStyle/>
                    <a:p>
                      <a:pPr marL="4445" indent="-4445" algn="l">
                        <a:lnSpc>
                          <a:spcPct val="115000"/>
                        </a:lnSpc>
                        <a:spcBef>
                          <a:spcPts val="600"/>
                        </a:spcBef>
                        <a:spcAft>
                          <a:spcPts val="615"/>
                        </a:spcAft>
                      </a:pPr>
                      <a:r>
                        <a:rPr lang="en-US" sz="1400">
                          <a:effectLst/>
                        </a:rPr>
                        <a:t>User is at marriage status page.</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633982970"/>
                  </a:ext>
                </a:extLst>
              </a:tr>
              <a:tr h="427715">
                <a:tc rowSpan="2">
                  <a:txBody>
                    <a:bodyPr/>
                    <a:lstStyle/>
                    <a:p>
                      <a:pPr marL="4445" indent="-4445" algn="just">
                        <a:lnSpc>
                          <a:spcPct val="115000"/>
                        </a:lnSpc>
                        <a:spcBef>
                          <a:spcPts val="1200"/>
                        </a:spcBef>
                        <a:spcAft>
                          <a:spcPts val="615"/>
                        </a:spcAft>
                      </a:pPr>
                      <a:r>
                        <a:rPr lang="en-US" sz="1400">
                          <a:effectLst/>
                        </a:rPr>
                        <a:t>Test Procedure</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tc>
                <a:tc>
                  <a:txBody>
                    <a:bodyPr/>
                    <a:lstStyle/>
                    <a:p>
                      <a:pPr marL="4445" indent="-4445" algn="ctr">
                        <a:lnSpc>
                          <a:spcPct val="115000"/>
                        </a:lnSpc>
                        <a:spcBef>
                          <a:spcPts val="600"/>
                        </a:spcBef>
                        <a:spcAft>
                          <a:spcPts val="615"/>
                        </a:spcAft>
                      </a:pPr>
                      <a:r>
                        <a:rPr lang="en-US" sz="1400">
                          <a:effectLst/>
                        </a:rPr>
                        <a:t>Steps to Perform</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a:txBody>
                    <a:bodyPr/>
                    <a:lstStyle/>
                    <a:p>
                      <a:pPr marL="4445" indent="-4445" algn="ctr">
                        <a:lnSpc>
                          <a:spcPct val="115000"/>
                        </a:lnSpc>
                        <a:spcBef>
                          <a:spcPts val="600"/>
                        </a:spcBef>
                        <a:spcAft>
                          <a:spcPts val="615"/>
                        </a:spcAft>
                      </a:pPr>
                      <a:r>
                        <a:rPr lang="en-US" sz="1400">
                          <a:effectLst/>
                        </a:rPr>
                        <a:t>Input Data</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a:txBody>
                    <a:bodyPr/>
                    <a:lstStyle/>
                    <a:p>
                      <a:pPr marL="4445" indent="-4445" algn="ctr">
                        <a:lnSpc>
                          <a:spcPct val="115000"/>
                        </a:lnSpc>
                        <a:spcBef>
                          <a:spcPts val="600"/>
                        </a:spcBef>
                        <a:spcAft>
                          <a:spcPts val="615"/>
                        </a:spcAft>
                      </a:pPr>
                      <a:r>
                        <a:rPr lang="en-US" sz="1400">
                          <a:effectLst/>
                        </a:rPr>
                        <a:t>Expected Result</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tc>
                  <a:txBody>
                    <a:bodyPr/>
                    <a:lstStyle/>
                    <a:p>
                      <a:pPr marL="4445" indent="-4445" algn="ctr">
                        <a:lnSpc>
                          <a:spcPct val="115000"/>
                        </a:lnSpc>
                        <a:spcBef>
                          <a:spcPts val="600"/>
                        </a:spcBef>
                        <a:spcAft>
                          <a:spcPts val="615"/>
                        </a:spcAft>
                      </a:pPr>
                      <a:r>
                        <a:rPr lang="en-US" sz="1400">
                          <a:effectLst/>
                        </a:rPr>
                        <a:t>Actual Result</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nchor="ctr"/>
                </a:tc>
                <a:extLst>
                  <a:ext uri="{0D108BD9-81ED-4DB2-BD59-A6C34878D82A}">
                    <a16:rowId xmlns:a16="http://schemas.microsoft.com/office/drawing/2014/main" val="3824158444"/>
                  </a:ext>
                </a:extLst>
              </a:tr>
              <a:tr h="1541740">
                <a:tc vMerge="1">
                  <a:txBody>
                    <a:bodyPr/>
                    <a:lstStyle/>
                    <a:p>
                      <a:endParaRPr lang="en-PK"/>
                    </a:p>
                  </a:txBody>
                  <a:tcPr/>
                </a:tc>
                <a:tc>
                  <a:txBody>
                    <a:bodyPr/>
                    <a:lstStyle/>
                    <a:p>
                      <a:pPr marL="4445" indent="-4445" algn="just">
                        <a:lnSpc>
                          <a:spcPct val="115000"/>
                        </a:lnSpc>
                        <a:spcBef>
                          <a:spcPts val="600"/>
                        </a:spcBef>
                        <a:spcAft>
                          <a:spcPts val="615"/>
                        </a:spcAft>
                      </a:pPr>
                      <a:r>
                        <a:rPr lang="en-US" sz="1400">
                          <a:effectLst/>
                        </a:rPr>
                        <a:t>Click on the update status button.</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tc>
                <a:tc>
                  <a:txBody>
                    <a:bodyPr/>
                    <a:lstStyle/>
                    <a:p>
                      <a:pPr marL="4445" indent="-4445" algn="just">
                        <a:lnSpc>
                          <a:spcPct val="115000"/>
                        </a:lnSpc>
                        <a:spcBef>
                          <a:spcPts val="600"/>
                        </a:spcBef>
                        <a:spcAft>
                          <a:spcPts val="615"/>
                        </a:spcAft>
                      </a:pPr>
                      <a:r>
                        <a:rPr lang="en-US" sz="1400">
                          <a:effectLst/>
                        </a:rPr>
                        <a:t>N/A </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tc>
                <a:tc>
                  <a:txBody>
                    <a:bodyPr/>
                    <a:lstStyle/>
                    <a:p>
                      <a:pPr marL="4445" indent="-4445" algn="just">
                        <a:lnSpc>
                          <a:spcPct val="115000"/>
                        </a:lnSpc>
                        <a:spcBef>
                          <a:spcPts val="600"/>
                        </a:spcBef>
                        <a:spcAft>
                          <a:spcPts val="615"/>
                        </a:spcAft>
                      </a:pPr>
                      <a:r>
                        <a:rPr lang="en-US" sz="1400">
                          <a:effectLst/>
                        </a:rPr>
                        <a:t>Change in marriage status has been verified. Marriage status is updated successfully and the update is broadcasted across the network.</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tc>
                <a:tc>
                  <a:txBody>
                    <a:bodyPr/>
                    <a:lstStyle/>
                    <a:p>
                      <a:pPr marL="4445" indent="-4445" algn="just">
                        <a:lnSpc>
                          <a:spcPct val="115000"/>
                        </a:lnSpc>
                        <a:spcBef>
                          <a:spcPts val="600"/>
                        </a:spcBef>
                        <a:spcAft>
                          <a:spcPts val="615"/>
                        </a:spcAft>
                      </a:pPr>
                      <a:r>
                        <a:rPr lang="en-US" sz="1400">
                          <a:effectLst/>
                        </a:rPr>
                        <a:t>Same as expected.</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tc>
                <a:extLst>
                  <a:ext uri="{0D108BD9-81ED-4DB2-BD59-A6C34878D82A}">
                    <a16:rowId xmlns:a16="http://schemas.microsoft.com/office/drawing/2014/main" val="3223740169"/>
                  </a:ext>
                </a:extLst>
              </a:tr>
              <a:tr h="507904">
                <a:tc>
                  <a:txBody>
                    <a:bodyPr/>
                    <a:lstStyle/>
                    <a:p>
                      <a:pPr marL="4445" indent="-4445" algn="just">
                        <a:lnSpc>
                          <a:spcPct val="115000"/>
                        </a:lnSpc>
                        <a:spcBef>
                          <a:spcPts val="600"/>
                        </a:spcBef>
                        <a:spcAft>
                          <a:spcPts val="615"/>
                        </a:spcAft>
                      </a:pPr>
                      <a:r>
                        <a:rPr lang="en-US" sz="1400">
                          <a:effectLst/>
                        </a:rPr>
                        <a:t>Status </a:t>
                      </a:r>
                      <a:endParaRPr lang="en-PK"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tc>
                <a:tc gridSpan="4">
                  <a:txBody>
                    <a:bodyPr/>
                    <a:lstStyle/>
                    <a:p>
                      <a:pPr marL="4445" indent="-4445" algn="just">
                        <a:lnSpc>
                          <a:spcPct val="115000"/>
                        </a:lnSpc>
                        <a:spcBef>
                          <a:spcPts val="600"/>
                        </a:spcBef>
                        <a:spcAft>
                          <a:spcPts val="615"/>
                        </a:spcAft>
                      </a:pPr>
                      <a:r>
                        <a:rPr lang="en-US" sz="1400" dirty="0">
                          <a:effectLst/>
                        </a:rPr>
                        <a:t>Pass </a:t>
                      </a:r>
                      <a:endParaRPr lang="en-PK"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8658" marR="58658" marT="0" marB="0"/>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2441969771"/>
                  </a:ext>
                </a:extLst>
              </a:tr>
            </a:tbl>
          </a:graphicData>
        </a:graphic>
      </p:graphicFrame>
      <p:sp>
        <p:nvSpPr>
          <p:cNvPr id="5" name="Footer Placeholder 4">
            <a:extLst>
              <a:ext uri="{FF2B5EF4-FFF2-40B4-BE49-F238E27FC236}">
                <a16:creationId xmlns:a16="http://schemas.microsoft.com/office/drawing/2014/main" id="{A814C495-8747-411E-E442-08374B540587}"/>
              </a:ext>
            </a:extLst>
          </p:cNvPr>
          <p:cNvSpPr>
            <a:spLocks noGrp="1"/>
          </p:cNvSpPr>
          <p:nvPr>
            <p:ph type="ftr" sz="quarter" idx="11"/>
          </p:nvPr>
        </p:nvSpPr>
        <p:spPr/>
        <p:txBody>
          <a:bodyPr/>
          <a:lstStyle/>
          <a:p>
            <a:r>
              <a:rPr lang="en-US"/>
              <a:t>Engr.Muhammad Umer Haroon</a:t>
            </a:r>
            <a:endParaRPr lang="en-PK"/>
          </a:p>
        </p:txBody>
      </p:sp>
      <p:sp>
        <p:nvSpPr>
          <p:cNvPr id="7" name="TextBox 6">
            <a:extLst>
              <a:ext uri="{FF2B5EF4-FFF2-40B4-BE49-F238E27FC236}">
                <a16:creationId xmlns:a16="http://schemas.microsoft.com/office/drawing/2014/main" id="{F065D619-B499-94A2-EE38-252F877FE0C6}"/>
              </a:ext>
            </a:extLst>
          </p:cNvPr>
          <p:cNvSpPr txBox="1"/>
          <p:nvPr/>
        </p:nvSpPr>
        <p:spPr>
          <a:xfrm>
            <a:off x="9358313" y="1139823"/>
            <a:ext cx="3096815" cy="5150000"/>
          </a:xfrm>
          <a:prstGeom prst="rect">
            <a:avLst/>
          </a:prstGeom>
          <a:noFill/>
        </p:spPr>
        <p:txBody>
          <a:bodyPr wrap="square">
            <a:spAutoFit/>
          </a:bodyPr>
          <a:lstStyle/>
          <a:p>
            <a:pPr marL="4445" indent="-4445" algn="ctr">
              <a:lnSpc>
                <a:spcPct val="115000"/>
              </a:lnSpc>
              <a:spcBef>
                <a:spcPts val="600"/>
              </a:spcBef>
              <a:spcAft>
                <a:spcPts val="615"/>
              </a:spcAft>
            </a:pPr>
            <a:r>
              <a:rPr lang="en-US" sz="1800" b="1" dirty="0">
                <a:solidFill>
                  <a:srgbClr val="000000"/>
                </a:solidFill>
                <a:effectLst/>
                <a:latin typeface="Times New Roman" panose="02020603050405020304" pitchFamily="18" charset="0"/>
                <a:ea typeface="Times New Roman" panose="02020603050405020304" pitchFamily="18" charset="0"/>
              </a:rPr>
              <a:t>Marriage Certificate Blockchain</a:t>
            </a:r>
            <a:br>
              <a:rPr lang="en-US" sz="1800" b="1" dirty="0">
                <a:solidFill>
                  <a:srgbClr val="000000"/>
                </a:solidFill>
                <a:effectLst/>
                <a:latin typeface="Times New Roman" panose="02020603050405020304" pitchFamily="18" charset="0"/>
                <a:ea typeface="Times New Roman" panose="02020603050405020304" pitchFamily="18" charset="0"/>
              </a:rPr>
            </a:br>
            <a:r>
              <a:rPr lang="en-US" sz="1800" b="1" dirty="0">
                <a:solidFill>
                  <a:srgbClr val="000000"/>
                </a:solidFill>
                <a:effectLst/>
                <a:latin typeface="Times New Roman" panose="02020603050405020304" pitchFamily="18" charset="0"/>
                <a:ea typeface="Times New Roman" panose="02020603050405020304" pitchFamily="18" charset="0"/>
              </a:rPr>
              <a:t>Application</a:t>
            </a:r>
          </a:p>
          <a:p>
            <a:pPr marL="4445" indent="-4445" algn="ctr">
              <a:lnSpc>
                <a:spcPct val="115000"/>
              </a:lnSpc>
              <a:spcBef>
                <a:spcPts val="600"/>
              </a:spcBef>
              <a:spcAft>
                <a:spcPts val="615"/>
              </a:spcAft>
            </a:pPr>
            <a:endParaRPr lang="en-US" b="1" dirty="0">
              <a:solidFill>
                <a:srgbClr val="000000"/>
              </a:solidFill>
              <a:latin typeface="Times New Roman" panose="02020603050405020304" pitchFamily="18" charset="0"/>
              <a:ea typeface="Times New Roman" panose="02020603050405020304" pitchFamily="18" charset="0"/>
            </a:endParaRPr>
          </a:p>
          <a:p>
            <a:pPr marL="150495" marR="1905" indent="-4445" algn="ctr">
              <a:lnSpc>
                <a:spcPct val="115000"/>
              </a:lnSpc>
              <a:spcBef>
                <a:spcPts val="600"/>
              </a:spcBef>
              <a:spcAft>
                <a:spcPts val="5"/>
              </a:spcAft>
            </a:pPr>
            <a:r>
              <a:rPr lang="en-US" sz="1800" b="1" dirty="0" err="1">
                <a:solidFill>
                  <a:srgbClr val="000000"/>
                </a:solidFill>
                <a:effectLst/>
                <a:latin typeface="Times New Roman" panose="02020603050405020304" pitchFamily="18" charset="0"/>
                <a:ea typeface="Times New Roman" panose="02020603050405020304" pitchFamily="18" charset="0"/>
              </a:rPr>
              <a:t>Qaiser</a:t>
            </a:r>
            <a:r>
              <a:rPr lang="en-US" sz="1800" b="1" dirty="0">
                <a:solidFill>
                  <a:srgbClr val="000000"/>
                </a:solidFill>
                <a:effectLst/>
                <a:latin typeface="Times New Roman" panose="02020603050405020304" pitchFamily="18" charset="0"/>
                <a:ea typeface="Times New Roman" panose="02020603050405020304" pitchFamily="18" charset="0"/>
              </a:rPr>
              <a:t> Iqbal</a:t>
            </a:r>
            <a:endParaRPr lang="en-PK" sz="1800" dirty="0">
              <a:solidFill>
                <a:srgbClr val="000000"/>
              </a:solidFill>
              <a:effectLst/>
              <a:latin typeface="Times New Roman" panose="02020603050405020304" pitchFamily="18" charset="0"/>
              <a:ea typeface="Times New Roman" panose="02020603050405020304" pitchFamily="18" charset="0"/>
            </a:endParaRPr>
          </a:p>
          <a:p>
            <a:pPr marL="150495" marR="3810" indent="-4445" algn="ctr">
              <a:lnSpc>
                <a:spcPct val="115000"/>
              </a:lnSpc>
              <a:spcBef>
                <a:spcPts val="600"/>
              </a:spcBef>
              <a:spcAft>
                <a:spcPts val="5"/>
              </a:spcAft>
            </a:pPr>
            <a:r>
              <a:rPr lang="en-US" sz="1800" b="1" dirty="0">
                <a:solidFill>
                  <a:srgbClr val="000000"/>
                </a:solidFill>
                <a:effectLst/>
                <a:latin typeface="Times New Roman" panose="02020603050405020304" pitchFamily="18" charset="0"/>
                <a:ea typeface="Times New Roman" panose="02020603050405020304" pitchFamily="18" charset="0"/>
              </a:rPr>
              <a:t>Umar Iqbal</a:t>
            </a:r>
            <a:endParaRPr lang="en-PK" sz="1800" dirty="0">
              <a:solidFill>
                <a:srgbClr val="000000"/>
              </a:solidFill>
              <a:effectLst/>
              <a:latin typeface="Times New Roman" panose="02020603050405020304" pitchFamily="18" charset="0"/>
              <a:ea typeface="Times New Roman" panose="02020603050405020304" pitchFamily="18" charset="0"/>
            </a:endParaRPr>
          </a:p>
          <a:p>
            <a:pPr marL="150495" marR="8890" indent="-4445" algn="ctr">
              <a:lnSpc>
                <a:spcPct val="115000"/>
              </a:lnSpc>
              <a:spcBef>
                <a:spcPts val="600"/>
              </a:spcBef>
              <a:spcAft>
                <a:spcPts val="5"/>
              </a:spcAft>
            </a:pPr>
            <a:r>
              <a:rPr lang="en-US" sz="1800" b="1" dirty="0" err="1">
                <a:solidFill>
                  <a:srgbClr val="000000"/>
                </a:solidFill>
                <a:effectLst/>
                <a:latin typeface="Times New Roman" panose="02020603050405020304" pitchFamily="18" charset="0"/>
                <a:ea typeface="Times New Roman" panose="02020603050405020304" pitchFamily="18" charset="0"/>
              </a:rPr>
              <a:t>Soban</a:t>
            </a:r>
            <a:r>
              <a:rPr lang="en-US" sz="1800" b="1" dirty="0">
                <a:solidFill>
                  <a:srgbClr val="000000"/>
                </a:solidFill>
                <a:effectLst/>
                <a:latin typeface="Times New Roman" panose="02020603050405020304" pitchFamily="18" charset="0"/>
                <a:ea typeface="Times New Roman" panose="02020603050405020304" pitchFamily="18" charset="0"/>
              </a:rPr>
              <a:t> Nazir</a:t>
            </a:r>
            <a:endParaRPr lang="en-PK" sz="1800" dirty="0">
              <a:solidFill>
                <a:srgbClr val="000000"/>
              </a:solidFill>
              <a:effectLst/>
              <a:latin typeface="Times New Roman" panose="02020603050405020304" pitchFamily="18" charset="0"/>
              <a:ea typeface="Times New Roman" panose="02020603050405020304" pitchFamily="18" charset="0"/>
            </a:endParaRPr>
          </a:p>
          <a:p>
            <a:pPr marL="150495" marR="8890" indent="-4445" algn="ctr">
              <a:lnSpc>
                <a:spcPct val="115000"/>
              </a:lnSpc>
              <a:spcBef>
                <a:spcPts val="600"/>
              </a:spcBef>
              <a:spcAft>
                <a:spcPts val="5"/>
              </a:spcAf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PK" sz="1800" dirty="0">
              <a:solidFill>
                <a:srgbClr val="000000"/>
              </a:solidFill>
              <a:effectLst/>
              <a:latin typeface="Times New Roman" panose="02020603050405020304" pitchFamily="18" charset="0"/>
              <a:ea typeface="Times New Roman" panose="02020603050405020304" pitchFamily="18" charset="0"/>
            </a:endParaRPr>
          </a:p>
          <a:p>
            <a:pPr marL="214630" indent="-4445" algn="ctr">
              <a:lnSpc>
                <a:spcPct val="107000"/>
              </a:lnSpc>
              <a:spcBef>
                <a:spcPts val="600"/>
              </a:spcBef>
              <a:spcAft>
                <a:spcPts val="845"/>
              </a:spcAft>
            </a:pPr>
            <a:r>
              <a:rPr lang="en-US" sz="1800" i="1" dirty="0">
                <a:solidFill>
                  <a:srgbClr val="000000"/>
                </a:solidFill>
                <a:effectLst/>
                <a:latin typeface="Times New Roman" panose="02020603050405020304" pitchFamily="18" charset="0"/>
                <a:ea typeface="Times New Roman" panose="02020603050405020304" pitchFamily="18" charset="0"/>
              </a:rPr>
              <a:t> </a:t>
            </a:r>
            <a:endParaRPr lang="en-PK" sz="1800" dirty="0">
              <a:solidFill>
                <a:srgbClr val="000000"/>
              </a:solidFill>
              <a:effectLst/>
              <a:latin typeface="Times New Roman" panose="02020603050405020304" pitchFamily="18" charset="0"/>
              <a:ea typeface="Times New Roman" panose="02020603050405020304" pitchFamily="18" charset="0"/>
            </a:endParaRPr>
          </a:p>
          <a:p>
            <a:pPr marL="214630" indent="-4445" algn="ctr">
              <a:lnSpc>
                <a:spcPct val="107000"/>
              </a:lnSpc>
              <a:spcBef>
                <a:spcPts val="600"/>
              </a:spcBef>
              <a:spcAft>
                <a:spcPts val="845"/>
              </a:spcAft>
            </a:pPr>
            <a:r>
              <a:rPr lang="en-US" sz="1800" i="1" dirty="0">
                <a:solidFill>
                  <a:srgbClr val="000000"/>
                </a:solidFill>
                <a:effectLst/>
                <a:latin typeface="Times New Roman" panose="02020603050405020304" pitchFamily="18" charset="0"/>
                <a:ea typeface="Times New Roman" panose="02020603050405020304" pitchFamily="18" charset="0"/>
              </a:rPr>
              <a:t>Supervised By</a:t>
            </a:r>
            <a:r>
              <a:rPr lang="en-US" sz="1800" dirty="0">
                <a:solidFill>
                  <a:srgbClr val="000000"/>
                </a:solidFill>
                <a:effectLst/>
                <a:latin typeface="Times New Roman" panose="02020603050405020304" pitchFamily="18" charset="0"/>
                <a:ea typeface="Times New Roman" panose="02020603050405020304" pitchFamily="18" charset="0"/>
              </a:rPr>
              <a:t> </a:t>
            </a:r>
            <a:endParaRPr lang="en-PK" sz="1800" dirty="0">
              <a:solidFill>
                <a:srgbClr val="000000"/>
              </a:solidFill>
              <a:effectLst/>
              <a:latin typeface="Times New Roman" panose="02020603050405020304" pitchFamily="18" charset="0"/>
              <a:ea typeface="Times New Roman" panose="02020603050405020304" pitchFamily="18" charset="0"/>
            </a:endParaRPr>
          </a:p>
          <a:p>
            <a:pPr marL="4445" indent="-4445" algn="ctr">
              <a:lnSpc>
                <a:spcPct val="107000"/>
              </a:lnSpc>
              <a:spcBef>
                <a:spcPts val="600"/>
              </a:spcBef>
              <a:spcAft>
                <a:spcPts val="585"/>
              </a:spcAft>
            </a:pPr>
            <a:r>
              <a:rPr lang="en-US" sz="1800" b="1" dirty="0">
                <a:solidFill>
                  <a:srgbClr val="000000"/>
                </a:solidFill>
                <a:effectLst/>
                <a:latin typeface="Times New Roman" panose="02020603050405020304" pitchFamily="18" charset="0"/>
                <a:ea typeface="Times New Roman" panose="02020603050405020304" pitchFamily="18" charset="0"/>
              </a:rPr>
              <a:t>Engr. Muhammad Umer Haroon</a:t>
            </a:r>
            <a:endParaRPr lang="en-PK" sz="1800" dirty="0">
              <a:solidFill>
                <a:srgbClr val="000000"/>
              </a:solidFill>
              <a:effectLst/>
              <a:latin typeface="Times New Roman" panose="02020603050405020304" pitchFamily="18" charset="0"/>
              <a:ea typeface="Times New Roman" panose="02020603050405020304" pitchFamily="18" charset="0"/>
            </a:endParaRPr>
          </a:p>
          <a:p>
            <a:pPr marL="4445" indent="-4445" algn="ctr">
              <a:lnSpc>
                <a:spcPct val="115000"/>
              </a:lnSpc>
              <a:spcBef>
                <a:spcPts val="600"/>
              </a:spcBef>
              <a:spcAft>
                <a:spcPts val="615"/>
              </a:spcAft>
            </a:pPr>
            <a:endParaRPr lang="en-PK" sz="12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51717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9AD83-495F-867C-CDD2-7D895FCDB553}"/>
              </a:ext>
            </a:extLst>
          </p:cNvPr>
          <p:cNvSpPr>
            <a:spLocks noGrp="1"/>
          </p:cNvSpPr>
          <p:nvPr>
            <p:ph type="title"/>
          </p:nvPr>
        </p:nvSpPr>
        <p:spPr/>
        <p:txBody>
          <a:bodyPr/>
          <a:lstStyle/>
          <a:p>
            <a:r>
              <a:rPr lang="en-US" dirty="0"/>
              <a:t>Mapping of Test Case with Use Case</a:t>
            </a:r>
            <a:endParaRPr lang="en-PK" dirty="0"/>
          </a:p>
        </p:txBody>
      </p:sp>
      <p:sp>
        <p:nvSpPr>
          <p:cNvPr id="3" name="Content Placeholder 2">
            <a:extLst>
              <a:ext uri="{FF2B5EF4-FFF2-40B4-BE49-F238E27FC236}">
                <a16:creationId xmlns:a16="http://schemas.microsoft.com/office/drawing/2014/main" id="{A081BD69-1BAD-CADC-3329-216DC35D449C}"/>
              </a:ext>
            </a:extLst>
          </p:cNvPr>
          <p:cNvSpPr>
            <a:spLocks noGrp="1"/>
          </p:cNvSpPr>
          <p:nvPr>
            <p:ph idx="1"/>
          </p:nvPr>
        </p:nvSpPr>
        <p:spPr/>
        <p:txBody>
          <a:bodyPr/>
          <a:lstStyle/>
          <a:p>
            <a:r>
              <a:rPr lang="en-PK" sz="1800" b="1" kern="100" dirty="0">
                <a:effectLst/>
                <a:latin typeface="Calibri" panose="020F0502020204030204" pitchFamily="34" charset="0"/>
                <a:ea typeface="Calibri" panose="020F0502020204030204" pitchFamily="34" charset="0"/>
                <a:cs typeface="Times New Roman" panose="02020603050405020304" pitchFamily="18" charset="0"/>
              </a:rPr>
              <a:t>Use cases</a:t>
            </a:r>
            <a:r>
              <a:rPr lang="en-PK" sz="1800" kern="100" dirty="0">
                <a:effectLst/>
                <a:latin typeface="Calibri" panose="020F0502020204030204" pitchFamily="34" charset="0"/>
                <a:ea typeface="Calibri" panose="020F0502020204030204" pitchFamily="34" charset="0"/>
                <a:cs typeface="Times New Roman" panose="02020603050405020304" pitchFamily="18" charset="0"/>
              </a:rPr>
              <a:t> describe how users interact with the system to achieve specific goals. Mapping test cases to use cases ensures that all user interactions are thoroughly tested.</a:t>
            </a:r>
          </a:p>
          <a:p>
            <a:endParaRPr lang="en-PK" dirty="0"/>
          </a:p>
        </p:txBody>
      </p:sp>
      <p:sp>
        <p:nvSpPr>
          <p:cNvPr id="4" name="Footer Placeholder 3">
            <a:extLst>
              <a:ext uri="{FF2B5EF4-FFF2-40B4-BE49-F238E27FC236}">
                <a16:creationId xmlns:a16="http://schemas.microsoft.com/office/drawing/2014/main" id="{EA859461-83FA-979B-3BB4-97A748041639}"/>
              </a:ext>
            </a:extLst>
          </p:cNvPr>
          <p:cNvSpPr>
            <a:spLocks noGrp="1"/>
          </p:cNvSpPr>
          <p:nvPr>
            <p:ph type="ftr" sz="quarter" idx="11"/>
          </p:nvPr>
        </p:nvSpPr>
        <p:spPr/>
        <p:txBody>
          <a:bodyPr/>
          <a:lstStyle/>
          <a:p>
            <a:r>
              <a:rPr lang="en-US"/>
              <a:t>Engr.Muhammad Umer Haroon</a:t>
            </a:r>
            <a:endParaRPr lang="en-PK"/>
          </a:p>
        </p:txBody>
      </p:sp>
    </p:spTree>
    <p:extLst>
      <p:ext uri="{BB962C8B-B14F-4D97-AF65-F5344CB8AC3E}">
        <p14:creationId xmlns:p14="http://schemas.microsoft.com/office/powerpoint/2010/main" val="3681302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TotalTime>
  <Words>1809</Words>
  <Application>Microsoft Office PowerPoint</Application>
  <PresentationFormat>Widescreen</PresentationFormat>
  <Paragraphs>216</Paragraphs>
  <Slides>21</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ABeeZee</vt:lpstr>
      <vt:lpstr>ABeeZee Bold</vt:lpstr>
      <vt:lpstr>Arial</vt:lpstr>
      <vt:lpstr>Calibri</vt:lpstr>
      <vt:lpstr>Calibri Light</vt:lpstr>
      <vt:lpstr>Dubai Medium</vt:lpstr>
      <vt:lpstr>Quattrocento Sans</vt:lpstr>
      <vt:lpstr>Symbol</vt:lpstr>
      <vt:lpstr>Times New Roman</vt:lpstr>
      <vt:lpstr>Wedges</vt:lpstr>
      <vt:lpstr>Office Theme</vt:lpstr>
      <vt:lpstr>PowerPoint Presentation</vt:lpstr>
      <vt:lpstr>PowerPoint Presentation</vt:lpstr>
      <vt:lpstr>PowerPoint Presentation</vt:lpstr>
      <vt:lpstr>Testing </vt:lpstr>
      <vt:lpstr>Who does Testing? </vt:lpstr>
      <vt:lpstr>When to Start Testing? </vt:lpstr>
      <vt:lpstr>When to Stop Testing? </vt:lpstr>
      <vt:lpstr>PowerPoint Presentation</vt:lpstr>
      <vt:lpstr>PowerPoint Presentation</vt:lpstr>
      <vt:lpstr>PowerPoint Presentation</vt:lpstr>
      <vt:lpstr>Types of black box testing </vt:lpstr>
      <vt:lpstr>PowerPoint Presentation</vt:lpstr>
      <vt:lpstr>PowerPoint Presentation</vt:lpstr>
      <vt:lpstr>PowerPoint Presentation</vt:lpstr>
      <vt:lpstr>PowerPoint Presentation</vt:lpstr>
      <vt:lpstr>PowerPoint Presentation</vt:lpstr>
      <vt:lpstr>PowerPoint Presentation</vt:lpstr>
      <vt:lpstr>Test Case</vt:lpstr>
      <vt:lpstr>Components of a Test Case</vt:lpstr>
      <vt:lpstr>Example , steps missing</vt:lpstr>
      <vt:lpstr>Mapping of Test Case with Use Case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omar haroon</dc:creator>
  <cp:lastModifiedBy>Engr .M Umer Haroon .</cp:lastModifiedBy>
  <cp:revision>23</cp:revision>
  <dcterms:created xsi:type="dcterms:W3CDTF">2025-03-27T05:39:15Z</dcterms:created>
  <dcterms:modified xsi:type="dcterms:W3CDTF">2025-10-19T17:37:48Z</dcterms:modified>
</cp:coreProperties>
</file>