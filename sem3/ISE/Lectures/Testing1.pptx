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77" r:id="rId3"/>
    <p:sldId id="278" r:id="rId4"/>
    <p:sldId id="279" r:id="rId5"/>
    <p:sldId id="280" r:id="rId6"/>
    <p:sldId id="281" r:id="rId7"/>
    <p:sldId id="282" r:id="rId8"/>
    <p:sldId id="283" r:id="rId9"/>
    <p:sldId id="284" r:id="rId10"/>
    <p:sldId id="285" r:id="rId11"/>
    <p:sldId id="286" r:id="rId12"/>
    <p:sldId id="262" r:id="rId13"/>
    <p:sldId id="263" r:id="rId14"/>
    <p:sldId id="264" r:id="rId15"/>
    <p:sldId id="265" r:id="rId16"/>
    <p:sldId id="267" r:id="rId17"/>
    <p:sldId id="268" r:id="rId18"/>
    <p:sldId id="269" r:id="rId19"/>
    <p:sldId id="287" r:id="rId20"/>
    <p:sldId id="292" r:id="rId21"/>
    <p:sldId id="293" r:id="rId22"/>
    <p:sldId id="294" r:id="rId23"/>
    <p:sldId id="295" r:id="rId24"/>
    <p:sldId id="296" r:id="rId25"/>
    <p:sldId id="297" r:id="rId26"/>
    <p:sldId id="305" r:id="rId27"/>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1AE8DF-B9CE-45FF-AB0F-E74C84166F83}" type="datetimeFigureOut">
              <a:rPr lang="en-PK" smtClean="0"/>
              <a:t>28/03/2025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FA898-F769-486F-8C75-4154CCA15DB6}" type="slidenum">
              <a:rPr lang="en-PK" smtClean="0"/>
              <a:t>‹#›</a:t>
            </a:fld>
            <a:endParaRPr lang="en-PK"/>
          </a:p>
        </p:txBody>
      </p:sp>
    </p:spTree>
    <p:extLst>
      <p:ext uri="{BB962C8B-B14F-4D97-AF65-F5344CB8AC3E}">
        <p14:creationId xmlns:p14="http://schemas.microsoft.com/office/powerpoint/2010/main" val="2769544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8" name="Google Shape;38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5" name="Google Shape;10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D1D5DB"/>
              </a:buClr>
              <a:buSzPts val="1800"/>
              <a:buFont typeface="Arial"/>
              <a:buNone/>
            </a:pPr>
            <a:r>
              <a:rPr lang="en-US">
                <a:solidFill>
                  <a:srgbClr val="D1D5DB"/>
                </a:solidFill>
                <a:latin typeface="Arial"/>
                <a:ea typeface="Arial"/>
                <a:cs typeface="Arial"/>
                <a:sym typeface="Arial"/>
              </a:rPr>
              <a:t>User Acceptance Testing (UAT), involves testing the software from a user's perspective or by end users.</a:t>
            </a:r>
            <a:endParaRPr/>
          </a:p>
        </p:txBody>
      </p:sp>
      <p:sp>
        <p:nvSpPr>
          <p:cNvPr id="106" name="Google Shape;106;p4: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2" name="Google Shape;11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Times New Roman"/>
              <a:buNone/>
            </a:pPr>
            <a:r>
              <a:rPr lang="en-US">
                <a:solidFill>
                  <a:srgbClr val="000000"/>
                </a:solidFill>
                <a:latin typeface="Times New Roman"/>
                <a:ea typeface="Times New Roman"/>
                <a:cs typeface="Times New Roman"/>
                <a:sym typeface="Times New Roman"/>
              </a:rPr>
              <a:t>An early start to testing reduces the cost and time to rework and produce error-free software that is delivered to the client. However in Software Development Life Cycle (SDLC), testing can be started from the Requirements Gathering phase and continued till the deployment of the software. It also depends on the development model that is being used. For example, in the Waterfall model, formal testing is conducted in the testing phase; but in the incremental model, testing is performed at the end of every increment/iteration and the whole application is tested at the end.</a:t>
            </a:r>
            <a:endParaRPr/>
          </a:p>
          <a:p>
            <a:pPr marL="0" lvl="0" indent="0" algn="l" rtl="0">
              <a:spcBef>
                <a:spcPts val="0"/>
              </a:spcBef>
              <a:spcAft>
                <a:spcPts val="0"/>
              </a:spcAft>
              <a:buNone/>
            </a:pPr>
            <a:endParaRPr>
              <a:solidFill>
                <a:srgbClr val="000000"/>
              </a:solidFill>
              <a:latin typeface="Times New Roman"/>
              <a:ea typeface="Times New Roman"/>
              <a:cs typeface="Times New Roman"/>
              <a:sym typeface="Times New Roman"/>
            </a:endParaRPr>
          </a:p>
        </p:txBody>
      </p:sp>
      <p:sp>
        <p:nvSpPr>
          <p:cNvPr id="113" name="Google Shape;113;p5: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dirty="0">
                <a:effectLst/>
                <a:latin typeface="fkGroteskNeue"/>
              </a:rPr>
              <a:t>Testing can be considered a preventive approach in quality control when it is integrated into the early stages of the production or development process.</a:t>
            </a:r>
          </a:p>
          <a:p>
            <a:pPr marL="0" lvl="0" indent="0" algn="l" rtl="0">
              <a:spcBef>
                <a:spcPts val="0"/>
              </a:spcBef>
              <a:spcAft>
                <a:spcPts val="0"/>
              </a:spcAft>
              <a:buNone/>
            </a:pPr>
            <a:r>
              <a:rPr lang="en-US" b="0" i="0" dirty="0">
                <a:effectLst/>
                <a:latin typeface="fkGroteskNeue"/>
              </a:rPr>
              <a:t>By testing early in the process, potential defects or issues can be identified before they become major problems. This allows for corrective actions to be taken promptly, preventing further complications down the line</a:t>
            </a:r>
          </a:p>
          <a:p>
            <a:pPr marL="0" lvl="0" indent="0" algn="l" rtl="0">
              <a:spcBef>
                <a:spcPts val="0"/>
              </a:spcBef>
              <a:spcAft>
                <a:spcPts val="0"/>
              </a:spcAft>
              <a:buNone/>
            </a:pPr>
            <a:endParaRPr dirty="0"/>
          </a:p>
        </p:txBody>
      </p:sp>
      <p:sp>
        <p:nvSpPr>
          <p:cNvPr id="233" name="Google Shape;23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06B3C-8D61-E766-2B98-985552E24B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7B5D7FBC-0AF2-1F67-BE54-C6FE2A0C3C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A565ABE4-F35D-C786-09ED-541FC8508F92}"/>
              </a:ext>
            </a:extLst>
          </p:cNvPr>
          <p:cNvSpPr>
            <a:spLocks noGrp="1"/>
          </p:cNvSpPr>
          <p:nvPr>
            <p:ph type="dt" sz="half" idx="10"/>
          </p:nvPr>
        </p:nvSpPr>
        <p:spPr/>
        <p:txBody>
          <a:bodyPr/>
          <a:lstStyle/>
          <a:p>
            <a:fld id="{60904D7F-BD4F-4E8D-8DF0-6C9A1BE50015}" type="datetimeFigureOut">
              <a:rPr lang="en-PK" smtClean="0"/>
              <a:t>28/03/2025</a:t>
            </a:fld>
            <a:endParaRPr lang="en-PK"/>
          </a:p>
        </p:txBody>
      </p:sp>
      <p:sp>
        <p:nvSpPr>
          <p:cNvPr id="5" name="Footer Placeholder 4">
            <a:extLst>
              <a:ext uri="{FF2B5EF4-FFF2-40B4-BE49-F238E27FC236}">
                <a16:creationId xmlns:a16="http://schemas.microsoft.com/office/drawing/2014/main" id="{05392DC5-D717-F533-7404-1D25ECE2D9B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771CAB2-B764-0907-8075-537EC7C50F2F}"/>
              </a:ext>
            </a:extLst>
          </p:cNvPr>
          <p:cNvSpPr>
            <a:spLocks noGrp="1"/>
          </p:cNvSpPr>
          <p:nvPr>
            <p:ph type="sldNum" sz="quarter" idx="12"/>
          </p:nvPr>
        </p:nvSpPr>
        <p:spPr/>
        <p:txBody>
          <a:bodyPr/>
          <a:lstStyle/>
          <a:p>
            <a:fld id="{433C31D5-B7B2-4B95-8803-E8EEC07E4B9A}" type="slidenum">
              <a:rPr lang="en-PK" smtClean="0"/>
              <a:t>‹#›</a:t>
            </a:fld>
            <a:endParaRPr lang="en-PK"/>
          </a:p>
        </p:txBody>
      </p:sp>
    </p:spTree>
    <p:extLst>
      <p:ext uri="{BB962C8B-B14F-4D97-AF65-F5344CB8AC3E}">
        <p14:creationId xmlns:p14="http://schemas.microsoft.com/office/powerpoint/2010/main" val="936820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B093A-0A6B-0A18-2372-EF931A440E4F}"/>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612AE65C-80B5-A9BD-3292-85BD902320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C1563FB-8746-C12B-6E31-3B3104F7615A}"/>
              </a:ext>
            </a:extLst>
          </p:cNvPr>
          <p:cNvSpPr>
            <a:spLocks noGrp="1"/>
          </p:cNvSpPr>
          <p:nvPr>
            <p:ph type="dt" sz="half" idx="10"/>
          </p:nvPr>
        </p:nvSpPr>
        <p:spPr/>
        <p:txBody>
          <a:bodyPr/>
          <a:lstStyle/>
          <a:p>
            <a:fld id="{60904D7F-BD4F-4E8D-8DF0-6C9A1BE50015}" type="datetimeFigureOut">
              <a:rPr lang="en-PK" smtClean="0"/>
              <a:t>28/03/2025</a:t>
            </a:fld>
            <a:endParaRPr lang="en-PK"/>
          </a:p>
        </p:txBody>
      </p:sp>
      <p:sp>
        <p:nvSpPr>
          <p:cNvPr id="5" name="Footer Placeholder 4">
            <a:extLst>
              <a:ext uri="{FF2B5EF4-FFF2-40B4-BE49-F238E27FC236}">
                <a16:creationId xmlns:a16="http://schemas.microsoft.com/office/drawing/2014/main" id="{38CB5BFB-0E3C-2369-D6AA-DB5B441251F6}"/>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8FA0B1D-021C-47B8-92D7-4FF11E6F0CB3}"/>
              </a:ext>
            </a:extLst>
          </p:cNvPr>
          <p:cNvSpPr>
            <a:spLocks noGrp="1"/>
          </p:cNvSpPr>
          <p:nvPr>
            <p:ph type="sldNum" sz="quarter" idx="12"/>
          </p:nvPr>
        </p:nvSpPr>
        <p:spPr/>
        <p:txBody>
          <a:bodyPr/>
          <a:lstStyle/>
          <a:p>
            <a:fld id="{433C31D5-B7B2-4B95-8803-E8EEC07E4B9A}" type="slidenum">
              <a:rPr lang="en-PK" smtClean="0"/>
              <a:t>‹#›</a:t>
            </a:fld>
            <a:endParaRPr lang="en-PK"/>
          </a:p>
        </p:txBody>
      </p:sp>
    </p:spTree>
    <p:extLst>
      <p:ext uri="{BB962C8B-B14F-4D97-AF65-F5344CB8AC3E}">
        <p14:creationId xmlns:p14="http://schemas.microsoft.com/office/powerpoint/2010/main" val="3781247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00020-CF65-43BA-59AA-539536D1E2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5364E52-898B-6317-E7D9-C85886E029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8BB1D9-1925-1865-F7BB-B229C827A443}"/>
              </a:ext>
            </a:extLst>
          </p:cNvPr>
          <p:cNvSpPr>
            <a:spLocks noGrp="1"/>
          </p:cNvSpPr>
          <p:nvPr>
            <p:ph type="dt" sz="half" idx="10"/>
          </p:nvPr>
        </p:nvSpPr>
        <p:spPr/>
        <p:txBody>
          <a:bodyPr/>
          <a:lstStyle/>
          <a:p>
            <a:fld id="{60904D7F-BD4F-4E8D-8DF0-6C9A1BE50015}" type="datetimeFigureOut">
              <a:rPr lang="en-PK" smtClean="0"/>
              <a:t>28/03/2025</a:t>
            </a:fld>
            <a:endParaRPr lang="en-PK"/>
          </a:p>
        </p:txBody>
      </p:sp>
      <p:sp>
        <p:nvSpPr>
          <p:cNvPr id="5" name="Footer Placeholder 4">
            <a:extLst>
              <a:ext uri="{FF2B5EF4-FFF2-40B4-BE49-F238E27FC236}">
                <a16:creationId xmlns:a16="http://schemas.microsoft.com/office/drawing/2014/main" id="{A788ED39-D23F-D1B0-28D9-9A91F0D078B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3D1C28D-4802-4B73-A088-63D927CE0A9F}"/>
              </a:ext>
            </a:extLst>
          </p:cNvPr>
          <p:cNvSpPr>
            <a:spLocks noGrp="1"/>
          </p:cNvSpPr>
          <p:nvPr>
            <p:ph type="sldNum" sz="quarter" idx="12"/>
          </p:nvPr>
        </p:nvSpPr>
        <p:spPr/>
        <p:txBody>
          <a:bodyPr/>
          <a:lstStyle/>
          <a:p>
            <a:fld id="{433C31D5-B7B2-4B95-8803-E8EEC07E4B9A}" type="slidenum">
              <a:rPr lang="en-PK" smtClean="0"/>
              <a:t>‹#›</a:t>
            </a:fld>
            <a:endParaRPr lang="en-PK"/>
          </a:p>
        </p:txBody>
      </p:sp>
    </p:spTree>
    <p:extLst>
      <p:ext uri="{BB962C8B-B14F-4D97-AF65-F5344CB8AC3E}">
        <p14:creationId xmlns:p14="http://schemas.microsoft.com/office/powerpoint/2010/main" val="1952815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85716-7982-F97D-89DF-17C1705146AF}"/>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384A11D-378C-5F01-C3DF-4FBD33D076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2344C257-71A1-3A55-7495-A1EE8F2D33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E32352E4-684E-4853-6A5E-684F1B720EAC}"/>
              </a:ext>
            </a:extLst>
          </p:cNvPr>
          <p:cNvSpPr>
            <a:spLocks noGrp="1"/>
          </p:cNvSpPr>
          <p:nvPr>
            <p:ph type="dt" sz="half" idx="10"/>
          </p:nvPr>
        </p:nvSpPr>
        <p:spPr/>
        <p:txBody>
          <a:bodyPr/>
          <a:lstStyle/>
          <a:p>
            <a:fld id="{60904D7F-BD4F-4E8D-8DF0-6C9A1BE50015}" type="datetimeFigureOut">
              <a:rPr lang="en-PK" smtClean="0"/>
              <a:t>28/03/2025</a:t>
            </a:fld>
            <a:endParaRPr lang="en-PK"/>
          </a:p>
        </p:txBody>
      </p:sp>
      <p:sp>
        <p:nvSpPr>
          <p:cNvPr id="6" name="Footer Placeholder 5">
            <a:extLst>
              <a:ext uri="{FF2B5EF4-FFF2-40B4-BE49-F238E27FC236}">
                <a16:creationId xmlns:a16="http://schemas.microsoft.com/office/drawing/2014/main" id="{6F73AED1-8F6C-DC7E-B666-DEE66B58005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4840623-4E7A-7D0F-ABD3-EDA18FB4D54D}"/>
              </a:ext>
            </a:extLst>
          </p:cNvPr>
          <p:cNvSpPr>
            <a:spLocks noGrp="1"/>
          </p:cNvSpPr>
          <p:nvPr>
            <p:ph type="sldNum" sz="quarter" idx="12"/>
          </p:nvPr>
        </p:nvSpPr>
        <p:spPr/>
        <p:txBody>
          <a:bodyPr/>
          <a:lstStyle/>
          <a:p>
            <a:fld id="{433C31D5-B7B2-4B95-8803-E8EEC07E4B9A}" type="slidenum">
              <a:rPr lang="en-PK" smtClean="0"/>
              <a:t>‹#›</a:t>
            </a:fld>
            <a:endParaRPr lang="en-PK"/>
          </a:p>
        </p:txBody>
      </p:sp>
    </p:spTree>
    <p:extLst>
      <p:ext uri="{BB962C8B-B14F-4D97-AF65-F5344CB8AC3E}">
        <p14:creationId xmlns:p14="http://schemas.microsoft.com/office/powerpoint/2010/main" val="3761630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C8F9-6576-A667-780F-EC90126A6A2E}"/>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5FE48193-38EF-0496-A966-E86767F9E8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F96070-6A74-AA8C-F701-7D9D8B1BE6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8B5838C6-34A0-D589-744F-D1752F8AF2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8E10AD-7B00-B8FB-AB73-D0E7457D83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9708FE7D-8CEE-4187-446A-63F90218A077}"/>
              </a:ext>
            </a:extLst>
          </p:cNvPr>
          <p:cNvSpPr>
            <a:spLocks noGrp="1"/>
          </p:cNvSpPr>
          <p:nvPr>
            <p:ph type="dt" sz="half" idx="10"/>
          </p:nvPr>
        </p:nvSpPr>
        <p:spPr/>
        <p:txBody>
          <a:bodyPr/>
          <a:lstStyle/>
          <a:p>
            <a:fld id="{60904D7F-BD4F-4E8D-8DF0-6C9A1BE50015}" type="datetimeFigureOut">
              <a:rPr lang="en-PK" smtClean="0"/>
              <a:t>28/03/2025</a:t>
            </a:fld>
            <a:endParaRPr lang="en-PK"/>
          </a:p>
        </p:txBody>
      </p:sp>
      <p:sp>
        <p:nvSpPr>
          <p:cNvPr id="8" name="Footer Placeholder 7">
            <a:extLst>
              <a:ext uri="{FF2B5EF4-FFF2-40B4-BE49-F238E27FC236}">
                <a16:creationId xmlns:a16="http://schemas.microsoft.com/office/drawing/2014/main" id="{076A48C1-4235-C089-A7A9-BCF801EEE6F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5D7A1320-732F-F959-4B7E-11FACC8E3F52}"/>
              </a:ext>
            </a:extLst>
          </p:cNvPr>
          <p:cNvSpPr>
            <a:spLocks noGrp="1"/>
          </p:cNvSpPr>
          <p:nvPr>
            <p:ph type="sldNum" sz="quarter" idx="12"/>
          </p:nvPr>
        </p:nvSpPr>
        <p:spPr/>
        <p:txBody>
          <a:bodyPr/>
          <a:lstStyle/>
          <a:p>
            <a:fld id="{433C31D5-B7B2-4B95-8803-E8EEC07E4B9A}" type="slidenum">
              <a:rPr lang="en-PK" smtClean="0"/>
              <a:t>‹#›</a:t>
            </a:fld>
            <a:endParaRPr lang="en-PK"/>
          </a:p>
        </p:txBody>
      </p:sp>
    </p:spTree>
    <p:extLst>
      <p:ext uri="{BB962C8B-B14F-4D97-AF65-F5344CB8AC3E}">
        <p14:creationId xmlns:p14="http://schemas.microsoft.com/office/powerpoint/2010/main" val="3826491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F103A-704B-81FD-F2D3-6D0A07029AC7}"/>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6719FAB8-9B0E-FAD7-F945-D0B0004F2E8B}"/>
              </a:ext>
            </a:extLst>
          </p:cNvPr>
          <p:cNvSpPr>
            <a:spLocks noGrp="1"/>
          </p:cNvSpPr>
          <p:nvPr>
            <p:ph type="dt" sz="half" idx="10"/>
          </p:nvPr>
        </p:nvSpPr>
        <p:spPr/>
        <p:txBody>
          <a:bodyPr/>
          <a:lstStyle/>
          <a:p>
            <a:fld id="{60904D7F-BD4F-4E8D-8DF0-6C9A1BE50015}" type="datetimeFigureOut">
              <a:rPr lang="en-PK" smtClean="0"/>
              <a:t>28/03/2025</a:t>
            </a:fld>
            <a:endParaRPr lang="en-PK"/>
          </a:p>
        </p:txBody>
      </p:sp>
      <p:sp>
        <p:nvSpPr>
          <p:cNvPr id="4" name="Footer Placeholder 3">
            <a:extLst>
              <a:ext uri="{FF2B5EF4-FFF2-40B4-BE49-F238E27FC236}">
                <a16:creationId xmlns:a16="http://schemas.microsoft.com/office/drawing/2014/main" id="{533EE96F-ED10-1C75-F5FD-74EEBB4F05A1}"/>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5CB27C63-89E3-A350-448E-FD163C4459BA}"/>
              </a:ext>
            </a:extLst>
          </p:cNvPr>
          <p:cNvSpPr>
            <a:spLocks noGrp="1"/>
          </p:cNvSpPr>
          <p:nvPr>
            <p:ph type="sldNum" sz="quarter" idx="12"/>
          </p:nvPr>
        </p:nvSpPr>
        <p:spPr/>
        <p:txBody>
          <a:bodyPr/>
          <a:lstStyle/>
          <a:p>
            <a:fld id="{433C31D5-B7B2-4B95-8803-E8EEC07E4B9A}" type="slidenum">
              <a:rPr lang="en-PK" smtClean="0"/>
              <a:t>‹#›</a:t>
            </a:fld>
            <a:endParaRPr lang="en-PK"/>
          </a:p>
        </p:txBody>
      </p:sp>
    </p:spTree>
    <p:extLst>
      <p:ext uri="{BB962C8B-B14F-4D97-AF65-F5344CB8AC3E}">
        <p14:creationId xmlns:p14="http://schemas.microsoft.com/office/powerpoint/2010/main" val="30296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6A0B31-CA4B-E984-44FD-559F829E598F}"/>
              </a:ext>
            </a:extLst>
          </p:cNvPr>
          <p:cNvSpPr>
            <a:spLocks noGrp="1"/>
          </p:cNvSpPr>
          <p:nvPr>
            <p:ph type="dt" sz="half" idx="10"/>
          </p:nvPr>
        </p:nvSpPr>
        <p:spPr/>
        <p:txBody>
          <a:bodyPr/>
          <a:lstStyle/>
          <a:p>
            <a:fld id="{60904D7F-BD4F-4E8D-8DF0-6C9A1BE50015}" type="datetimeFigureOut">
              <a:rPr lang="en-PK" smtClean="0"/>
              <a:t>28/03/2025</a:t>
            </a:fld>
            <a:endParaRPr lang="en-PK"/>
          </a:p>
        </p:txBody>
      </p:sp>
      <p:sp>
        <p:nvSpPr>
          <p:cNvPr id="3" name="Footer Placeholder 2">
            <a:extLst>
              <a:ext uri="{FF2B5EF4-FFF2-40B4-BE49-F238E27FC236}">
                <a16:creationId xmlns:a16="http://schemas.microsoft.com/office/drawing/2014/main" id="{D427ABF3-E852-BF28-9687-1EA21456289B}"/>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49B65E18-90D0-57B8-FBBD-85EFD6F503E3}"/>
              </a:ext>
            </a:extLst>
          </p:cNvPr>
          <p:cNvSpPr>
            <a:spLocks noGrp="1"/>
          </p:cNvSpPr>
          <p:nvPr>
            <p:ph type="sldNum" sz="quarter" idx="12"/>
          </p:nvPr>
        </p:nvSpPr>
        <p:spPr/>
        <p:txBody>
          <a:bodyPr/>
          <a:lstStyle/>
          <a:p>
            <a:fld id="{433C31D5-B7B2-4B95-8803-E8EEC07E4B9A}" type="slidenum">
              <a:rPr lang="en-PK" smtClean="0"/>
              <a:t>‹#›</a:t>
            </a:fld>
            <a:endParaRPr lang="en-PK"/>
          </a:p>
        </p:txBody>
      </p:sp>
    </p:spTree>
    <p:extLst>
      <p:ext uri="{BB962C8B-B14F-4D97-AF65-F5344CB8AC3E}">
        <p14:creationId xmlns:p14="http://schemas.microsoft.com/office/powerpoint/2010/main" val="3281058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4F7F8-28B9-1713-4305-036D06DDA8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A15292C-47B1-3D58-AB3C-83E99F06C0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0AB809F-3CD7-6B70-0BBA-77C6EB4703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5EACCD-95A2-D2C6-C86D-C6F62B772A04}"/>
              </a:ext>
            </a:extLst>
          </p:cNvPr>
          <p:cNvSpPr>
            <a:spLocks noGrp="1"/>
          </p:cNvSpPr>
          <p:nvPr>
            <p:ph type="dt" sz="half" idx="10"/>
          </p:nvPr>
        </p:nvSpPr>
        <p:spPr/>
        <p:txBody>
          <a:bodyPr/>
          <a:lstStyle/>
          <a:p>
            <a:fld id="{60904D7F-BD4F-4E8D-8DF0-6C9A1BE50015}" type="datetimeFigureOut">
              <a:rPr lang="en-PK" smtClean="0"/>
              <a:t>28/03/2025</a:t>
            </a:fld>
            <a:endParaRPr lang="en-PK"/>
          </a:p>
        </p:txBody>
      </p:sp>
      <p:sp>
        <p:nvSpPr>
          <p:cNvPr id="6" name="Footer Placeholder 5">
            <a:extLst>
              <a:ext uri="{FF2B5EF4-FFF2-40B4-BE49-F238E27FC236}">
                <a16:creationId xmlns:a16="http://schemas.microsoft.com/office/drawing/2014/main" id="{3FBAD470-F199-B668-9FE7-E0C560A08AD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5BE50680-0D89-2069-1B0C-BCC4FE9FDCFE}"/>
              </a:ext>
            </a:extLst>
          </p:cNvPr>
          <p:cNvSpPr>
            <a:spLocks noGrp="1"/>
          </p:cNvSpPr>
          <p:nvPr>
            <p:ph type="sldNum" sz="quarter" idx="12"/>
          </p:nvPr>
        </p:nvSpPr>
        <p:spPr/>
        <p:txBody>
          <a:bodyPr/>
          <a:lstStyle/>
          <a:p>
            <a:fld id="{433C31D5-B7B2-4B95-8803-E8EEC07E4B9A}" type="slidenum">
              <a:rPr lang="en-PK" smtClean="0"/>
              <a:t>‹#›</a:t>
            </a:fld>
            <a:endParaRPr lang="en-PK"/>
          </a:p>
        </p:txBody>
      </p:sp>
    </p:spTree>
    <p:extLst>
      <p:ext uri="{BB962C8B-B14F-4D97-AF65-F5344CB8AC3E}">
        <p14:creationId xmlns:p14="http://schemas.microsoft.com/office/powerpoint/2010/main" val="3846619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BC3E7-60EE-53D4-9F17-3462ABC1AE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18DC2876-703B-929D-8CCA-B2AEDF26F1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E963DC8F-9F94-F818-C3B6-526F84FDD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24E6F0-3230-C7E9-B47F-089B52F22CED}"/>
              </a:ext>
            </a:extLst>
          </p:cNvPr>
          <p:cNvSpPr>
            <a:spLocks noGrp="1"/>
          </p:cNvSpPr>
          <p:nvPr>
            <p:ph type="dt" sz="half" idx="10"/>
          </p:nvPr>
        </p:nvSpPr>
        <p:spPr/>
        <p:txBody>
          <a:bodyPr/>
          <a:lstStyle/>
          <a:p>
            <a:fld id="{60904D7F-BD4F-4E8D-8DF0-6C9A1BE50015}" type="datetimeFigureOut">
              <a:rPr lang="en-PK" smtClean="0"/>
              <a:t>28/03/2025</a:t>
            </a:fld>
            <a:endParaRPr lang="en-PK"/>
          </a:p>
        </p:txBody>
      </p:sp>
      <p:sp>
        <p:nvSpPr>
          <p:cNvPr id="6" name="Footer Placeholder 5">
            <a:extLst>
              <a:ext uri="{FF2B5EF4-FFF2-40B4-BE49-F238E27FC236}">
                <a16:creationId xmlns:a16="http://schemas.microsoft.com/office/drawing/2014/main" id="{C5AF698E-F5E8-C419-C1C1-E3DBF4625936}"/>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78C484C6-6BFF-8DAF-85D5-6575FCAC743D}"/>
              </a:ext>
            </a:extLst>
          </p:cNvPr>
          <p:cNvSpPr>
            <a:spLocks noGrp="1"/>
          </p:cNvSpPr>
          <p:nvPr>
            <p:ph type="sldNum" sz="quarter" idx="12"/>
          </p:nvPr>
        </p:nvSpPr>
        <p:spPr/>
        <p:txBody>
          <a:bodyPr/>
          <a:lstStyle/>
          <a:p>
            <a:fld id="{433C31D5-B7B2-4B95-8803-E8EEC07E4B9A}" type="slidenum">
              <a:rPr lang="en-PK" smtClean="0"/>
              <a:t>‹#›</a:t>
            </a:fld>
            <a:endParaRPr lang="en-PK"/>
          </a:p>
        </p:txBody>
      </p:sp>
    </p:spTree>
    <p:extLst>
      <p:ext uri="{BB962C8B-B14F-4D97-AF65-F5344CB8AC3E}">
        <p14:creationId xmlns:p14="http://schemas.microsoft.com/office/powerpoint/2010/main" val="3767864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51B2-C3B1-B9A9-31DF-98706FF05758}"/>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A9C11B0-695B-FF45-E944-5FCC5311D9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26B714F-7E76-463F-A70D-E4E1FEF3BFF6}"/>
              </a:ext>
            </a:extLst>
          </p:cNvPr>
          <p:cNvSpPr>
            <a:spLocks noGrp="1"/>
          </p:cNvSpPr>
          <p:nvPr>
            <p:ph type="dt" sz="half" idx="10"/>
          </p:nvPr>
        </p:nvSpPr>
        <p:spPr/>
        <p:txBody>
          <a:bodyPr/>
          <a:lstStyle/>
          <a:p>
            <a:fld id="{60904D7F-BD4F-4E8D-8DF0-6C9A1BE50015}" type="datetimeFigureOut">
              <a:rPr lang="en-PK" smtClean="0"/>
              <a:t>28/03/2025</a:t>
            </a:fld>
            <a:endParaRPr lang="en-PK"/>
          </a:p>
        </p:txBody>
      </p:sp>
      <p:sp>
        <p:nvSpPr>
          <p:cNvPr id="5" name="Footer Placeholder 4">
            <a:extLst>
              <a:ext uri="{FF2B5EF4-FFF2-40B4-BE49-F238E27FC236}">
                <a16:creationId xmlns:a16="http://schemas.microsoft.com/office/drawing/2014/main" id="{365AFFBD-9E1B-3CF0-EC67-9E8DAF01B3B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40184F2-12E5-783C-8D2E-B68CEF8808EC}"/>
              </a:ext>
            </a:extLst>
          </p:cNvPr>
          <p:cNvSpPr>
            <a:spLocks noGrp="1"/>
          </p:cNvSpPr>
          <p:nvPr>
            <p:ph type="sldNum" sz="quarter" idx="12"/>
          </p:nvPr>
        </p:nvSpPr>
        <p:spPr/>
        <p:txBody>
          <a:bodyPr/>
          <a:lstStyle/>
          <a:p>
            <a:fld id="{433C31D5-B7B2-4B95-8803-E8EEC07E4B9A}" type="slidenum">
              <a:rPr lang="en-PK" smtClean="0"/>
              <a:t>‹#›</a:t>
            </a:fld>
            <a:endParaRPr lang="en-PK"/>
          </a:p>
        </p:txBody>
      </p:sp>
    </p:spTree>
    <p:extLst>
      <p:ext uri="{BB962C8B-B14F-4D97-AF65-F5344CB8AC3E}">
        <p14:creationId xmlns:p14="http://schemas.microsoft.com/office/powerpoint/2010/main" val="1868010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73D106-6A91-04B9-266D-F7A0A01EE6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CFAE4FBE-3A30-BF22-E462-C81D016312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8D39287-FFD0-F63D-7CDA-F9B9B5271C83}"/>
              </a:ext>
            </a:extLst>
          </p:cNvPr>
          <p:cNvSpPr>
            <a:spLocks noGrp="1"/>
          </p:cNvSpPr>
          <p:nvPr>
            <p:ph type="dt" sz="half" idx="10"/>
          </p:nvPr>
        </p:nvSpPr>
        <p:spPr/>
        <p:txBody>
          <a:bodyPr/>
          <a:lstStyle/>
          <a:p>
            <a:fld id="{60904D7F-BD4F-4E8D-8DF0-6C9A1BE50015}" type="datetimeFigureOut">
              <a:rPr lang="en-PK" smtClean="0"/>
              <a:t>28/03/2025</a:t>
            </a:fld>
            <a:endParaRPr lang="en-PK"/>
          </a:p>
        </p:txBody>
      </p:sp>
      <p:sp>
        <p:nvSpPr>
          <p:cNvPr id="5" name="Footer Placeholder 4">
            <a:extLst>
              <a:ext uri="{FF2B5EF4-FFF2-40B4-BE49-F238E27FC236}">
                <a16:creationId xmlns:a16="http://schemas.microsoft.com/office/drawing/2014/main" id="{46670AD0-2A3C-4900-CDB1-7984C5CD665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A9E18CD-7F06-9526-2A7E-9AC349CF7236}"/>
              </a:ext>
            </a:extLst>
          </p:cNvPr>
          <p:cNvSpPr>
            <a:spLocks noGrp="1"/>
          </p:cNvSpPr>
          <p:nvPr>
            <p:ph type="sldNum" sz="quarter" idx="12"/>
          </p:nvPr>
        </p:nvSpPr>
        <p:spPr/>
        <p:txBody>
          <a:bodyPr/>
          <a:lstStyle/>
          <a:p>
            <a:fld id="{433C31D5-B7B2-4B95-8803-E8EEC07E4B9A}" type="slidenum">
              <a:rPr lang="en-PK" smtClean="0"/>
              <a:t>‹#›</a:t>
            </a:fld>
            <a:endParaRPr lang="en-PK"/>
          </a:p>
        </p:txBody>
      </p:sp>
    </p:spTree>
    <p:extLst>
      <p:ext uri="{BB962C8B-B14F-4D97-AF65-F5344CB8AC3E}">
        <p14:creationId xmlns:p14="http://schemas.microsoft.com/office/powerpoint/2010/main" val="1575112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7A6E7B-BD0D-16E7-11CD-38ADC46C5B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5D891ACB-4D2C-DFB7-945B-EFB6ECC9B3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568A54B-621F-064B-1E28-ECA7B4273C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904D7F-BD4F-4E8D-8DF0-6C9A1BE50015}" type="datetimeFigureOut">
              <a:rPr lang="en-PK" smtClean="0"/>
              <a:t>28/03/2025</a:t>
            </a:fld>
            <a:endParaRPr lang="en-PK"/>
          </a:p>
        </p:txBody>
      </p:sp>
      <p:sp>
        <p:nvSpPr>
          <p:cNvPr id="5" name="Footer Placeholder 4">
            <a:extLst>
              <a:ext uri="{FF2B5EF4-FFF2-40B4-BE49-F238E27FC236}">
                <a16:creationId xmlns:a16="http://schemas.microsoft.com/office/drawing/2014/main" id="{FEAF16AE-B20D-211C-988A-A9DAF66254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A1CE03D4-8FB9-F1BC-2EDE-C86A0F8859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3C31D5-B7B2-4B95-8803-E8EEC07E4B9A}" type="slidenum">
              <a:rPr lang="en-PK" smtClean="0"/>
              <a:t>‹#›</a:t>
            </a:fld>
            <a:endParaRPr lang="en-PK"/>
          </a:p>
        </p:txBody>
      </p:sp>
    </p:spTree>
    <p:extLst>
      <p:ext uri="{BB962C8B-B14F-4D97-AF65-F5344CB8AC3E}">
        <p14:creationId xmlns:p14="http://schemas.microsoft.com/office/powerpoint/2010/main" val="2050275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B3239-55D3-E74D-CA28-03CBC7AC824D}"/>
              </a:ext>
            </a:extLst>
          </p:cNvPr>
          <p:cNvSpPr>
            <a:spLocks noGrp="1"/>
          </p:cNvSpPr>
          <p:nvPr>
            <p:ph type="ctrTitle"/>
          </p:nvPr>
        </p:nvSpPr>
        <p:spPr>
          <a:xfrm>
            <a:off x="1524000" y="1122363"/>
            <a:ext cx="3642804" cy="2387600"/>
          </a:xfrm>
        </p:spPr>
        <p:txBody>
          <a:bodyPr>
            <a:normAutofit fontScale="90000"/>
          </a:bodyPr>
          <a:lstStyle/>
          <a:p>
            <a:r>
              <a:rPr lang="en-US" dirty="0"/>
              <a:t>Roza </a:t>
            </a:r>
            <a:r>
              <a:rPr lang="en-US" dirty="0" err="1"/>
              <a:t>mubarak</a:t>
            </a:r>
            <a:br>
              <a:rPr lang="en-US" dirty="0"/>
            </a:br>
            <a:r>
              <a:rPr lang="en-US" dirty="0">
                <a:sym typeface="Wingdings" panose="05000000000000000000" pitchFamily="2" charset="2"/>
              </a:rPr>
              <a:t></a:t>
            </a:r>
            <a:endParaRPr lang="en-PK" dirty="0"/>
          </a:p>
        </p:txBody>
      </p:sp>
      <p:sp>
        <p:nvSpPr>
          <p:cNvPr id="3" name="Subtitle 2">
            <a:extLst>
              <a:ext uri="{FF2B5EF4-FFF2-40B4-BE49-F238E27FC236}">
                <a16:creationId xmlns:a16="http://schemas.microsoft.com/office/drawing/2014/main" id="{B6B10444-5A07-ED26-44DD-4433E36392A8}"/>
              </a:ext>
            </a:extLst>
          </p:cNvPr>
          <p:cNvSpPr>
            <a:spLocks noGrp="1"/>
          </p:cNvSpPr>
          <p:nvPr>
            <p:ph type="subTitle" idx="1"/>
          </p:nvPr>
        </p:nvSpPr>
        <p:spPr>
          <a:xfrm>
            <a:off x="1524000" y="3602038"/>
            <a:ext cx="3642804" cy="1655762"/>
          </a:xfrm>
        </p:spPr>
        <p:txBody>
          <a:bodyPr/>
          <a:lstStyle/>
          <a:p>
            <a:r>
              <a:rPr lang="en-US" dirty="0"/>
              <a:t>FOSE</a:t>
            </a:r>
            <a:endParaRPr lang="en-PK" dirty="0"/>
          </a:p>
        </p:txBody>
      </p:sp>
      <p:pic>
        <p:nvPicPr>
          <p:cNvPr id="5" name="Picture 4">
            <a:extLst>
              <a:ext uri="{FF2B5EF4-FFF2-40B4-BE49-F238E27FC236}">
                <a16:creationId xmlns:a16="http://schemas.microsoft.com/office/drawing/2014/main" id="{B5CD5707-D1FB-8405-0E06-8BCE025C5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9600" y="350838"/>
            <a:ext cx="6502400" cy="6502400"/>
          </a:xfrm>
          <a:prstGeom prst="rect">
            <a:avLst/>
          </a:prstGeom>
        </p:spPr>
      </p:pic>
    </p:spTree>
    <p:extLst>
      <p:ext uri="{BB962C8B-B14F-4D97-AF65-F5344CB8AC3E}">
        <p14:creationId xmlns:p14="http://schemas.microsoft.com/office/powerpoint/2010/main" val="1429407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0"/>
          <p:cNvSpPr txBox="1">
            <a:spLocks noGrp="1"/>
          </p:cNvSpPr>
          <p:nvPr>
            <p:ph type="title"/>
          </p:nvPr>
        </p:nvSpPr>
        <p:spPr>
          <a:xfrm>
            <a:off x="581192" y="782490"/>
            <a:ext cx="11029616" cy="1013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rebuchet MS"/>
              <a:buNone/>
            </a:pPr>
            <a:r>
              <a:rPr lang="en-US"/>
              <a:t>Software Quality Engineering Road Map</a:t>
            </a:r>
            <a:endParaRPr/>
          </a:p>
        </p:txBody>
      </p:sp>
      <p:sp>
        <p:nvSpPr>
          <p:cNvPr id="340" name="Google Shape;340;p40"/>
          <p:cNvSpPr txBox="1">
            <a:spLocks noGrp="1"/>
          </p:cNvSpPr>
          <p:nvPr>
            <p:ph type="body" idx="1"/>
          </p:nvPr>
        </p:nvSpPr>
        <p:spPr>
          <a:xfrm>
            <a:off x="787706" y="1915235"/>
            <a:ext cx="11017607" cy="4321792"/>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1"/>
              </a:buClr>
              <a:buSzPts val="2400"/>
              <a:buChar char="•"/>
            </a:pPr>
            <a:r>
              <a:rPr lang="en-US" sz="2400" i="1">
                <a:latin typeface="Calibri"/>
                <a:ea typeface="Calibri"/>
                <a:cs typeface="Calibri"/>
                <a:sym typeface="Calibri"/>
              </a:rPr>
              <a:t>Quality Engineering at every SDLC phase:</a:t>
            </a:r>
            <a:endParaRPr/>
          </a:p>
        </p:txBody>
      </p:sp>
      <p:sp>
        <p:nvSpPr>
          <p:cNvPr id="341" name="Google Shape;341;p40"/>
          <p:cNvSpPr/>
          <p:nvPr/>
        </p:nvSpPr>
        <p:spPr>
          <a:xfrm>
            <a:off x="833992" y="2536653"/>
            <a:ext cx="1604097" cy="682388"/>
          </a:xfrm>
          <a:prstGeom prst="rect">
            <a:avLst/>
          </a:prstGeom>
          <a:solidFill>
            <a:schemeClr val="accent1"/>
          </a:solidFill>
          <a:ln w="12700"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rebuchet MS"/>
                <a:ea typeface="Trebuchet MS"/>
                <a:cs typeface="Trebuchet MS"/>
                <a:sym typeface="Trebuchet MS"/>
              </a:rPr>
              <a:t>Requirement Analysis</a:t>
            </a:r>
            <a:endParaRPr/>
          </a:p>
        </p:txBody>
      </p:sp>
      <p:sp>
        <p:nvSpPr>
          <p:cNvPr id="342" name="Google Shape;342;p40"/>
          <p:cNvSpPr/>
          <p:nvPr/>
        </p:nvSpPr>
        <p:spPr>
          <a:xfrm>
            <a:off x="2934268" y="3277737"/>
            <a:ext cx="1433014" cy="682388"/>
          </a:xfrm>
          <a:prstGeom prst="rect">
            <a:avLst/>
          </a:prstGeom>
          <a:solidFill>
            <a:schemeClr val="accent1"/>
          </a:solidFill>
          <a:ln w="12700"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rebuchet MS"/>
                <a:ea typeface="Trebuchet MS"/>
                <a:cs typeface="Trebuchet MS"/>
                <a:sym typeface="Trebuchet MS"/>
              </a:rPr>
              <a:t>Design</a:t>
            </a:r>
            <a:endParaRPr/>
          </a:p>
        </p:txBody>
      </p:sp>
      <p:sp>
        <p:nvSpPr>
          <p:cNvPr id="343" name="Google Shape;343;p40"/>
          <p:cNvSpPr/>
          <p:nvPr/>
        </p:nvSpPr>
        <p:spPr>
          <a:xfrm>
            <a:off x="5143273" y="4014716"/>
            <a:ext cx="1433014" cy="682388"/>
          </a:xfrm>
          <a:prstGeom prst="rect">
            <a:avLst/>
          </a:prstGeom>
          <a:solidFill>
            <a:schemeClr val="accent1"/>
          </a:solidFill>
          <a:ln w="12700"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rebuchet MS"/>
                <a:ea typeface="Trebuchet MS"/>
                <a:cs typeface="Trebuchet MS"/>
                <a:sym typeface="Trebuchet MS"/>
              </a:rPr>
              <a:t>Code</a:t>
            </a:r>
            <a:endParaRPr/>
          </a:p>
        </p:txBody>
      </p:sp>
      <p:sp>
        <p:nvSpPr>
          <p:cNvPr id="344" name="Google Shape;344;p40"/>
          <p:cNvSpPr/>
          <p:nvPr/>
        </p:nvSpPr>
        <p:spPr>
          <a:xfrm>
            <a:off x="7274599" y="4697104"/>
            <a:ext cx="1433014" cy="682388"/>
          </a:xfrm>
          <a:prstGeom prst="rect">
            <a:avLst/>
          </a:prstGeom>
          <a:solidFill>
            <a:schemeClr val="accent1"/>
          </a:solidFill>
          <a:ln w="12700"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rebuchet MS"/>
                <a:ea typeface="Trebuchet MS"/>
                <a:cs typeface="Trebuchet MS"/>
                <a:sym typeface="Trebuchet MS"/>
              </a:rPr>
              <a:t>Testing</a:t>
            </a:r>
            <a:endParaRPr/>
          </a:p>
        </p:txBody>
      </p:sp>
      <p:sp>
        <p:nvSpPr>
          <p:cNvPr id="345" name="Google Shape;345;p40"/>
          <p:cNvSpPr/>
          <p:nvPr/>
        </p:nvSpPr>
        <p:spPr>
          <a:xfrm>
            <a:off x="9501458" y="5431809"/>
            <a:ext cx="1433014" cy="682388"/>
          </a:xfrm>
          <a:prstGeom prst="rect">
            <a:avLst/>
          </a:prstGeom>
          <a:solidFill>
            <a:schemeClr val="accent1"/>
          </a:solidFill>
          <a:ln w="12700"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rebuchet MS"/>
                <a:ea typeface="Trebuchet MS"/>
                <a:cs typeface="Trebuchet MS"/>
                <a:sym typeface="Trebuchet MS"/>
              </a:rPr>
              <a:t>Deployment</a:t>
            </a:r>
            <a:endParaRPr/>
          </a:p>
        </p:txBody>
      </p:sp>
      <p:sp>
        <p:nvSpPr>
          <p:cNvPr id="346" name="Google Shape;346;p40"/>
          <p:cNvSpPr/>
          <p:nvPr/>
        </p:nvSpPr>
        <p:spPr>
          <a:xfrm>
            <a:off x="581192" y="5268482"/>
            <a:ext cx="1494431" cy="69603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Trebuchet MS"/>
                <a:ea typeface="Trebuchet MS"/>
                <a:cs typeface="Trebuchet MS"/>
                <a:sym typeface="Trebuchet MS"/>
              </a:rPr>
              <a:t>QA</a:t>
            </a:r>
            <a:endParaRPr/>
          </a:p>
        </p:txBody>
      </p:sp>
      <p:cxnSp>
        <p:nvCxnSpPr>
          <p:cNvPr id="347" name="Google Shape;347;p40"/>
          <p:cNvCxnSpPr>
            <a:stCxn id="346" idx="0"/>
          </p:cNvCxnSpPr>
          <p:nvPr/>
        </p:nvCxnSpPr>
        <p:spPr>
          <a:xfrm rot="10800000" flipH="1">
            <a:off x="1328408" y="4162682"/>
            <a:ext cx="1837800" cy="1105800"/>
          </a:xfrm>
          <a:prstGeom prst="straightConnector1">
            <a:avLst/>
          </a:prstGeom>
          <a:noFill/>
          <a:ln w="9525" cap="flat" cmpd="sng">
            <a:solidFill>
              <a:schemeClr val="dk1"/>
            </a:solidFill>
            <a:prstDash val="solid"/>
            <a:round/>
            <a:headEnd type="none" w="sm" len="sm"/>
            <a:tailEnd type="triangle" w="med" len="med"/>
          </a:ln>
        </p:spPr>
      </p:cxnSp>
      <p:cxnSp>
        <p:nvCxnSpPr>
          <p:cNvPr id="348" name="Google Shape;348;p40"/>
          <p:cNvCxnSpPr>
            <a:stCxn id="346" idx="0"/>
          </p:cNvCxnSpPr>
          <p:nvPr/>
        </p:nvCxnSpPr>
        <p:spPr>
          <a:xfrm rot="10800000">
            <a:off x="1328408" y="3472982"/>
            <a:ext cx="0" cy="1795500"/>
          </a:xfrm>
          <a:prstGeom prst="straightConnector1">
            <a:avLst/>
          </a:prstGeom>
          <a:noFill/>
          <a:ln w="9525" cap="flat" cmpd="sng">
            <a:solidFill>
              <a:schemeClr val="dk1"/>
            </a:solidFill>
            <a:prstDash val="solid"/>
            <a:round/>
            <a:headEnd type="none" w="sm" len="sm"/>
            <a:tailEnd type="triangle" w="med" len="med"/>
          </a:ln>
        </p:spPr>
      </p:cxnSp>
      <p:cxnSp>
        <p:nvCxnSpPr>
          <p:cNvPr id="349" name="Google Shape;349;p40"/>
          <p:cNvCxnSpPr>
            <a:stCxn id="346" idx="0"/>
          </p:cNvCxnSpPr>
          <p:nvPr/>
        </p:nvCxnSpPr>
        <p:spPr>
          <a:xfrm rot="10800000" flipH="1">
            <a:off x="1328408" y="4355882"/>
            <a:ext cx="3711600" cy="912600"/>
          </a:xfrm>
          <a:prstGeom prst="straightConnector1">
            <a:avLst/>
          </a:prstGeom>
          <a:noFill/>
          <a:ln w="9525" cap="flat" cmpd="sng">
            <a:solidFill>
              <a:schemeClr val="dk1"/>
            </a:solidFill>
            <a:prstDash val="solid"/>
            <a:round/>
            <a:headEnd type="none" w="sm" len="sm"/>
            <a:tailEnd type="triangle" w="med" len="med"/>
          </a:ln>
        </p:spPr>
      </p:cxnSp>
      <p:sp>
        <p:nvSpPr>
          <p:cNvPr id="350" name="Google Shape;350;p40"/>
          <p:cNvSpPr/>
          <p:nvPr/>
        </p:nvSpPr>
        <p:spPr>
          <a:xfrm>
            <a:off x="9806509" y="2204088"/>
            <a:ext cx="1680514" cy="69603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Trebuchet MS"/>
                <a:ea typeface="Trebuchet MS"/>
                <a:cs typeface="Trebuchet MS"/>
                <a:sym typeface="Trebuchet MS"/>
              </a:rPr>
              <a:t>Quality Engineering</a:t>
            </a:r>
            <a:endParaRPr/>
          </a:p>
        </p:txBody>
      </p:sp>
      <p:cxnSp>
        <p:nvCxnSpPr>
          <p:cNvPr id="351" name="Google Shape;351;p40"/>
          <p:cNvCxnSpPr/>
          <p:nvPr/>
        </p:nvCxnSpPr>
        <p:spPr>
          <a:xfrm flipH="1">
            <a:off x="10410967" y="2945617"/>
            <a:ext cx="288057" cy="1778314"/>
          </a:xfrm>
          <a:prstGeom prst="straightConnector1">
            <a:avLst/>
          </a:prstGeom>
          <a:noFill/>
          <a:ln w="9525" cap="flat" cmpd="sng">
            <a:solidFill>
              <a:schemeClr val="dk1"/>
            </a:solidFill>
            <a:prstDash val="solid"/>
            <a:round/>
            <a:headEnd type="none" w="sm" len="sm"/>
            <a:tailEnd type="triangle" w="med" len="med"/>
          </a:ln>
        </p:spPr>
      </p:cxnSp>
      <p:cxnSp>
        <p:nvCxnSpPr>
          <p:cNvPr id="352" name="Google Shape;352;p40"/>
          <p:cNvCxnSpPr/>
          <p:nvPr/>
        </p:nvCxnSpPr>
        <p:spPr>
          <a:xfrm flipH="1">
            <a:off x="8129753" y="2923340"/>
            <a:ext cx="2585778" cy="1239227"/>
          </a:xfrm>
          <a:prstGeom prst="straightConnector1">
            <a:avLst/>
          </a:prstGeom>
          <a:noFill/>
          <a:ln w="9525" cap="flat" cmpd="sng">
            <a:solidFill>
              <a:schemeClr val="dk1"/>
            </a:solidFill>
            <a:prstDash val="solid"/>
            <a:round/>
            <a:headEnd type="none" w="sm" len="sm"/>
            <a:tailEnd type="triangle" w="med" len="med"/>
          </a:ln>
        </p:spPr>
      </p:cxnSp>
      <p:cxnSp>
        <p:nvCxnSpPr>
          <p:cNvPr id="353" name="Google Shape;353;p40"/>
          <p:cNvCxnSpPr/>
          <p:nvPr/>
        </p:nvCxnSpPr>
        <p:spPr>
          <a:xfrm flipH="1">
            <a:off x="6629742" y="2925616"/>
            <a:ext cx="4050358" cy="835230"/>
          </a:xfrm>
          <a:prstGeom prst="straightConnector1">
            <a:avLst/>
          </a:prstGeom>
          <a:noFill/>
          <a:ln w="9525" cap="flat" cmpd="sng">
            <a:solidFill>
              <a:schemeClr val="dk1"/>
            </a:solidFill>
            <a:prstDash val="solid"/>
            <a:round/>
            <a:headEnd type="none" w="sm" len="sm"/>
            <a:tailEnd type="triangle" w="med" len="med"/>
          </a:ln>
        </p:spPr>
      </p:cxnSp>
      <p:cxnSp>
        <p:nvCxnSpPr>
          <p:cNvPr id="354" name="Google Shape;354;p40"/>
          <p:cNvCxnSpPr/>
          <p:nvPr/>
        </p:nvCxnSpPr>
        <p:spPr>
          <a:xfrm flipH="1">
            <a:off x="4387750" y="2891495"/>
            <a:ext cx="6278702" cy="47769"/>
          </a:xfrm>
          <a:prstGeom prst="straightConnector1">
            <a:avLst/>
          </a:prstGeom>
          <a:noFill/>
          <a:ln w="9525" cap="flat" cmpd="sng">
            <a:solidFill>
              <a:schemeClr val="dk1"/>
            </a:solidFill>
            <a:prstDash val="solid"/>
            <a:round/>
            <a:headEnd type="none" w="sm" len="sm"/>
            <a:tailEnd type="triangle" w="med" len="med"/>
          </a:ln>
        </p:spPr>
      </p:cxnSp>
      <p:cxnSp>
        <p:nvCxnSpPr>
          <p:cNvPr id="355" name="Google Shape;355;p40"/>
          <p:cNvCxnSpPr/>
          <p:nvPr/>
        </p:nvCxnSpPr>
        <p:spPr>
          <a:xfrm rot="10800000">
            <a:off x="2473521" y="2613993"/>
            <a:ext cx="7557583" cy="54369"/>
          </a:xfrm>
          <a:prstGeom prst="straightConnector1">
            <a:avLst/>
          </a:prstGeom>
          <a:noFill/>
          <a:ln w="9525" cap="flat" cmpd="sng">
            <a:solidFill>
              <a:schemeClr val="dk1"/>
            </a:solidFill>
            <a:prstDash val="solid"/>
            <a:round/>
            <a:headEnd type="none" w="sm" len="sm"/>
            <a:tailEnd type="triangle" w="med" len="med"/>
          </a:ln>
        </p:spPr>
      </p:cxnSp>
      <p:sp>
        <p:nvSpPr>
          <p:cNvPr id="356" name="Google Shape;356;p40"/>
          <p:cNvSpPr/>
          <p:nvPr/>
        </p:nvSpPr>
        <p:spPr>
          <a:xfrm>
            <a:off x="5549293" y="5845679"/>
            <a:ext cx="1494431" cy="69603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Trebuchet MS"/>
                <a:ea typeface="Trebuchet MS"/>
                <a:cs typeface="Trebuchet MS"/>
                <a:sym typeface="Trebuchet MS"/>
              </a:rPr>
              <a:t>QC</a:t>
            </a:r>
            <a:endParaRPr/>
          </a:p>
        </p:txBody>
      </p:sp>
      <p:cxnSp>
        <p:nvCxnSpPr>
          <p:cNvPr id="357" name="Google Shape;357;p40"/>
          <p:cNvCxnSpPr/>
          <p:nvPr/>
        </p:nvCxnSpPr>
        <p:spPr>
          <a:xfrm rot="10800000" flipH="1">
            <a:off x="7043724" y="5431809"/>
            <a:ext cx="870382" cy="413870"/>
          </a:xfrm>
          <a:prstGeom prst="straightConnector1">
            <a:avLst/>
          </a:prstGeom>
          <a:noFill/>
          <a:ln w="9525" cap="flat" cmpd="sng">
            <a:solidFill>
              <a:schemeClr val="dk1"/>
            </a:solidFill>
            <a:prstDash val="solid"/>
            <a:round/>
            <a:headEnd type="none" w="sm" len="sm"/>
            <a:tailEnd type="triangl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1"/>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rebuchet MS"/>
              <a:buNone/>
            </a:pPr>
            <a:r>
              <a:rPr lang="en-US" i="1"/>
              <a:t>What is an Error?</a:t>
            </a:r>
            <a:endParaRPr/>
          </a:p>
        </p:txBody>
      </p:sp>
      <p:sp>
        <p:nvSpPr>
          <p:cNvPr id="364" name="Google Shape;364;p41"/>
          <p:cNvSpPr txBox="1">
            <a:spLocks noGrp="1"/>
          </p:cNvSpPr>
          <p:nvPr>
            <p:ph type="body" idx="1"/>
          </p:nvPr>
        </p:nvSpPr>
        <p:spPr>
          <a:xfrm>
            <a:off x="1315644" y="2009507"/>
            <a:ext cx="9621672" cy="3613370"/>
          </a:xfrm>
          <a:prstGeom prst="rect">
            <a:avLst/>
          </a:prstGeom>
          <a:noFill/>
          <a:ln>
            <a:noFill/>
          </a:ln>
        </p:spPr>
        <p:txBody>
          <a:bodyPr spcFirstLastPara="1" wrap="square" lIns="91425" tIns="45700" rIns="91425" bIns="45700" anchor="t" anchorCtr="0">
            <a:normAutofit lnSpcReduction="10000"/>
          </a:bodyPr>
          <a:lstStyle/>
          <a:p>
            <a:pPr marL="228600" lvl="0" indent="-76200" algn="l" rtl="0">
              <a:lnSpc>
                <a:spcPct val="90000"/>
              </a:lnSpc>
              <a:spcBef>
                <a:spcPts val="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400"/>
              <a:buChar char="•"/>
            </a:pPr>
            <a:r>
              <a:rPr lang="en-US" sz="2400"/>
              <a:t>Error is usually refer to some syntax mistake by developer.</a:t>
            </a:r>
            <a:endParaRPr/>
          </a:p>
          <a:p>
            <a:pPr marL="228600" lvl="0" indent="-76200" algn="l" rtl="0">
              <a:lnSpc>
                <a:spcPct val="90000"/>
              </a:lnSpc>
              <a:spcBef>
                <a:spcPts val="100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400"/>
              <a:buChar char="•"/>
            </a:pPr>
            <a:r>
              <a:rPr lang="en-US" sz="2400"/>
              <a:t>Refer to both Syntax and semantic error.</a:t>
            </a:r>
            <a:endParaRPr/>
          </a:p>
          <a:p>
            <a:pPr marL="228600" lvl="0" indent="-76200" algn="l" rtl="0">
              <a:lnSpc>
                <a:spcPct val="90000"/>
              </a:lnSpc>
              <a:spcBef>
                <a:spcPts val="100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400"/>
              <a:buChar char="•"/>
            </a:pPr>
            <a:r>
              <a:rPr lang="en-US" sz="2400"/>
              <a:t>Syntax error are usually fixed by developer.</a:t>
            </a:r>
            <a:endParaRPr/>
          </a:p>
          <a:p>
            <a:pPr marL="228600" lvl="0" indent="-76200" algn="l" rtl="0">
              <a:lnSpc>
                <a:spcPct val="90000"/>
              </a:lnSpc>
              <a:spcBef>
                <a:spcPts val="100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400"/>
              <a:buChar char="•"/>
            </a:pPr>
            <a:r>
              <a:rPr lang="en-US" sz="2400"/>
              <a:t>Semantic error give rise to unusual output.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2"/>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rebuchet MS"/>
              <a:buNone/>
            </a:pPr>
            <a:r>
              <a:rPr lang="en-US" i="1"/>
              <a:t>What is Defect?</a:t>
            </a:r>
            <a:endParaRPr/>
          </a:p>
        </p:txBody>
      </p:sp>
      <p:sp>
        <p:nvSpPr>
          <p:cNvPr id="371" name="Google Shape;371;p42"/>
          <p:cNvSpPr txBox="1">
            <a:spLocks noGrp="1"/>
          </p:cNvSpPr>
          <p:nvPr>
            <p:ph type="body" idx="1"/>
          </p:nvPr>
        </p:nvSpPr>
        <p:spPr>
          <a:xfrm>
            <a:off x="1315644" y="2009507"/>
            <a:ext cx="9621672" cy="3613370"/>
          </a:xfrm>
          <a:prstGeom prst="rect">
            <a:avLst/>
          </a:prstGeom>
          <a:noFill/>
          <a:ln>
            <a:noFill/>
          </a:ln>
        </p:spPr>
        <p:txBody>
          <a:bodyPr spcFirstLastPara="1" wrap="square" lIns="91425" tIns="45700" rIns="91425" bIns="45700" anchor="t" anchorCtr="0">
            <a:normAutofit/>
          </a:bodyPr>
          <a:lstStyle/>
          <a:p>
            <a:pPr marL="228600" lvl="0" indent="-76200" algn="l" rtl="0">
              <a:lnSpc>
                <a:spcPct val="90000"/>
              </a:lnSpc>
              <a:spcBef>
                <a:spcPts val="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200"/>
              <a:buChar char="•"/>
            </a:pPr>
            <a:r>
              <a:rPr lang="en-US" sz="2200"/>
              <a:t>Defect is deviation from customer requirement.</a:t>
            </a:r>
            <a:endParaRPr/>
          </a:p>
          <a:p>
            <a:pPr marL="228600" lvl="0" indent="-228600" algn="l" rtl="0">
              <a:lnSpc>
                <a:spcPct val="90000"/>
              </a:lnSpc>
              <a:spcBef>
                <a:spcPts val="1000"/>
              </a:spcBef>
              <a:spcAft>
                <a:spcPts val="0"/>
              </a:spcAft>
              <a:buClr>
                <a:schemeClr val="lt1"/>
              </a:buClr>
              <a:buSzPts val="2200"/>
              <a:buChar char="•"/>
            </a:pPr>
            <a:r>
              <a:rPr lang="en-US" sz="2200"/>
              <a:t>Mostly defects are found in the software after software is shipped to the customer at production site. </a:t>
            </a:r>
            <a:endParaRPr/>
          </a:p>
          <a:p>
            <a:pPr marL="228600" lvl="0" indent="-76200" algn="l" rtl="0">
              <a:lnSpc>
                <a:spcPct val="90000"/>
              </a:lnSpc>
              <a:spcBef>
                <a:spcPts val="100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400"/>
              <a:buChar char="•"/>
            </a:pPr>
            <a:r>
              <a:rPr lang="en-US" sz="2400"/>
              <a:t>Example:</a:t>
            </a:r>
            <a:endParaRPr/>
          </a:p>
          <a:p>
            <a:pPr marL="228600" lvl="0" indent="-228600" algn="l" rtl="0">
              <a:lnSpc>
                <a:spcPct val="90000"/>
              </a:lnSpc>
              <a:spcBef>
                <a:spcPts val="1000"/>
              </a:spcBef>
              <a:spcAft>
                <a:spcPts val="0"/>
              </a:spcAft>
              <a:buClr>
                <a:schemeClr val="lt1"/>
              </a:buClr>
              <a:buSzPts val="2400"/>
              <a:buChar char="•"/>
            </a:pPr>
            <a:r>
              <a:rPr lang="en-US"/>
              <a:t>In online shopping, the option of searching a debit card for making payment is missing. </a:t>
            </a:r>
            <a:endParaRPr/>
          </a:p>
          <a:p>
            <a:pPr marL="228600" lvl="0" indent="-76200" algn="l" rtl="0">
              <a:lnSpc>
                <a:spcPct val="90000"/>
              </a:lnSpc>
              <a:spcBef>
                <a:spcPts val="1000"/>
              </a:spcBef>
              <a:spcAft>
                <a:spcPts val="0"/>
              </a:spcAft>
              <a:buClr>
                <a:schemeClr val="lt1"/>
              </a:buClr>
              <a:buSzPts val="2400"/>
              <a:buNone/>
            </a:pPr>
            <a:endParaRPr sz="2400"/>
          </a:p>
          <a:p>
            <a:pPr marL="228600" lvl="0" indent="-76200" algn="l" rtl="0">
              <a:lnSpc>
                <a:spcPct val="90000"/>
              </a:lnSpc>
              <a:spcBef>
                <a:spcPts val="1000"/>
              </a:spcBef>
              <a:spcAft>
                <a:spcPts val="0"/>
              </a:spcAft>
              <a:buClr>
                <a:schemeClr val="lt1"/>
              </a:buClr>
              <a:buSzPts val="2400"/>
              <a:buNone/>
            </a:pP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3"/>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rebuchet MS"/>
              <a:buNone/>
            </a:pPr>
            <a:r>
              <a:rPr lang="en-US" i="1"/>
              <a:t>What is Bug?</a:t>
            </a:r>
            <a:endParaRPr/>
          </a:p>
        </p:txBody>
      </p:sp>
      <p:sp>
        <p:nvSpPr>
          <p:cNvPr id="378" name="Google Shape;378;p43"/>
          <p:cNvSpPr txBox="1">
            <a:spLocks noGrp="1"/>
          </p:cNvSpPr>
          <p:nvPr>
            <p:ph type="body" idx="1"/>
          </p:nvPr>
        </p:nvSpPr>
        <p:spPr>
          <a:xfrm>
            <a:off x="1315644" y="2009507"/>
            <a:ext cx="9621672" cy="3613370"/>
          </a:xfrm>
          <a:prstGeom prst="rect">
            <a:avLst/>
          </a:prstGeom>
          <a:noFill/>
          <a:ln>
            <a:noFill/>
          </a:ln>
        </p:spPr>
        <p:txBody>
          <a:bodyPr spcFirstLastPara="1" wrap="square" lIns="91425" tIns="45700" rIns="91425" bIns="45700" anchor="t" anchorCtr="0">
            <a:normAutofit/>
          </a:bodyPr>
          <a:lstStyle/>
          <a:p>
            <a:pPr marL="228600" lvl="0" indent="-76200" algn="l" rtl="0">
              <a:lnSpc>
                <a:spcPct val="90000"/>
              </a:lnSpc>
              <a:spcBef>
                <a:spcPts val="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400"/>
              <a:buChar char="•"/>
            </a:pPr>
            <a:r>
              <a:rPr lang="en-US" sz="2400"/>
              <a:t>Error found before the software is shipped into production. </a:t>
            </a:r>
            <a:endParaRPr/>
          </a:p>
          <a:p>
            <a:pPr marL="228600" lvl="0" indent="-76200" algn="l" rtl="0">
              <a:lnSpc>
                <a:spcPct val="90000"/>
              </a:lnSpc>
              <a:spcBef>
                <a:spcPts val="100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400"/>
              <a:buChar char="•"/>
            </a:pPr>
            <a:r>
              <a:rPr lang="en-US" sz="2400"/>
              <a:t>“Defects” accepted by developers are bugs. </a:t>
            </a:r>
            <a:endParaRPr/>
          </a:p>
          <a:p>
            <a:pPr marL="228600" lvl="0" indent="-76200" algn="l" rtl="0">
              <a:lnSpc>
                <a:spcPct val="90000"/>
              </a:lnSpc>
              <a:spcBef>
                <a:spcPts val="1000"/>
              </a:spcBef>
              <a:spcAft>
                <a:spcPts val="0"/>
              </a:spcAft>
              <a:buClr>
                <a:schemeClr val="lt1"/>
              </a:buClr>
              <a:buSzPts val="2400"/>
              <a:buNone/>
            </a:pPr>
            <a:endParaRPr sz="2400"/>
          </a:p>
          <a:p>
            <a:pPr marL="228600" lvl="0" indent="-76200" algn="l" rtl="0">
              <a:lnSpc>
                <a:spcPct val="90000"/>
              </a:lnSpc>
              <a:spcBef>
                <a:spcPts val="1000"/>
              </a:spcBef>
              <a:spcAft>
                <a:spcPts val="0"/>
              </a:spcAft>
              <a:buClr>
                <a:schemeClr val="lt1"/>
              </a:buClr>
              <a:buSzPts val="2400"/>
              <a:buNone/>
            </a:pP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4"/>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rebuchet MS"/>
              <a:buNone/>
            </a:pPr>
            <a:r>
              <a:rPr lang="en-US" i="1"/>
              <a:t>What is Fault?</a:t>
            </a:r>
            <a:endParaRPr/>
          </a:p>
        </p:txBody>
      </p:sp>
      <p:sp>
        <p:nvSpPr>
          <p:cNvPr id="385" name="Google Shape;385;p44"/>
          <p:cNvSpPr txBox="1">
            <a:spLocks noGrp="1"/>
          </p:cNvSpPr>
          <p:nvPr>
            <p:ph type="body" idx="1"/>
          </p:nvPr>
        </p:nvSpPr>
        <p:spPr>
          <a:xfrm>
            <a:off x="1315644" y="2214223"/>
            <a:ext cx="9621672" cy="3613370"/>
          </a:xfrm>
          <a:prstGeom prst="rect">
            <a:avLst/>
          </a:prstGeom>
          <a:noFill/>
          <a:ln>
            <a:noFill/>
          </a:ln>
        </p:spPr>
        <p:txBody>
          <a:bodyPr spcFirstLastPara="1" wrap="square" lIns="91425" tIns="45700" rIns="91425" bIns="45700" anchor="t" anchorCtr="0">
            <a:normAutofit/>
          </a:bodyPr>
          <a:lstStyle/>
          <a:p>
            <a:pPr marL="228600" lvl="0" indent="-76200" algn="l" rtl="0">
              <a:lnSpc>
                <a:spcPct val="90000"/>
              </a:lnSpc>
              <a:spcBef>
                <a:spcPts val="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400"/>
              <a:buChar char="•"/>
            </a:pPr>
            <a:r>
              <a:rPr lang="en-US" sz="2400"/>
              <a:t>Fault is a result of error.</a:t>
            </a:r>
            <a:endParaRPr/>
          </a:p>
          <a:p>
            <a:pPr marL="228600" lvl="0" indent="-76200" algn="l" rtl="0">
              <a:lnSpc>
                <a:spcPct val="90000"/>
              </a:lnSpc>
              <a:spcBef>
                <a:spcPts val="100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400"/>
              <a:buChar char="•"/>
            </a:pPr>
            <a:r>
              <a:rPr lang="en-US" sz="2400"/>
              <a:t>Fault is an incorrect step or process due to which unanticipated result arises.</a:t>
            </a:r>
            <a:endParaRPr/>
          </a:p>
          <a:p>
            <a:pPr marL="228600" lvl="0" indent="-76200" algn="l" rtl="0">
              <a:lnSpc>
                <a:spcPct val="90000"/>
              </a:lnSpc>
              <a:spcBef>
                <a:spcPts val="1000"/>
              </a:spcBef>
              <a:spcAft>
                <a:spcPts val="0"/>
              </a:spcAft>
              <a:buClr>
                <a:schemeClr val="lt1"/>
              </a:buClr>
              <a:buSzPts val="2400"/>
              <a:buNone/>
            </a:pPr>
            <a:endParaRPr sz="2400"/>
          </a:p>
          <a:p>
            <a:pPr marL="228600" lvl="0" indent="-76200" algn="l" rtl="0">
              <a:lnSpc>
                <a:spcPct val="90000"/>
              </a:lnSpc>
              <a:spcBef>
                <a:spcPts val="1000"/>
              </a:spcBef>
              <a:spcAft>
                <a:spcPts val="0"/>
              </a:spcAft>
              <a:buClr>
                <a:schemeClr val="lt1"/>
              </a:buClr>
              <a:buSzPts val="2400"/>
              <a:buNone/>
            </a:pP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5"/>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rebuchet MS"/>
              <a:buNone/>
            </a:pPr>
            <a:r>
              <a:rPr lang="en-US" i="1"/>
              <a:t>What is Failure?</a:t>
            </a:r>
            <a:endParaRPr/>
          </a:p>
        </p:txBody>
      </p:sp>
      <p:sp>
        <p:nvSpPr>
          <p:cNvPr id="392" name="Google Shape;392;p45"/>
          <p:cNvSpPr txBox="1">
            <a:spLocks noGrp="1"/>
          </p:cNvSpPr>
          <p:nvPr>
            <p:ph type="body" idx="1"/>
          </p:nvPr>
        </p:nvSpPr>
        <p:spPr>
          <a:xfrm>
            <a:off x="1315644" y="2214223"/>
            <a:ext cx="9621672" cy="3613370"/>
          </a:xfrm>
          <a:prstGeom prst="rect">
            <a:avLst/>
          </a:prstGeom>
          <a:noFill/>
          <a:ln>
            <a:noFill/>
          </a:ln>
        </p:spPr>
        <p:txBody>
          <a:bodyPr spcFirstLastPara="1" wrap="square" lIns="91425" tIns="45700" rIns="91425" bIns="45700" anchor="t" anchorCtr="0">
            <a:normAutofit/>
          </a:bodyPr>
          <a:lstStyle/>
          <a:p>
            <a:pPr marL="228600" lvl="0" indent="-76200" algn="l" rtl="0">
              <a:lnSpc>
                <a:spcPct val="90000"/>
              </a:lnSpc>
              <a:spcBef>
                <a:spcPts val="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400"/>
              <a:buChar char="•"/>
            </a:pPr>
            <a:r>
              <a:rPr lang="en-US" sz="2400"/>
              <a:t>Failure is a result of faults.</a:t>
            </a:r>
            <a:endParaRPr/>
          </a:p>
          <a:p>
            <a:pPr marL="228600" lvl="0" indent="-76200" algn="l" rtl="0">
              <a:lnSpc>
                <a:spcPct val="90000"/>
              </a:lnSpc>
              <a:spcBef>
                <a:spcPts val="1000"/>
              </a:spcBef>
              <a:spcAft>
                <a:spcPts val="0"/>
              </a:spcAft>
              <a:buClr>
                <a:schemeClr val="lt1"/>
              </a:buClr>
              <a:buSzPts val="2400"/>
              <a:buNone/>
            </a:pPr>
            <a:endParaRPr sz="2400"/>
          </a:p>
          <a:p>
            <a:pPr marL="228600" lvl="0" indent="-228600" algn="l" rtl="0">
              <a:lnSpc>
                <a:spcPct val="90000"/>
              </a:lnSpc>
              <a:spcBef>
                <a:spcPts val="1000"/>
              </a:spcBef>
              <a:spcAft>
                <a:spcPts val="0"/>
              </a:spcAft>
              <a:buClr>
                <a:schemeClr val="lt1"/>
              </a:buClr>
              <a:buSzPts val="2400"/>
              <a:buChar char="•"/>
            </a:pPr>
            <a:r>
              <a:rPr lang="en-US" sz="2400"/>
              <a:t>Failure is inability of the program to behave as expected within given performance requirement. </a:t>
            </a:r>
            <a:endParaRPr/>
          </a:p>
          <a:p>
            <a:pPr marL="228600" lvl="0" indent="-76200" algn="l" rtl="0">
              <a:lnSpc>
                <a:spcPct val="90000"/>
              </a:lnSpc>
              <a:spcBef>
                <a:spcPts val="1000"/>
              </a:spcBef>
              <a:spcAft>
                <a:spcPts val="0"/>
              </a:spcAft>
              <a:buClr>
                <a:schemeClr val="lt1"/>
              </a:buClr>
              <a:buSzPts val="2400"/>
              <a:buNone/>
            </a:pPr>
            <a:endParaRPr sz="2400"/>
          </a:p>
          <a:p>
            <a:pPr marL="228600" lvl="0" indent="-76200" algn="l" rtl="0">
              <a:lnSpc>
                <a:spcPct val="90000"/>
              </a:lnSpc>
              <a:spcBef>
                <a:spcPts val="1000"/>
              </a:spcBef>
              <a:spcAft>
                <a:spcPts val="0"/>
              </a:spcAft>
              <a:buClr>
                <a:schemeClr val="lt1"/>
              </a:buClr>
              <a:buSzPts val="2400"/>
              <a:buNone/>
            </a:pP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Testing</a:t>
            </a:r>
            <a:endParaRPr/>
          </a:p>
        </p:txBody>
      </p:sp>
      <p:sp>
        <p:nvSpPr>
          <p:cNvPr id="102" name="Google Shape;102;p15"/>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chemeClr val="dk1"/>
              </a:buClr>
              <a:buSzPts val="3600"/>
              <a:buFont typeface="Arial"/>
              <a:buChar char="•"/>
            </a:pPr>
            <a:r>
              <a:rPr lang="en-US" sz="3600" b="0" i="0" u="none" strike="noStrike" cap="none">
                <a:solidFill>
                  <a:schemeClr val="dk1"/>
                </a:solidFill>
                <a:latin typeface="Calibri"/>
                <a:ea typeface="Calibri"/>
                <a:cs typeface="Calibri"/>
                <a:sym typeface="Calibri"/>
              </a:rPr>
              <a:t>According to ANSI/IEEE 1059 standard, Testing can be defined as - A process of analyzing a software item to detect the differences between existing and required conditions (that is defects/errors/bugs) and to evaluate the features of the software item.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Who does Testing?</a:t>
            </a:r>
            <a:endParaRPr/>
          </a:p>
        </p:txBody>
      </p:sp>
      <p:sp>
        <p:nvSpPr>
          <p:cNvPr id="109" name="Google Shape;109;p16"/>
          <p:cNvSpPr txBox="1">
            <a:spLocks noGrp="1"/>
          </p:cNvSpPr>
          <p:nvPr>
            <p:ph type="body" idx="1"/>
          </p:nvPr>
        </p:nvSpPr>
        <p:spPr>
          <a:xfrm>
            <a:off x="1155700" y="2603500"/>
            <a:ext cx="10488612" cy="3983037"/>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It depends on the process and the associated stakeholders of the project(s). In the IT industry, large companies have a team with responsibilities to evaluate the developed software in context of the given requirements. Moreover, developers also conduct testing which is called Unit Testing. In most cases, the following professionals are involved in testing a system within their respective capacities:</a:t>
            </a:r>
            <a:endParaRPr/>
          </a:p>
          <a:p>
            <a:pPr marL="0" marR="0" lvl="0" indent="-152400" algn="l" rtl="0">
              <a:lnSpc>
                <a:spcPct val="90000"/>
              </a:lnSpc>
              <a:spcBef>
                <a:spcPts val="10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Software Tester</a:t>
            </a:r>
            <a:endParaRPr/>
          </a:p>
          <a:p>
            <a:pPr marL="0" marR="0" lvl="0" indent="-152400" algn="l" rtl="0">
              <a:lnSpc>
                <a:spcPct val="90000"/>
              </a:lnSpc>
              <a:spcBef>
                <a:spcPts val="10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Software Developer</a:t>
            </a:r>
            <a:endParaRPr/>
          </a:p>
          <a:p>
            <a:pPr marL="0" marR="0" lvl="0" indent="-152400" algn="l" rtl="0">
              <a:lnSpc>
                <a:spcPct val="90000"/>
              </a:lnSpc>
              <a:spcBef>
                <a:spcPts val="10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Project Lead/Manager</a:t>
            </a:r>
            <a:endParaRPr/>
          </a:p>
          <a:p>
            <a:pPr marL="0" marR="0" lvl="0" indent="-152400" algn="l" rtl="0">
              <a:lnSpc>
                <a:spcPct val="90000"/>
              </a:lnSpc>
              <a:spcBef>
                <a:spcPts val="10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End User (how……………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7"/>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When to Start Testing?</a:t>
            </a:r>
            <a:endParaRPr/>
          </a:p>
        </p:txBody>
      </p:sp>
      <p:sp>
        <p:nvSpPr>
          <p:cNvPr id="116" name="Google Shape;116;p17"/>
          <p:cNvSpPr txBox="1">
            <a:spLocks noGrp="1"/>
          </p:cNvSpPr>
          <p:nvPr>
            <p:ph type="body" idx="1"/>
          </p:nvPr>
        </p:nvSpPr>
        <p:spPr>
          <a:xfrm>
            <a:off x="838200" y="2373312"/>
            <a:ext cx="10515600" cy="4351337"/>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chemeClr val="dk1"/>
              </a:buClr>
              <a:buSzPts val="2600"/>
              <a:buFont typeface="Arial"/>
              <a:buNone/>
            </a:pPr>
            <a:r>
              <a:rPr lang="en-US" sz="2600" b="0" i="0" u="none" strike="noStrike" cap="none">
                <a:solidFill>
                  <a:schemeClr val="dk1"/>
                </a:solidFill>
                <a:latin typeface="Calibri"/>
                <a:ea typeface="Calibri"/>
                <a:cs typeface="Calibri"/>
                <a:sym typeface="Calibri"/>
              </a:rPr>
              <a:t>Testing is done in different forms at every phase of SDLC:</a:t>
            </a:r>
            <a:endParaRPr/>
          </a:p>
          <a:p>
            <a:pPr marL="0" marR="0" lvl="0" indent="0" algn="l" rtl="0">
              <a:lnSpc>
                <a:spcPct val="80000"/>
              </a:lnSpc>
              <a:spcBef>
                <a:spcPts val="1000"/>
              </a:spcBef>
              <a:spcAft>
                <a:spcPts val="0"/>
              </a:spcAft>
              <a:buClr>
                <a:schemeClr val="dk1"/>
              </a:buClr>
              <a:buSzPts val="2600"/>
              <a:buFont typeface="Arial"/>
              <a:buNone/>
            </a:pPr>
            <a:endParaRPr sz="2600" b="0" i="0" u="none" strike="noStrike" cap="none">
              <a:solidFill>
                <a:schemeClr val="dk1"/>
              </a:solidFill>
              <a:latin typeface="Calibri"/>
              <a:ea typeface="Calibri"/>
              <a:cs typeface="Calibri"/>
              <a:sym typeface="Calibri"/>
            </a:endParaRPr>
          </a:p>
          <a:p>
            <a:pPr marL="0" marR="0" lvl="0" indent="-165100" algn="l" rtl="0">
              <a:lnSpc>
                <a:spcPct val="80000"/>
              </a:lnSpc>
              <a:spcBef>
                <a:spcPts val="1000"/>
              </a:spcBef>
              <a:spcAft>
                <a:spcPts val="0"/>
              </a:spcAft>
              <a:buClr>
                <a:schemeClr val="dk1"/>
              </a:buClr>
              <a:buSzPts val="2600"/>
              <a:buFont typeface="Arial"/>
              <a:buChar char="•"/>
            </a:pPr>
            <a:r>
              <a:rPr lang="en-US" sz="2600" b="0" i="0" u="none" strike="noStrike" cap="none">
                <a:solidFill>
                  <a:schemeClr val="dk1"/>
                </a:solidFill>
                <a:latin typeface="Calibri"/>
                <a:ea typeface="Calibri"/>
                <a:cs typeface="Calibri"/>
                <a:sym typeface="Calibri"/>
              </a:rPr>
              <a:t>During the requirement gathering phase, the analysis and verification of requirements are also considered as testing.</a:t>
            </a:r>
            <a:endParaRPr/>
          </a:p>
          <a:p>
            <a:pPr marL="0" marR="0" lvl="0" indent="0" algn="l" rtl="0">
              <a:lnSpc>
                <a:spcPct val="80000"/>
              </a:lnSpc>
              <a:spcBef>
                <a:spcPts val="1000"/>
              </a:spcBef>
              <a:spcAft>
                <a:spcPts val="0"/>
              </a:spcAft>
              <a:buClr>
                <a:schemeClr val="dk1"/>
              </a:buClr>
              <a:buSzPts val="2600"/>
              <a:buFont typeface="Arial"/>
              <a:buNone/>
            </a:pPr>
            <a:endParaRPr sz="2600" b="0" i="0" u="none" strike="noStrike" cap="none">
              <a:solidFill>
                <a:schemeClr val="dk1"/>
              </a:solidFill>
              <a:latin typeface="Calibri"/>
              <a:ea typeface="Calibri"/>
              <a:cs typeface="Calibri"/>
              <a:sym typeface="Calibri"/>
            </a:endParaRPr>
          </a:p>
          <a:p>
            <a:pPr marL="0" marR="0" lvl="0" indent="-165100" algn="l" rtl="0">
              <a:lnSpc>
                <a:spcPct val="80000"/>
              </a:lnSpc>
              <a:spcBef>
                <a:spcPts val="1000"/>
              </a:spcBef>
              <a:spcAft>
                <a:spcPts val="0"/>
              </a:spcAft>
              <a:buClr>
                <a:schemeClr val="dk1"/>
              </a:buClr>
              <a:buSzPts val="2600"/>
              <a:buFont typeface="Arial"/>
              <a:buChar char="•"/>
            </a:pPr>
            <a:r>
              <a:rPr lang="en-US" sz="2600" b="0" i="0" u="none" strike="noStrike" cap="none">
                <a:solidFill>
                  <a:schemeClr val="dk1"/>
                </a:solidFill>
                <a:latin typeface="Calibri"/>
                <a:ea typeface="Calibri"/>
                <a:cs typeface="Calibri"/>
                <a:sym typeface="Calibri"/>
              </a:rPr>
              <a:t>Reviewing the design in the design phase with the intent to improve the design is also considered as testing.</a:t>
            </a:r>
            <a:endParaRPr/>
          </a:p>
          <a:p>
            <a:pPr marL="0" marR="0" lvl="0" indent="0" algn="l" rtl="0">
              <a:lnSpc>
                <a:spcPct val="80000"/>
              </a:lnSpc>
              <a:spcBef>
                <a:spcPts val="1000"/>
              </a:spcBef>
              <a:spcAft>
                <a:spcPts val="0"/>
              </a:spcAft>
              <a:buClr>
                <a:schemeClr val="dk1"/>
              </a:buClr>
              <a:buSzPts val="2600"/>
              <a:buFont typeface="Arial"/>
              <a:buNone/>
            </a:pPr>
            <a:endParaRPr sz="2600" b="0" i="0" u="none" strike="noStrike" cap="none">
              <a:solidFill>
                <a:schemeClr val="dk1"/>
              </a:solidFill>
              <a:latin typeface="Calibri"/>
              <a:ea typeface="Calibri"/>
              <a:cs typeface="Calibri"/>
              <a:sym typeface="Calibri"/>
            </a:endParaRPr>
          </a:p>
          <a:p>
            <a:pPr marL="0" marR="0" lvl="0" indent="-203200" algn="l" rtl="0">
              <a:lnSpc>
                <a:spcPct val="80000"/>
              </a:lnSpc>
              <a:spcBef>
                <a:spcPts val="1000"/>
              </a:spcBef>
              <a:spcAft>
                <a:spcPts val="0"/>
              </a:spcAft>
              <a:buClr>
                <a:schemeClr val="dk1"/>
              </a:buClr>
              <a:buSzPts val="3200"/>
              <a:buFont typeface="Arial"/>
              <a:buChar char="•"/>
            </a:pPr>
            <a:r>
              <a:rPr lang="en-US" sz="3200" b="0" i="0" u="sng" strike="noStrike" cap="none">
                <a:solidFill>
                  <a:schemeClr val="dk1"/>
                </a:solidFill>
                <a:latin typeface="Calibri"/>
                <a:ea typeface="Calibri"/>
                <a:cs typeface="Calibri"/>
                <a:sym typeface="Calibri"/>
              </a:rPr>
              <a:t>Testing performed by a developer on completion of the code is also categorized as testing.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8"/>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When to Stop Testing?</a:t>
            </a:r>
            <a:endParaRPr/>
          </a:p>
        </p:txBody>
      </p:sp>
      <p:sp>
        <p:nvSpPr>
          <p:cNvPr id="122" name="Google Shape;122;p18"/>
          <p:cNvSpPr txBox="1">
            <a:spLocks noGrp="1"/>
          </p:cNvSpPr>
          <p:nvPr>
            <p:ph type="body" idx="1"/>
          </p:nvPr>
        </p:nvSpPr>
        <p:spPr>
          <a:xfrm>
            <a:off x="400050" y="2500312"/>
            <a:ext cx="10953750" cy="3992562"/>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2400"/>
              <a:buFont typeface="Arial"/>
              <a:buNone/>
            </a:pPr>
            <a:r>
              <a:rPr lang="en-US" sz="2400" b="0" i="0" u="none" strike="noStrike" cap="none">
                <a:solidFill>
                  <a:schemeClr val="dk1"/>
                </a:solidFill>
                <a:latin typeface="Calibri"/>
                <a:ea typeface="Calibri"/>
                <a:cs typeface="Calibri"/>
                <a:sym typeface="Calibri"/>
              </a:rPr>
              <a:t>It is difficult to determine when to stop testing, as testing is a never-ending process and no one can claim that a software is 100% tested. The following aspects are to be considered for stopping the testing process:</a:t>
            </a:r>
            <a:endParaRPr/>
          </a:p>
          <a:p>
            <a:pPr marL="0" marR="0" lvl="0" indent="-152400" algn="l" rtl="0">
              <a:lnSpc>
                <a:spcPct val="90000"/>
              </a:lnSpc>
              <a:spcBef>
                <a:spcPts val="10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Testing Deadlines</a:t>
            </a:r>
            <a:endParaRPr/>
          </a:p>
          <a:p>
            <a:pPr marL="0" marR="0" lvl="0" indent="-152400" algn="l" rtl="0">
              <a:lnSpc>
                <a:spcPct val="90000"/>
              </a:lnSpc>
              <a:spcBef>
                <a:spcPts val="10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Completion of test case execution</a:t>
            </a:r>
            <a:endParaRPr/>
          </a:p>
          <a:p>
            <a:pPr marL="0" marR="0" lvl="0" indent="-152400" algn="l" rtl="0">
              <a:lnSpc>
                <a:spcPct val="90000"/>
              </a:lnSpc>
              <a:spcBef>
                <a:spcPts val="10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Completion of functional and code coverage to a certain point</a:t>
            </a:r>
            <a:endParaRPr/>
          </a:p>
          <a:p>
            <a:pPr marL="0" marR="0" lvl="0" indent="-152400" algn="l" rtl="0">
              <a:lnSpc>
                <a:spcPct val="90000"/>
              </a:lnSpc>
              <a:spcBef>
                <a:spcPts val="10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Bug rate falls below a certain level and no high-priority bugs are identified</a:t>
            </a:r>
            <a:endParaRPr/>
          </a:p>
          <a:p>
            <a:pPr marL="0" marR="0" lvl="0" indent="-152400" algn="l" rtl="0">
              <a:lnSpc>
                <a:spcPct val="90000"/>
              </a:lnSpc>
              <a:spcBef>
                <a:spcPts val="10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Management decision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9"/>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endParaRPr sz="4400">
              <a:solidFill>
                <a:schemeClr val="dk1"/>
              </a:solidFill>
              <a:latin typeface="Calibri"/>
              <a:ea typeface="Calibri"/>
              <a:cs typeface="Calibri"/>
              <a:sym typeface="Calibri"/>
            </a:endParaRPr>
          </a:p>
        </p:txBody>
      </p:sp>
      <p:sp>
        <p:nvSpPr>
          <p:cNvPr id="128" name="Google Shape;128;p19"/>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rmAutofit/>
          </a:bodyPr>
          <a:lstStyle/>
          <a:p>
            <a:pPr marL="228600" marR="0" lvl="0" indent="-228600" algn="just" rtl="0">
              <a:lnSpc>
                <a:spcPct val="80000"/>
              </a:lnSpc>
              <a:spcBef>
                <a:spcPts val="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Functional coverage refers to the extent to which the software has been tested to ensure that it meets its intended functionality or requirements. </a:t>
            </a:r>
            <a:endParaRPr/>
          </a:p>
          <a:p>
            <a:pPr marL="228600" marR="0" lvl="0" indent="-228600" algn="just" rtl="0">
              <a:lnSpc>
                <a:spcPct val="80000"/>
              </a:lnSpc>
              <a:spcBef>
                <a:spcPts val="100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Code coverage, on the other hand, refers to the percentage of code that has been tested through automated testing or other methods.</a:t>
            </a:r>
            <a:endParaRPr/>
          </a:p>
          <a:p>
            <a:pPr marL="228600" marR="0" lvl="0" indent="-228600" algn="just" rtl="0">
              <a:lnSpc>
                <a:spcPct val="80000"/>
              </a:lnSpc>
              <a:spcBef>
                <a:spcPts val="100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It's important to note that achieving complete functional and code coverage is often difficult or even impossible, particularly for large or complex software projects. Instead, testing efforts typically focus on testing the most critical and high-risk parts of the code, while acknowledging that some areas may remain untested or under-tested.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0"/>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endParaRPr sz="4400">
              <a:solidFill>
                <a:schemeClr val="dk1"/>
              </a:solidFill>
              <a:latin typeface="Calibri"/>
              <a:ea typeface="Calibri"/>
              <a:cs typeface="Calibri"/>
              <a:sym typeface="Calibri"/>
            </a:endParaRPr>
          </a:p>
        </p:txBody>
      </p:sp>
      <p:sp>
        <p:nvSpPr>
          <p:cNvPr id="134" name="Google Shape;134;p20"/>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228600" marR="0" lvl="0" indent="-50800" algn="l" rtl="0">
              <a:lnSpc>
                <a:spcPct val="90000"/>
              </a:lnSpc>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pic>
        <p:nvPicPr>
          <p:cNvPr id="135" name="Google Shape;135;p20"/>
          <p:cNvPicPr preferRelativeResize="0"/>
          <p:nvPr/>
        </p:nvPicPr>
        <p:blipFill rotWithShape="1">
          <a:blip r:embed="rId3">
            <a:alphaModFix/>
          </a:blip>
          <a:srcRect/>
          <a:stretch/>
        </p:blipFill>
        <p:spPr>
          <a:xfrm>
            <a:off x="604837" y="242887"/>
            <a:ext cx="10353675" cy="60594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endParaRPr sz="4400">
              <a:solidFill>
                <a:schemeClr val="dk1"/>
              </a:solidFill>
              <a:latin typeface="Calibri"/>
              <a:ea typeface="Calibri"/>
              <a:cs typeface="Calibri"/>
              <a:sym typeface="Calibri"/>
            </a:endParaRPr>
          </a:p>
        </p:txBody>
      </p:sp>
      <p:sp>
        <p:nvSpPr>
          <p:cNvPr id="141" name="Google Shape;141;p21"/>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228600" marR="0" lvl="0" indent="-50800" algn="l" rtl="0">
              <a:lnSpc>
                <a:spcPct val="90000"/>
              </a:lnSpc>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pic>
        <p:nvPicPr>
          <p:cNvPr id="142" name="Google Shape;142;p21"/>
          <p:cNvPicPr preferRelativeResize="0"/>
          <p:nvPr/>
        </p:nvPicPr>
        <p:blipFill rotWithShape="1">
          <a:blip r:embed="rId3">
            <a:alphaModFix/>
          </a:blip>
          <a:srcRect/>
          <a:stretch/>
        </p:blipFill>
        <p:spPr>
          <a:xfrm>
            <a:off x="704850" y="365125"/>
            <a:ext cx="10648950" cy="6232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endParaRPr sz="4400">
              <a:solidFill>
                <a:schemeClr val="dk1"/>
              </a:solidFill>
              <a:latin typeface="Calibri"/>
              <a:ea typeface="Calibri"/>
              <a:cs typeface="Calibri"/>
              <a:sym typeface="Calibri"/>
            </a:endParaRPr>
          </a:p>
        </p:txBody>
      </p:sp>
      <p:sp>
        <p:nvSpPr>
          <p:cNvPr id="148" name="Google Shape;148;p22"/>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Our objective with Inspections is to reduce the Cost of Quality by finding and removing defects earlier and at a lower cost.</a:t>
            </a:r>
            <a:endParaRPr/>
          </a:p>
          <a:p>
            <a:pPr marL="228600" marR="0" lvl="0" indent="-50800" algn="l" rtl="0">
              <a:lnSpc>
                <a:spcPct val="90000"/>
              </a:lnSpc>
              <a:spcBef>
                <a:spcPts val="1000"/>
              </a:spcBef>
              <a:spcAft>
                <a:spcPts val="0"/>
              </a:spcAft>
              <a:buClr>
                <a:schemeClr val="dk1"/>
              </a:buClr>
              <a:buSzPts val="2800"/>
              <a:buFont typeface="Arial"/>
              <a:buNone/>
            </a:pPr>
            <a:endParaRPr sz="2800" b="0" i="0" u="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24" descr="Lightbox"/>
          <p:cNvPicPr preferRelativeResize="0"/>
          <p:nvPr/>
        </p:nvPicPr>
        <p:blipFill rotWithShape="1">
          <a:blip r:embed="rId3">
            <a:alphaModFix/>
          </a:blip>
          <a:srcRect/>
          <a:stretch/>
        </p:blipFill>
        <p:spPr>
          <a:xfrm>
            <a:off x="938212" y="385762"/>
            <a:ext cx="9920287" cy="6086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5"/>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endParaRPr sz="4400">
              <a:solidFill>
                <a:schemeClr val="dk1"/>
              </a:solidFill>
              <a:latin typeface="Calibri"/>
              <a:ea typeface="Calibri"/>
              <a:cs typeface="Calibri"/>
              <a:sym typeface="Calibri"/>
            </a:endParaRPr>
          </a:p>
        </p:txBody>
      </p:sp>
      <p:sp>
        <p:nvSpPr>
          <p:cNvPr id="164" name="Google Shape;164;p25"/>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600"/>
              <a:buFont typeface="Arial"/>
              <a:buNone/>
            </a:pPr>
            <a:r>
              <a:rPr lang="en-US" sz="3600" b="0" i="0" u="none">
                <a:solidFill>
                  <a:schemeClr val="dk1"/>
                </a:solidFill>
                <a:latin typeface="Calibri"/>
                <a:ea typeface="Calibri"/>
                <a:cs typeface="Calibri"/>
                <a:sym typeface="Calibri"/>
              </a:rPr>
              <a:t>Requirements, architecture, design documents………</a:t>
            </a:r>
            <a:endParaRPr/>
          </a:p>
          <a:p>
            <a:pPr marL="0" marR="0" lvl="0" indent="0" algn="l" rtl="0">
              <a:lnSpc>
                <a:spcPct val="90000"/>
              </a:lnSpc>
              <a:spcBef>
                <a:spcPts val="1000"/>
              </a:spcBef>
              <a:spcAft>
                <a:spcPts val="0"/>
              </a:spcAft>
              <a:buClr>
                <a:schemeClr val="dk1"/>
              </a:buClr>
              <a:buSzPts val="3600"/>
              <a:buFont typeface="Arial"/>
              <a:buNone/>
            </a:pPr>
            <a:r>
              <a:rPr lang="en-US" sz="3600" b="0" i="0" u="none">
                <a:solidFill>
                  <a:schemeClr val="dk1"/>
                </a:solidFill>
                <a:latin typeface="Calibri"/>
                <a:ea typeface="Calibri"/>
                <a:cs typeface="Calibri"/>
                <a:sym typeface="Calibri"/>
              </a:rPr>
              <a:t>Cannot “execute” these as a test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6"/>
          <p:cNvSpPr txBox="1">
            <a:spLocks noGrp="1"/>
          </p:cNvSpPr>
          <p:nvPr>
            <p:ph type="title"/>
          </p:nvPr>
        </p:nvSpPr>
        <p:spPr>
          <a:xfrm>
            <a:off x="295275" y="0"/>
            <a:ext cx="10515600" cy="10144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endParaRPr dirty="0"/>
          </a:p>
        </p:txBody>
      </p:sp>
      <p:graphicFrame>
        <p:nvGraphicFramePr>
          <p:cNvPr id="170" name="Google Shape;170;p26"/>
          <p:cNvGraphicFramePr/>
          <p:nvPr/>
        </p:nvGraphicFramePr>
        <p:xfrm>
          <a:off x="295275" y="1014412"/>
          <a:ext cx="11206150" cy="5529200"/>
        </p:xfrm>
        <a:graphic>
          <a:graphicData uri="http://schemas.openxmlformats.org/drawingml/2006/table">
            <a:tbl>
              <a:tblPr>
                <a:noFill/>
              </a:tblPr>
              <a:tblGrid>
                <a:gridCol w="5286375">
                  <a:extLst>
                    <a:ext uri="{9D8B030D-6E8A-4147-A177-3AD203B41FA5}">
                      <a16:colId xmlns:a16="http://schemas.microsoft.com/office/drawing/2014/main" val="20000"/>
                    </a:ext>
                  </a:extLst>
                </a:gridCol>
                <a:gridCol w="5919775">
                  <a:extLst>
                    <a:ext uri="{9D8B030D-6E8A-4147-A177-3AD203B41FA5}">
                      <a16:colId xmlns:a16="http://schemas.microsoft.com/office/drawing/2014/main" val="20001"/>
                    </a:ext>
                  </a:extLst>
                </a:gridCol>
              </a:tblGrid>
              <a:tr h="604825">
                <a:tc>
                  <a:txBody>
                    <a:bodyPr/>
                    <a:lstStyle/>
                    <a:p>
                      <a:pPr marL="0" marR="0" lvl="0" indent="0" algn="l" rtl="0">
                        <a:lnSpc>
                          <a:spcPct val="100000"/>
                        </a:lnSpc>
                        <a:spcBef>
                          <a:spcPts val="0"/>
                        </a:spcBef>
                        <a:spcAft>
                          <a:spcPts val="0"/>
                        </a:spcAft>
                        <a:buClr>
                          <a:schemeClr val="dk1"/>
                        </a:buClr>
                        <a:buSzPts val="2400"/>
                        <a:buFont typeface="Calibri"/>
                        <a:buNone/>
                      </a:pPr>
                      <a:r>
                        <a:rPr lang="en-US" sz="2400" b="1" i="0" u="none" strike="noStrike" cap="none">
                          <a:solidFill>
                            <a:schemeClr val="dk1"/>
                          </a:solidFill>
                          <a:latin typeface="Calibri"/>
                          <a:ea typeface="Calibri"/>
                          <a:cs typeface="Calibri"/>
                          <a:sym typeface="Calibri"/>
                        </a:rPr>
                        <a:t>Verification</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chemeClr val="dk1"/>
                        </a:buClr>
                        <a:buSzPts val="2400"/>
                        <a:buFont typeface="Calibri"/>
                        <a:buNone/>
                      </a:pPr>
                      <a:r>
                        <a:rPr lang="en-US" sz="2400" b="1" i="0" u="none" strike="noStrike" cap="none">
                          <a:solidFill>
                            <a:schemeClr val="dk1"/>
                          </a:solidFill>
                          <a:latin typeface="Calibri"/>
                          <a:ea typeface="Calibri"/>
                          <a:cs typeface="Calibri"/>
                          <a:sym typeface="Calibri"/>
                        </a:rPr>
                        <a:t>Validation</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912800">
                <a:tc>
                  <a:txBody>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Verification addresses the concern: "Are you building it right?"</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Validation addresses the concern: "Are you building the right thing?"</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1"/>
                  </a:ext>
                </a:extLst>
              </a:tr>
              <a:tr h="912800">
                <a:tc>
                  <a:txBody>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Ensures that the software system meets all the functionality.</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Ensures that the functionalities meet the intended behavior.</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2"/>
                  </a:ext>
                </a:extLst>
              </a:tr>
              <a:tr h="1265225">
                <a:tc>
                  <a:txBody>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Verification takes place first and includes the checking for documentation, code, etc.</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Validation occurs after verification and mainly involves the checking of the overall product.</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3"/>
                  </a:ext>
                </a:extLst>
              </a:tr>
              <a:tr h="555625">
                <a:tc>
                  <a:txBody>
                    <a:bodyPr/>
                    <a:lstStyle/>
                    <a:p>
                      <a:pPr marL="0" marR="0" lvl="0" indent="0" algn="l"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Done by developers.</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Done by testers.</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4"/>
                  </a:ext>
                </a:extLst>
              </a:tr>
              <a:tr h="1277925">
                <a:tc>
                  <a:txBody>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It has static activities, as it includes collecting reviews, walkthroughs, and inspections to verify a software.</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It has dynamic activities, as it includes executing the software against the requirements.</a:t>
                      </a:r>
                      <a:endParaRPr/>
                    </a:p>
                  </a:txBody>
                  <a:tcPr marL="63100" marR="63100"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QA vs QC vs Testing</a:t>
            </a:r>
            <a:endParaRPr/>
          </a:p>
        </p:txBody>
      </p:sp>
      <p:sp>
        <p:nvSpPr>
          <p:cNvPr id="236" name="Google Shape;236;p37"/>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Char char="•"/>
            </a:pPr>
            <a:r>
              <a:rPr lang="en-US" sz="2800" b="0" i="0" u="none" dirty="0">
                <a:solidFill>
                  <a:schemeClr val="dk1"/>
                </a:solidFill>
                <a:latin typeface="Calibri"/>
                <a:ea typeface="Calibri"/>
                <a:cs typeface="Calibri"/>
                <a:sym typeface="Calibri"/>
              </a:rPr>
              <a:t>QA , QC already discussed </a:t>
            </a:r>
          </a:p>
          <a:p>
            <a:pPr marL="228600" marR="0" lvl="0" indent="-228600" algn="l" rtl="0">
              <a:lnSpc>
                <a:spcPct val="90000"/>
              </a:lnSpc>
              <a:spcBef>
                <a:spcPts val="0"/>
              </a:spcBef>
              <a:spcAft>
                <a:spcPts val="0"/>
              </a:spcAft>
              <a:buClr>
                <a:schemeClr val="dk1"/>
              </a:buClr>
              <a:buSzPts val="2800"/>
              <a:buFont typeface="Arial"/>
              <a:buChar char="•"/>
            </a:pPr>
            <a:r>
              <a:rPr lang="en-US" sz="2800" b="0" i="0" u="none" dirty="0">
                <a:solidFill>
                  <a:schemeClr val="dk1"/>
                </a:solidFill>
                <a:latin typeface="Calibri"/>
                <a:ea typeface="Calibri"/>
                <a:cs typeface="Calibri"/>
                <a:sym typeface="Calibri"/>
              </a:rPr>
              <a:t>QC vs Testing ?</a:t>
            </a:r>
            <a:endParaRPr dirty="0"/>
          </a:p>
          <a:p>
            <a:pPr marL="228600" marR="0" lvl="0" indent="-228600" algn="l" rtl="0">
              <a:lnSpc>
                <a:spcPct val="90000"/>
              </a:lnSpc>
              <a:spcBef>
                <a:spcPts val="1000"/>
              </a:spcBef>
              <a:spcAft>
                <a:spcPts val="0"/>
              </a:spcAft>
              <a:buClr>
                <a:schemeClr val="dk1"/>
              </a:buClr>
              <a:buSzPts val="2800"/>
              <a:buFont typeface="Arial"/>
              <a:buChar char="•"/>
            </a:pPr>
            <a:r>
              <a:rPr lang="en-US" sz="2800" b="0" i="0" u="none" dirty="0">
                <a:solidFill>
                  <a:schemeClr val="dk1"/>
                </a:solidFill>
                <a:latin typeface="Calibri"/>
                <a:ea typeface="Calibri"/>
                <a:cs typeface="Calibri"/>
                <a:sym typeface="Calibri"/>
              </a:rPr>
              <a:t>They can be considered as same activities, but there exist distinguishing points that set them apart. </a:t>
            </a:r>
            <a:endParaRPr dirty="0"/>
          </a:p>
          <a:p>
            <a:pPr marL="228600" marR="0" lvl="0" indent="-50800" algn="l" rtl="0">
              <a:lnSpc>
                <a:spcPct val="90000"/>
              </a:lnSpc>
              <a:spcBef>
                <a:spcPts val="1000"/>
              </a:spcBef>
              <a:spcAft>
                <a:spcPts val="0"/>
              </a:spcAft>
              <a:buClr>
                <a:schemeClr val="dk1"/>
              </a:buClr>
              <a:buSzPts val="2800"/>
              <a:buFont typeface="Arial"/>
              <a:buNone/>
            </a:pPr>
            <a:endParaRPr sz="2800" b="0" i="0" u="none" dirty="0">
              <a:solidFill>
                <a:schemeClr val="dk1"/>
              </a:solidFill>
              <a:latin typeface="Calibri"/>
              <a:ea typeface="Calibri"/>
              <a:cs typeface="Calibri"/>
              <a:sym typeface="Calibri"/>
            </a:endParaRPr>
          </a:p>
        </p:txBody>
      </p:sp>
      <p:graphicFrame>
        <p:nvGraphicFramePr>
          <p:cNvPr id="237" name="Google Shape;237;p37"/>
          <p:cNvGraphicFramePr/>
          <p:nvPr/>
        </p:nvGraphicFramePr>
        <p:xfrm>
          <a:off x="392112" y="4206875"/>
          <a:ext cx="11407750" cy="2285975"/>
        </p:xfrm>
        <a:graphic>
          <a:graphicData uri="http://schemas.openxmlformats.org/drawingml/2006/table">
            <a:tbl>
              <a:tblPr>
                <a:noFill/>
              </a:tblPr>
              <a:tblGrid>
                <a:gridCol w="5665775">
                  <a:extLst>
                    <a:ext uri="{9D8B030D-6E8A-4147-A177-3AD203B41FA5}">
                      <a16:colId xmlns:a16="http://schemas.microsoft.com/office/drawing/2014/main" val="20000"/>
                    </a:ext>
                  </a:extLst>
                </a:gridCol>
                <a:gridCol w="5741975">
                  <a:extLst>
                    <a:ext uri="{9D8B030D-6E8A-4147-A177-3AD203B41FA5}">
                      <a16:colId xmlns:a16="http://schemas.microsoft.com/office/drawing/2014/main" val="20001"/>
                    </a:ext>
                  </a:extLst>
                </a:gridCol>
              </a:tblGrid>
              <a:tr h="627050">
                <a:tc>
                  <a:txBody>
                    <a:bodyPr/>
                    <a:lstStyle/>
                    <a:p>
                      <a:pPr marL="0" marR="0" lvl="0" indent="0" algn="ctr" rtl="0">
                        <a:lnSpc>
                          <a:spcPct val="100000"/>
                        </a:lnSpc>
                        <a:spcBef>
                          <a:spcPts val="0"/>
                        </a:spcBef>
                        <a:spcAft>
                          <a:spcPts val="0"/>
                        </a:spcAft>
                        <a:buClr>
                          <a:schemeClr val="dk1"/>
                        </a:buClr>
                        <a:buSzPts val="2800"/>
                        <a:buFont typeface="Calibri"/>
                        <a:buNone/>
                      </a:pPr>
                      <a:r>
                        <a:rPr lang="en-US" sz="2800" b="1" i="0" u="none" strike="noStrike" cap="none">
                          <a:solidFill>
                            <a:schemeClr val="dk1"/>
                          </a:solidFill>
                          <a:latin typeface="Calibri"/>
                          <a:ea typeface="Calibri"/>
                          <a:cs typeface="Calibri"/>
                          <a:sym typeface="Calibri"/>
                        </a:rPr>
                        <a:t>QC</a:t>
                      </a:r>
                      <a:endParaRPr/>
                    </a:p>
                  </a:txBody>
                  <a:tcPr marL="63125" marR="63125"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C000"/>
                    </a:solidFill>
                  </a:tcPr>
                </a:tc>
                <a:tc>
                  <a:txBody>
                    <a:bodyPr/>
                    <a:lstStyle/>
                    <a:p>
                      <a:pPr marL="0" marR="0" lvl="0" indent="0" algn="ctr" rtl="0">
                        <a:lnSpc>
                          <a:spcPct val="100000"/>
                        </a:lnSpc>
                        <a:spcBef>
                          <a:spcPts val="0"/>
                        </a:spcBef>
                        <a:spcAft>
                          <a:spcPts val="0"/>
                        </a:spcAft>
                        <a:buClr>
                          <a:schemeClr val="dk1"/>
                        </a:buClr>
                        <a:buSzPts val="2800"/>
                        <a:buFont typeface="Calibri"/>
                        <a:buNone/>
                      </a:pPr>
                      <a:r>
                        <a:rPr lang="en-US" sz="2800" b="1" i="0" u="none" strike="noStrike" cap="none">
                          <a:solidFill>
                            <a:schemeClr val="dk1"/>
                          </a:solidFill>
                          <a:latin typeface="Calibri"/>
                          <a:ea typeface="Calibri"/>
                          <a:cs typeface="Calibri"/>
                          <a:sym typeface="Calibri"/>
                        </a:rPr>
                        <a:t>Testing</a:t>
                      </a:r>
                      <a:endParaRPr/>
                    </a:p>
                  </a:txBody>
                  <a:tcPr marL="63125" marR="63125"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627050">
                <a:tc>
                  <a:txBody>
                    <a:bodyPr/>
                    <a:lstStyle/>
                    <a:p>
                      <a:pPr marL="0" marR="0" lvl="0" indent="0" algn="l" rtl="0">
                        <a:lnSpc>
                          <a:spcPct val="100000"/>
                        </a:lnSpc>
                        <a:spcBef>
                          <a:spcPts val="0"/>
                        </a:spcBef>
                        <a:spcAft>
                          <a:spcPts val="0"/>
                        </a:spcAft>
                        <a:buClr>
                          <a:schemeClr val="dk1"/>
                        </a:buClr>
                        <a:buSzPts val="2800"/>
                        <a:buFont typeface="Calibri"/>
                        <a:buNone/>
                      </a:pPr>
                      <a:r>
                        <a:rPr lang="en-US" sz="2800" b="0" i="0" u="none" strike="noStrike" cap="none">
                          <a:solidFill>
                            <a:schemeClr val="dk1"/>
                          </a:solidFill>
                          <a:latin typeface="Calibri"/>
                          <a:ea typeface="Calibri"/>
                          <a:cs typeface="Calibri"/>
                          <a:sym typeface="Calibri"/>
                        </a:rPr>
                        <a:t>It is a corrective process.</a:t>
                      </a:r>
                      <a:endParaRPr/>
                    </a:p>
                  </a:txBody>
                  <a:tcPr marL="63125" marR="63125"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r>
                        <a:rPr lang="en-US" sz="2800" b="0" i="0" u="none" strike="noStrike" cap="none">
                          <a:solidFill>
                            <a:schemeClr val="dk1"/>
                          </a:solidFill>
                          <a:latin typeface="Calibri"/>
                          <a:ea typeface="Calibri"/>
                          <a:cs typeface="Calibri"/>
                          <a:sym typeface="Calibri"/>
                        </a:rPr>
                        <a:t>It is a preventive process.</a:t>
                      </a:r>
                      <a:endParaRPr/>
                    </a:p>
                  </a:txBody>
                  <a:tcPr marL="63125" marR="63125"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1"/>
                  </a:ext>
                </a:extLst>
              </a:tr>
              <a:tr h="1031875">
                <a:tc>
                  <a:txBody>
                    <a:bodyPr/>
                    <a:lstStyle/>
                    <a:p>
                      <a:pPr marL="0" marR="0" lvl="0" indent="0" algn="l" rtl="0">
                        <a:lnSpc>
                          <a:spcPct val="100000"/>
                        </a:lnSpc>
                        <a:spcBef>
                          <a:spcPts val="0"/>
                        </a:spcBef>
                        <a:spcAft>
                          <a:spcPts val="0"/>
                        </a:spcAft>
                        <a:buClr>
                          <a:schemeClr val="dk1"/>
                        </a:buClr>
                        <a:buSzPts val="2800"/>
                        <a:buFont typeface="Calibri"/>
                        <a:buNone/>
                      </a:pPr>
                      <a:r>
                        <a:rPr lang="en-US" sz="2800" b="0" i="0" u="none" strike="noStrike" cap="none">
                          <a:solidFill>
                            <a:schemeClr val="dk1"/>
                          </a:solidFill>
                          <a:latin typeface="Calibri"/>
                          <a:ea typeface="Calibri"/>
                          <a:cs typeface="Calibri"/>
                          <a:sym typeface="Calibri"/>
                        </a:rPr>
                        <a:t>QC can be considered as the subset of Quality Assurance.</a:t>
                      </a:r>
                      <a:endParaRPr/>
                    </a:p>
                  </a:txBody>
                  <a:tcPr marL="63125" marR="63125"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r>
                        <a:rPr lang="en-US" sz="2800" b="0" i="0" u="none" strike="noStrike" cap="none">
                          <a:solidFill>
                            <a:schemeClr val="dk1"/>
                          </a:solidFill>
                          <a:latin typeface="Calibri"/>
                          <a:ea typeface="Calibri"/>
                          <a:cs typeface="Calibri"/>
                          <a:sym typeface="Calibri"/>
                        </a:rPr>
                        <a:t>Testing is the subset of Quality Control.</a:t>
                      </a:r>
                      <a:endParaRPr/>
                    </a:p>
                  </a:txBody>
                  <a:tcPr marL="63125" marR="63125" marT="63100" marB="63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9"/>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Software testing strategies (basic level)</a:t>
            </a:r>
            <a:endParaRPr/>
          </a:p>
        </p:txBody>
      </p:sp>
      <p:sp>
        <p:nvSpPr>
          <p:cNvPr id="308" name="Google Shape;308;p49"/>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 To test the software in its entirety, once the completed package is available; otherwise known as “big bang testing”.</a:t>
            </a:r>
            <a:endParaRPr/>
          </a:p>
          <a:p>
            <a:pPr marL="0" marR="0" lvl="0" indent="0" algn="l" rtl="0">
              <a:lnSpc>
                <a:spcPct val="90000"/>
              </a:lnSpc>
              <a:spcBef>
                <a:spcPts val="100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 ■ To test the software piecemeal, in modules, as they are completed (unit tests); then to test groups of tested modules integrated with newly completed modules (integration tests). This process continues until all the package modules have been tested. Once this phase is completed, the entire package is tested as a whole (system test). This testing strategy is usually termed “incremental testing”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0"/>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Bottom-up and top-down</a:t>
            </a:r>
            <a:endParaRPr/>
          </a:p>
        </p:txBody>
      </p:sp>
      <p:sp>
        <p:nvSpPr>
          <p:cNvPr id="314" name="Google Shape;314;p50"/>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Incremental testing is also performed according to two basic strategies: bottom-up and top-down. Both incremental testing strategies assume that the software package is constructed of a hierarchy of software modules. </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In top-down testing, the first module tested is the main module, the highest level module in the software structure; the last modules to be tested are the lowest level modules.</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 In bottom-up testing, the order of testing is reversed: the lowest level modules are tested first, with the main module tested last.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1"/>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endParaRPr sz="4400">
              <a:solidFill>
                <a:schemeClr val="dk1"/>
              </a:solidFill>
              <a:latin typeface="Calibri"/>
              <a:ea typeface="Calibri"/>
              <a:cs typeface="Calibri"/>
              <a:sym typeface="Calibri"/>
            </a:endParaRPr>
          </a:p>
        </p:txBody>
      </p:sp>
      <p:sp>
        <p:nvSpPr>
          <p:cNvPr id="320" name="Google Shape;320;p51"/>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228600" marR="0" lvl="0" indent="-50800" algn="l" rtl="0">
              <a:lnSpc>
                <a:spcPct val="90000"/>
              </a:lnSpc>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pic>
        <p:nvPicPr>
          <p:cNvPr id="321" name="Google Shape;321;p51"/>
          <p:cNvPicPr preferRelativeResize="0"/>
          <p:nvPr/>
        </p:nvPicPr>
        <p:blipFill rotWithShape="1">
          <a:blip r:embed="rId3">
            <a:alphaModFix/>
          </a:blip>
          <a:srcRect/>
          <a:stretch/>
        </p:blipFill>
        <p:spPr>
          <a:xfrm>
            <a:off x="838200" y="230187"/>
            <a:ext cx="10034587" cy="5613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endParaRPr sz="4400">
              <a:solidFill>
                <a:schemeClr val="dk1"/>
              </a:solidFill>
              <a:latin typeface="Calibri"/>
              <a:ea typeface="Calibri"/>
              <a:cs typeface="Calibri"/>
              <a:sym typeface="Calibri"/>
            </a:endParaRPr>
          </a:p>
        </p:txBody>
      </p:sp>
      <p:sp>
        <p:nvSpPr>
          <p:cNvPr id="327" name="Google Shape;327;p52"/>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228600" marR="0" lvl="0" indent="-50800" algn="l" rtl="0">
              <a:lnSpc>
                <a:spcPct val="90000"/>
              </a:lnSpc>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pic>
        <p:nvPicPr>
          <p:cNvPr id="328" name="Google Shape;328;p52"/>
          <p:cNvPicPr preferRelativeResize="0"/>
          <p:nvPr/>
        </p:nvPicPr>
        <p:blipFill rotWithShape="1">
          <a:blip r:embed="rId3">
            <a:alphaModFix/>
          </a:blip>
          <a:srcRect/>
          <a:stretch/>
        </p:blipFill>
        <p:spPr>
          <a:xfrm>
            <a:off x="1831975" y="0"/>
            <a:ext cx="7339012" cy="6607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3"/>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Another way to classify</a:t>
            </a:r>
            <a:endParaRPr/>
          </a:p>
        </p:txBody>
      </p:sp>
      <p:sp>
        <p:nvSpPr>
          <p:cNvPr id="334" name="Google Shape;334;p53"/>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600"/>
              <a:buFont typeface="Arial"/>
              <a:buNone/>
            </a:pPr>
            <a:r>
              <a:rPr lang="en-US" sz="3600" b="1" i="0" u="none">
                <a:solidFill>
                  <a:schemeClr val="dk1"/>
                </a:solidFill>
                <a:latin typeface="Calibri"/>
                <a:ea typeface="Calibri"/>
                <a:cs typeface="Calibri"/>
                <a:sym typeface="Calibri"/>
              </a:rPr>
              <a:t>Breadth first testing: </a:t>
            </a:r>
            <a:r>
              <a:rPr lang="en-US" sz="2800" b="0" i="0" u="none">
                <a:solidFill>
                  <a:schemeClr val="dk1"/>
                </a:solidFill>
                <a:latin typeface="Calibri"/>
                <a:ea typeface="Calibri"/>
                <a:cs typeface="Calibri"/>
                <a:sym typeface="Calibri"/>
              </a:rPr>
              <a:t>This testing strategy involves testing all the features of a system at a high level, then going back and testing each feature in more detail. This means that all the features of the system are tested at a similar level of depth before moving on to the next feature. </a:t>
            </a:r>
            <a:endParaRPr/>
          </a:p>
          <a:p>
            <a:pPr marL="0" marR="0" lvl="0" indent="0" algn="l" rtl="0">
              <a:lnSpc>
                <a:spcPct val="90000"/>
              </a:lnSpc>
              <a:spcBef>
                <a:spcPts val="100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The main advantage of this approach is that it ensures that all the features of the system are tested, and any major issues are caught early 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54"/>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endParaRPr sz="4400">
              <a:solidFill>
                <a:schemeClr val="dk1"/>
              </a:solidFill>
              <a:latin typeface="Calibri"/>
              <a:ea typeface="Calibri"/>
              <a:cs typeface="Calibri"/>
              <a:sym typeface="Calibri"/>
            </a:endParaRPr>
          </a:p>
        </p:txBody>
      </p:sp>
      <p:sp>
        <p:nvSpPr>
          <p:cNvPr id="340" name="Google Shape;340;p54"/>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600"/>
              <a:buFont typeface="Arial"/>
              <a:buNone/>
            </a:pPr>
            <a:r>
              <a:rPr lang="en-US" sz="3600" b="1" i="0" u="none">
                <a:solidFill>
                  <a:schemeClr val="dk1"/>
                </a:solidFill>
                <a:latin typeface="Calibri"/>
                <a:ea typeface="Calibri"/>
                <a:cs typeface="Calibri"/>
                <a:sym typeface="Calibri"/>
              </a:rPr>
              <a:t>Depth first testing: </a:t>
            </a:r>
            <a:r>
              <a:rPr lang="en-US" sz="2800" b="0" i="0" u="none">
                <a:solidFill>
                  <a:schemeClr val="dk1"/>
                </a:solidFill>
                <a:latin typeface="Calibri"/>
                <a:ea typeface="Calibri"/>
                <a:cs typeface="Calibri"/>
                <a:sym typeface="Calibri"/>
              </a:rPr>
              <a:t>In this approach, one feature or component of the system is tested in detail before moving on to the next one. This means that the tester spends more time testing a particular feature or component, and moves on to the next one only after they are satisfied that the current feature is working as expected. </a:t>
            </a:r>
            <a:endParaRPr/>
          </a:p>
          <a:p>
            <a:pPr marL="0" marR="0" lvl="0" indent="0" algn="l" rtl="0">
              <a:lnSpc>
                <a:spcPct val="90000"/>
              </a:lnSpc>
              <a:spcBef>
                <a:spcPts val="100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The main advantage of this approach is that it allows the tester to focus on the details of each feature, and uncover any subtle issues that might be missed in a higher-level test.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6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Classification according to testing concept</a:t>
            </a:r>
            <a:endParaRPr/>
          </a:p>
        </p:txBody>
      </p:sp>
      <p:sp>
        <p:nvSpPr>
          <p:cNvPr id="388" name="Google Shape;388;p62"/>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rmAutofit/>
          </a:bodyPr>
          <a:lstStyle/>
          <a:p>
            <a:pPr marL="0" indent="0" algn="just">
              <a:lnSpc>
                <a:spcPct val="80000"/>
              </a:lnSpc>
              <a:spcBef>
                <a:spcPts val="0"/>
              </a:spcBef>
              <a:buClr>
                <a:schemeClr val="dk1"/>
              </a:buClr>
              <a:buSzPts val="2800"/>
              <a:buNone/>
            </a:pPr>
            <a:r>
              <a:rPr lang="en-US" sz="2800" b="0" i="0" u="none" dirty="0">
                <a:solidFill>
                  <a:schemeClr val="dk1"/>
                </a:solidFill>
                <a:latin typeface="Calibri"/>
                <a:ea typeface="Calibri"/>
                <a:cs typeface="Calibri"/>
                <a:sym typeface="Calibri"/>
              </a:rPr>
              <a:t>■ Black box (functionality) testing. Identifies bugs only according to software malfunctioning as they are revealed in its erroneous outputs. In cases that the outputs are found to be correct, black box testing disregards the internal path of calculations and processing performed.</a:t>
            </a:r>
          </a:p>
          <a:p>
            <a:pPr marL="0" indent="0" algn="just">
              <a:lnSpc>
                <a:spcPct val="80000"/>
              </a:lnSpc>
              <a:spcBef>
                <a:spcPts val="0"/>
              </a:spcBef>
              <a:buClr>
                <a:schemeClr val="dk1"/>
              </a:buClr>
              <a:buSzPts val="2800"/>
              <a:buNone/>
            </a:pPr>
            <a:endParaRPr lang="en-US" dirty="0">
              <a:solidFill>
                <a:schemeClr val="dk1"/>
              </a:solidFill>
              <a:latin typeface="Calibri"/>
              <a:ea typeface="Calibri"/>
              <a:cs typeface="Calibri"/>
              <a:sym typeface="Calibri"/>
            </a:endParaRPr>
          </a:p>
          <a:p>
            <a:pPr marL="0" indent="0" algn="just">
              <a:lnSpc>
                <a:spcPct val="80000"/>
              </a:lnSpc>
              <a:spcBef>
                <a:spcPts val="0"/>
              </a:spcBef>
              <a:buClr>
                <a:schemeClr val="dk1"/>
              </a:buClr>
              <a:buSzPts val="2800"/>
              <a:buNone/>
            </a:pPr>
            <a:r>
              <a:rPr lang="en-US" sz="2800" b="0" i="0" u="none" dirty="0">
                <a:solidFill>
                  <a:schemeClr val="dk1"/>
                </a:solidFill>
                <a:latin typeface="Calibri"/>
                <a:ea typeface="Calibri"/>
                <a:cs typeface="Calibri"/>
                <a:sym typeface="Calibri"/>
              </a:rPr>
              <a:t> </a:t>
            </a:r>
            <a:r>
              <a:rPr lang="en-US" dirty="0">
                <a:solidFill>
                  <a:schemeClr val="dk1"/>
                </a:solidFill>
                <a:ea typeface="Calibri"/>
                <a:cs typeface="Calibri"/>
                <a:sym typeface="Calibri"/>
              </a:rPr>
              <a:t>■ White box (structural) testing. Examines internal calculation paths in order to identify bugs. Although the term “white” is meant to emphasize the contrast between this method and black box testing, the method’s other name – “glass box testing” – better expresses its basic characteristic, that of investigating the correctness of code structure</a:t>
            </a:r>
            <a:endParaRPr lang="en-US" dirty="0"/>
          </a:p>
          <a:p>
            <a:pPr marL="0" marR="0" lvl="0" indent="0" algn="just" rtl="0">
              <a:lnSpc>
                <a:spcPct val="80000"/>
              </a:lnSpc>
              <a:spcBef>
                <a:spcPts val="0"/>
              </a:spcBef>
              <a:spcAft>
                <a:spcPts val="0"/>
              </a:spcAft>
              <a:buClr>
                <a:schemeClr val="dk1"/>
              </a:buClr>
              <a:buSzPts val="2800"/>
              <a:buNone/>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1501</Words>
  <Application>Microsoft Office PowerPoint</Application>
  <PresentationFormat>Widescreen</PresentationFormat>
  <Paragraphs>121</Paragraphs>
  <Slides>26</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Calibri Light</vt:lpstr>
      <vt:lpstr>fkGroteskNeue</vt:lpstr>
      <vt:lpstr>Times New Roman</vt:lpstr>
      <vt:lpstr>Trebuchet MS</vt:lpstr>
      <vt:lpstr>Wingdings</vt:lpstr>
      <vt:lpstr>Office Theme</vt:lpstr>
      <vt:lpstr>Roza mubarak </vt:lpstr>
      <vt:lpstr>Software Quality Engineering Road Map</vt:lpstr>
      <vt:lpstr>What is an Error?</vt:lpstr>
      <vt:lpstr>What is Defect?</vt:lpstr>
      <vt:lpstr>What is Bug?</vt:lpstr>
      <vt:lpstr>What is Fault?</vt:lpstr>
      <vt:lpstr>What is Failure?</vt:lpstr>
      <vt:lpstr>Testing</vt:lpstr>
      <vt:lpstr>Who does Testing?</vt:lpstr>
      <vt:lpstr>When to Start Testing?</vt:lpstr>
      <vt:lpstr>When to Stop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QA vs QC vs Testing</vt:lpstr>
      <vt:lpstr>Software testing strategies (basic level)</vt:lpstr>
      <vt:lpstr>Bottom-up and top-down</vt:lpstr>
      <vt:lpstr>PowerPoint Presentation</vt:lpstr>
      <vt:lpstr>PowerPoint Presentation</vt:lpstr>
      <vt:lpstr>Another way to classify</vt:lpstr>
      <vt:lpstr>PowerPoint Presentation</vt:lpstr>
      <vt:lpstr>Classification according to testing concept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Roza mubarak </dc:title>
  <dc:creator>omar haroon</dc:creator>
  <cp:lastModifiedBy>omar haroon</cp:lastModifiedBy>
  <cp:revision>20</cp:revision>
  <dcterms:created xsi:type="dcterms:W3CDTF">2025-03-20T03:50:39Z</dcterms:created>
  <dcterms:modified xsi:type="dcterms:W3CDTF">2025-03-28T01:05:15Z</dcterms:modified>
</cp:coreProperties>
</file>