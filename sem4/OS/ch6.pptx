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7"/>
  </p:notesMasterIdLst>
  <p:handoutMasterIdLst>
    <p:handoutMasterId r:id="rId58"/>
  </p:handoutMasterIdLst>
  <p:sldIdLst>
    <p:sldId id="331" r:id="rId2"/>
    <p:sldId id="332" r:id="rId3"/>
    <p:sldId id="333" r:id="rId4"/>
    <p:sldId id="420" r:id="rId5"/>
    <p:sldId id="424" r:id="rId6"/>
    <p:sldId id="393" r:id="rId7"/>
    <p:sldId id="524" r:id="rId8"/>
    <p:sldId id="338" r:id="rId9"/>
    <p:sldId id="339" r:id="rId10"/>
    <p:sldId id="480" r:id="rId11"/>
    <p:sldId id="446" r:id="rId12"/>
    <p:sldId id="453" r:id="rId13"/>
    <p:sldId id="459" r:id="rId14"/>
    <p:sldId id="460" r:id="rId15"/>
    <p:sldId id="458" r:id="rId16"/>
    <p:sldId id="457" r:id="rId17"/>
    <p:sldId id="407" r:id="rId18"/>
    <p:sldId id="427" r:id="rId19"/>
    <p:sldId id="447" r:id="rId20"/>
    <p:sldId id="429" r:id="rId21"/>
    <p:sldId id="456" r:id="rId22"/>
    <p:sldId id="462" r:id="rId23"/>
    <p:sldId id="463" r:id="rId24"/>
    <p:sldId id="464" r:id="rId25"/>
    <p:sldId id="343" r:id="rId26"/>
    <p:sldId id="433" r:id="rId27"/>
    <p:sldId id="448" r:id="rId28"/>
    <p:sldId id="346" r:id="rId29"/>
    <p:sldId id="449" r:id="rId30"/>
    <p:sldId id="348" r:id="rId31"/>
    <p:sldId id="349" r:id="rId32"/>
    <p:sldId id="434" r:id="rId33"/>
    <p:sldId id="435" r:id="rId34"/>
    <p:sldId id="450" r:id="rId35"/>
    <p:sldId id="432" r:id="rId36"/>
    <p:sldId id="352" r:id="rId37"/>
    <p:sldId id="451" r:id="rId38"/>
    <p:sldId id="472" r:id="rId39"/>
    <p:sldId id="354" r:id="rId40"/>
    <p:sldId id="355" r:id="rId41"/>
    <p:sldId id="452" r:id="rId42"/>
    <p:sldId id="356" r:id="rId43"/>
    <p:sldId id="418" r:id="rId44"/>
    <p:sldId id="369" r:id="rId45"/>
    <p:sldId id="370" r:id="rId46"/>
    <p:sldId id="476" r:id="rId47"/>
    <p:sldId id="371" r:id="rId48"/>
    <p:sldId id="372" r:id="rId49"/>
    <p:sldId id="377" r:id="rId50"/>
    <p:sldId id="378" r:id="rId51"/>
    <p:sldId id="380" r:id="rId52"/>
    <p:sldId id="438" r:id="rId53"/>
    <p:sldId id="437" r:id="rId54"/>
    <p:sldId id="439" r:id="rId55"/>
    <p:sldId id="404" r:id="rId56"/>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006699"/>
    <a:srgbClr val="336699"/>
    <a:srgbClr val="0066CC"/>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94646"/>
  </p:normalViewPr>
  <p:slideViewPr>
    <p:cSldViewPr snapToGrid="0">
      <p:cViewPr varScale="1">
        <p:scale>
          <a:sx n="65" d="100"/>
          <a:sy n="65" d="100"/>
        </p:scale>
        <p:origin x="840" y="78"/>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0" tIns="44126" rIns="88250" bIns="44126" numCol="1" anchor="ctr" anchorCtr="0" compatLnSpc="1">
            <a:prstTxWarp prst="textNoShape">
              <a:avLst/>
            </a:prstTxWarp>
          </a:bodyPr>
          <a:lstStyle>
            <a:lvl1pPr defTabSz="88254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3951289" y="0"/>
            <a:ext cx="3071812" cy="442913"/>
          </a:xfrm>
          <a:prstGeom prst="rect">
            <a:avLst/>
          </a:prstGeom>
          <a:noFill/>
          <a:ln w="9525">
            <a:noFill/>
            <a:miter lim="800000"/>
            <a:headEnd/>
            <a:tailEnd/>
          </a:ln>
        </p:spPr>
        <p:txBody>
          <a:bodyPr vert="horz" wrap="none" lIns="88250" tIns="44126" rIns="88250" bIns="44126" numCol="1" anchor="ctr" anchorCtr="0" compatLnSpc="1">
            <a:prstTxWarp prst="textNoShape">
              <a:avLst/>
            </a:prstTxWarp>
          </a:bodyPr>
          <a:lstStyle>
            <a:lvl1pPr algn="r" defTabSz="88254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866189"/>
            <a:ext cx="3073400" cy="442912"/>
          </a:xfrm>
          <a:prstGeom prst="rect">
            <a:avLst/>
          </a:prstGeom>
          <a:noFill/>
          <a:ln w="9525">
            <a:noFill/>
            <a:miter lim="800000"/>
            <a:headEnd/>
            <a:tailEnd/>
          </a:ln>
        </p:spPr>
        <p:txBody>
          <a:bodyPr vert="horz" wrap="none" lIns="88250" tIns="44126" rIns="88250" bIns="44126" numCol="1" anchor="b" anchorCtr="0" compatLnSpc="1">
            <a:prstTxWarp prst="textNoShape">
              <a:avLst/>
            </a:prstTxWarp>
          </a:bodyPr>
          <a:lstStyle>
            <a:lvl1pPr defTabSz="88254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3951289" y="8866189"/>
            <a:ext cx="3071812" cy="442912"/>
          </a:xfrm>
          <a:prstGeom prst="rect">
            <a:avLst/>
          </a:prstGeom>
          <a:noFill/>
          <a:ln w="9525">
            <a:noFill/>
            <a:miter lim="800000"/>
            <a:headEnd/>
            <a:tailEnd/>
          </a:ln>
        </p:spPr>
        <p:txBody>
          <a:bodyPr vert="horz" wrap="none" lIns="88250" tIns="44126" rIns="88250" bIns="44126" numCol="1" anchor="b" anchorCtr="0" compatLnSpc="1">
            <a:prstTxWarp prst="textNoShape">
              <a:avLst/>
            </a:prstTxWarp>
          </a:bodyPr>
          <a:lstStyle>
            <a:lvl1pPr algn="r" defTabSz="88254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1" y="0"/>
            <a:ext cx="3036888" cy="463550"/>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lvl1pPr defTabSz="930158">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3973514" y="0"/>
            <a:ext cx="3036887" cy="463550"/>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lvl1pPr algn="r" defTabSz="930158">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35039" y="4416425"/>
            <a:ext cx="5140325" cy="4181475"/>
          </a:xfrm>
          <a:prstGeom prst="rect">
            <a:avLst/>
          </a:prstGeom>
          <a:noFill/>
          <a:ln w="9525">
            <a:noFill/>
            <a:miter lim="800000"/>
            <a:headEnd/>
            <a:tailEnd/>
          </a:ln>
        </p:spPr>
        <p:txBody>
          <a:bodyPr vert="horz" wrap="none" lIns="93148" tIns="46574" rIns="93148" bIns="4657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1" y="8832851"/>
            <a:ext cx="3036888" cy="463550"/>
          </a:xfrm>
          <a:prstGeom prst="rect">
            <a:avLst/>
          </a:prstGeom>
          <a:noFill/>
          <a:ln w="9525">
            <a:noFill/>
            <a:miter lim="800000"/>
            <a:headEnd/>
            <a:tailEnd/>
          </a:ln>
        </p:spPr>
        <p:txBody>
          <a:bodyPr vert="horz" wrap="none" lIns="93148" tIns="46574" rIns="93148" bIns="46574" numCol="1" anchor="b" anchorCtr="0" compatLnSpc="1">
            <a:prstTxWarp prst="textNoShape">
              <a:avLst/>
            </a:prstTxWarp>
          </a:bodyPr>
          <a:lstStyle>
            <a:lvl1pPr defTabSz="930158">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3973514" y="8832851"/>
            <a:ext cx="3036887" cy="463550"/>
          </a:xfrm>
          <a:prstGeom prst="rect">
            <a:avLst/>
          </a:prstGeom>
          <a:noFill/>
          <a:ln w="9525">
            <a:noFill/>
            <a:miter lim="800000"/>
            <a:headEnd/>
            <a:tailEnd/>
          </a:ln>
        </p:spPr>
        <p:txBody>
          <a:bodyPr vert="horz" wrap="none" lIns="93148" tIns="46574" rIns="93148" bIns="46574" numCol="1" anchor="b" anchorCtr="0" compatLnSpc="1">
            <a:prstTxWarp prst="textNoShape">
              <a:avLst/>
            </a:prstTxWarp>
          </a:bodyPr>
          <a:lstStyle>
            <a:lvl1pPr algn="r" defTabSz="930158">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xfrm>
            <a:off x="407988" y="698500"/>
            <a:ext cx="6196012" cy="3486150"/>
          </a:xfrm>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xfrm>
            <a:off x="407988" y="698500"/>
            <a:ext cx="6196012" cy="3486150"/>
          </a:xfrm>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xfrm>
            <a:off x="407988" y="698500"/>
            <a:ext cx="6196012" cy="3486150"/>
          </a:xfrm>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126CF59-6128-EF24-572A-9EC23F87EF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960">
              <a:defRPr>
                <a:solidFill>
                  <a:schemeClr val="tx1"/>
                </a:solidFill>
                <a:latin typeface="Verdana" panose="020B0604030504040204" pitchFamily="34" charset="0"/>
                <a:ea typeface="ＭＳ Ｐゴシック" panose="020B0600070205080204" pitchFamily="34" charset="-128"/>
              </a:defRPr>
            </a:lvl1pPr>
            <a:lvl2pPr marL="734629" indent="-282550" defTabSz="955960">
              <a:defRPr>
                <a:solidFill>
                  <a:schemeClr val="tx1"/>
                </a:solidFill>
                <a:latin typeface="Verdana" panose="020B0604030504040204" pitchFamily="34" charset="0"/>
                <a:ea typeface="ＭＳ Ｐゴシック" panose="020B0600070205080204" pitchFamily="34" charset="-128"/>
              </a:defRPr>
            </a:lvl2pPr>
            <a:lvl3pPr marL="1130198" indent="-226040" defTabSz="955960">
              <a:defRPr>
                <a:solidFill>
                  <a:schemeClr val="tx1"/>
                </a:solidFill>
                <a:latin typeface="Verdana" panose="020B0604030504040204" pitchFamily="34" charset="0"/>
                <a:ea typeface="ＭＳ Ｐゴシック" panose="020B0600070205080204" pitchFamily="34" charset="-128"/>
              </a:defRPr>
            </a:lvl3pPr>
            <a:lvl4pPr marL="1582278" indent="-226040" defTabSz="955960">
              <a:defRPr>
                <a:solidFill>
                  <a:schemeClr val="tx1"/>
                </a:solidFill>
                <a:latin typeface="Verdana" panose="020B0604030504040204" pitchFamily="34" charset="0"/>
                <a:ea typeface="ＭＳ Ｐゴシック" panose="020B0600070205080204" pitchFamily="34" charset="-128"/>
              </a:defRPr>
            </a:lvl4pPr>
            <a:lvl5pPr marL="2034357" indent="-226040" defTabSz="955960">
              <a:defRPr>
                <a:solidFill>
                  <a:schemeClr val="tx1"/>
                </a:solidFill>
                <a:latin typeface="Verdana" panose="020B0604030504040204" pitchFamily="34" charset="0"/>
                <a:ea typeface="ＭＳ Ｐゴシック" panose="020B0600070205080204" pitchFamily="34" charset="-128"/>
              </a:defRPr>
            </a:lvl5pPr>
            <a:lvl6pPr marL="2486436"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38516"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0595"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42675" indent="-226040" defTabSz="95596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142DFA5-5EB5-4D91-86CC-E7F1F84DB7D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94A2FEDC-F678-D1B1-3992-BDF56A967098}"/>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4302210-50B7-0D24-BA1B-ABA034EA9F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856">
              <a:defRPr>
                <a:solidFill>
                  <a:schemeClr val="tx1"/>
                </a:solidFill>
                <a:latin typeface="Verdana" panose="020B0604030504040204" pitchFamily="34" charset="0"/>
                <a:ea typeface="MS PGothic" panose="020B0600070205080204" pitchFamily="34" charset="-128"/>
              </a:defRPr>
            </a:lvl1pPr>
            <a:lvl2pPr marL="734629" indent="-282550" defTabSz="919856">
              <a:defRPr>
                <a:solidFill>
                  <a:schemeClr val="tx1"/>
                </a:solidFill>
                <a:latin typeface="Verdana" panose="020B0604030504040204" pitchFamily="34" charset="0"/>
                <a:ea typeface="MS PGothic" panose="020B0600070205080204" pitchFamily="34" charset="-128"/>
              </a:defRPr>
            </a:lvl2pPr>
            <a:lvl3pPr marL="1130198" indent="-226040" defTabSz="919856">
              <a:defRPr>
                <a:solidFill>
                  <a:schemeClr val="tx1"/>
                </a:solidFill>
                <a:latin typeface="Verdana" panose="020B0604030504040204" pitchFamily="34" charset="0"/>
                <a:ea typeface="MS PGothic" panose="020B0600070205080204" pitchFamily="34" charset="-128"/>
              </a:defRPr>
            </a:lvl3pPr>
            <a:lvl4pPr marL="1582278" indent="-226040" defTabSz="919856">
              <a:defRPr>
                <a:solidFill>
                  <a:schemeClr val="tx1"/>
                </a:solidFill>
                <a:latin typeface="Verdana" panose="020B0604030504040204" pitchFamily="34" charset="0"/>
                <a:ea typeface="MS PGothic" panose="020B0600070205080204" pitchFamily="34" charset="-128"/>
              </a:defRPr>
            </a:lvl4pPr>
            <a:lvl5pPr marL="2034357" indent="-226040" defTabSz="919856">
              <a:defRPr>
                <a:solidFill>
                  <a:schemeClr val="tx1"/>
                </a:solidFill>
                <a:latin typeface="Verdana" panose="020B0604030504040204" pitchFamily="34" charset="0"/>
                <a:ea typeface="MS PGothic" panose="020B0600070205080204" pitchFamily="34" charset="-128"/>
              </a:defRPr>
            </a:lvl5pPr>
            <a:lvl6pPr marL="2486436"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38516"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0595"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42675" indent="-226040" defTabSz="919856"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7063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xfrm>
            <a:off x="407988" y="698500"/>
            <a:ext cx="6196012" cy="3486150"/>
          </a:xfrm>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xfrm>
            <a:off x="407988" y="698500"/>
            <a:ext cx="6196012" cy="3486150"/>
          </a:xfrm>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xfrm>
            <a:off x="407988" y="698500"/>
            <a:ext cx="6196012" cy="3486150"/>
          </a:xfrm>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xfrm>
            <a:off x="407988" y="698500"/>
            <a:ext cx="6196012" cy="3486150"/>
          </a:xfrm>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xfrm>
            <a:off x="407988" y="698500"/>
            <a:ext cx="6196012" cy="3486150"/>
          </a:xfrm>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xfrm>
            <a:off x="407988" y="698500"/>
            <a:ext cx="6196012" cy="3486150"/>
          </a:xfrm>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xfrm>
            <a:off x="407988" y="698500"/>
            <a:ext cx="6196012" cy="3486150"/>
          </a:xfrm>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xfrm>
            <a:off x="407988" y="698500"/>
            <a:ext cx="6196012" cy="3486150"/>
          </a:xfrm>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xfrm>
            <a:off x="407988" y="698500"/>
            <a:ext cx="6196012" cy="3486150"/>
          </a:xfrm>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xfrm>
            <a:off x="407988" y="698500"/>
            <a:ext cx="6196012" cy="3486150"/>
          </a:xfrm>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xfrm>
            <a:off x="407988" y="698500"/>
            <a:ext cx="6196012" cy="3486150"/>
          </a:xfrm>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xfrm>
            <a:off x="407988" y="698500"/>
            <a:ext cx="6196012" cy="3486150"/>
          </a:xfrm>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xfrm>
            <a:off x="407988" y="698500"/>
            <a:ext cx="6196012" cy="3486150"/>
          </a:xfrm>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xfrm>
            <a:off x="407988" y="698500"/>
            <a:ext cx="6196012" cy="3486150"/>
          </a:xfrm>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xfrm>
            <a:off x="407988" y="698500"/>
            <a:ext cx="6196012" cy="3486150"/>
          </a:xfrm>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xfrm>
            <a:off x="407988" y="698500"/>
            <a:ext cx="6196012" cy="3486150"/>
          </a:xfrm>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xfrm>
            <a:off x="407988" y="698500"/>
            <a:ext cx="6196012" cy="3486150"/>
          </a:xfrm>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xfrm>
            <a:off x="407988" y="698500"/>
            <a:ext cx="6196012" cy="3486150"/>
          </a:xfrm>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158">
              <a:defRPr>
                <a:solidFill>
                  <a:schemeClr val="tx1"/>
                </a:solidFill>
                <a:latin typeface="Verdana" panose="020B0604030504040204" pitchFamily="34" charset="0"/>
                <a:ea typeface="MS PGothic" panose="020B0600070205080204" pitchFamily="34" charset="-128"/>
              </a:defRPr>
            </a:lvl1pPr>
            <a:lvl2pPr marL="742857" indent="-285714" defTabSz="930158">
              <a:defRPr>
                <a:solidFill>
                  <a:schemeClr val="tx1"/>
                </a:solidFill>
                <a:latin typeface="Verdana" panose="020B0604030504040204" pitchFamily="34" charset="0"/>
                <a:ea typeface="MS PGothic" panose="020B0600070205080204" pitchFamily="34" charset="-128"/>
              </a:defRPr>
            </a:lvl2pPr>
            <a:lvl3pPr marL="1142857" indent="-228571" defTabSz="930158">
              <a:defRPr>
                <a:solidFill>
                  <a:schemeClr val="tx1"/>
                </a:solidFill>
                <a:latin typeface="Verdana" panose="020B0604030504040204" pitchFamily="34" charset="0"/>
                <a:ea typeface="MS PGothic" panose="020B0600070205080204" pitchFamily="34" charset="-128"/>
              </a:defRPr>
            </a:lvl3pPr>
            <a:lvl4pPr marL="1599999" indent="-228571" defTabSz="930158">
              <a:defRPr>
                <a:solidFill>
                  <a:schemeClr val="tx1"/>
                </a:solidFill>
                <a:latin typeface="Verdana" panose="020B0604030504040204" pitchFamily="34" charset="0"/>
                <a:ea typeface="MS PGothic" panose="020B0600070205080204" pitchFamily="34" charset="-128"/>
              </a:defRPr>
            </a:lvl4pPr>
            <a:lvl5pPr marL="2057142" indent="-228571" defTabSz="930158">
              <a:defRPr>
                <a:solidFill>
                  <a:schemeClr val="tx1"/>
                </a:solidFill>
                <a:latin typeface="Verdana" panose="020B0604030504040204" pitchFamily="34" charset="0"/>
                <a:ea typeface="MS PGothic" panose="020B0600070205080204" pitchFamily="34" charset="-128"/>
              </a:defRPr>
            </a:lvl5pPr>
            <a:lvl6pPr marL="2514285"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427"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8570"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5712" indent="-228571" defTabSz="93015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xfrm>
            <a:off x="407988" y="698500"/>
            <a:ext cx="6196012" cy="3486150"/>
          </a:xfrm>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8652933" y="6588126"/>
            <a:ext cx="3617384"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35984" y="6613526"/>
            <a:ext cx="2730224" cy="24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609600" y="23385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1075267" y="1233489"/>
            <a:ext cx="1030393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5749461" y="6613526"/>
            <a:ext cx="447548" cy="246217"/>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8652933" y="6588126"/>
            <a:ext cx="3617384"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247651" y="6621463"/>
            <a:ext cx="2730224" cy="24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2209800" y="808039"/>
            <a:ext cx="7772400" cy="2128837"/>
          </a:xfrm>
        </p:spPr>
        <p:txBody>
          <a:bodyPr/>
          <a:lstStyle/>
          <a:p>
            <a:pPr eaLnBrk="1" hangingPunct="1"/>
            <a:r>
              <a:rPr lang="en-US" altLang="en-US" dirty="0"/>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2795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2363756"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3810000" y="5116514"/>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1981200" y="223680"/>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2363756" y="1144589"/>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2308226" y="215319"/>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2362589" y="1144201"/>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1981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619432" y="1002890"/>
            <a:ext cx="11179278" cy="5630588"/>
          </a:xfrm>
        </p:spPr>
        <p:txBody>
          <a:bodyPr/>
          <a:lstStyle/>
          <a:p>
            <a:r>
              <a:rPr lang="en-US" altLang="en-US" sz="2000" dirty="0"/>
              <a:t>Processes P</a:t>
            </a:r>
            <a:r>
              <a:rPr lang="en-US" altLang="en-US" sz="2000" baseline="-25000" dirty="0"/>
              <a:t>0</a:t>
            </a:r>
            <a:r>
              <a:rPr lang="en-US" altLang="en-US" sz="2000" dirty="0"/>
              <a:t> and P</a:t>
            </a:r>
            <a:r>
              <a:rPr lang="en-US" altLang="en-US" sz="2000" baseline="-25000" dirty="0"/>
              <a:t>1</a:t>
            </a:r>
            <a:r>
              <a:rPr lang="en-US" altLang="en-US" sz="2000" dirty="0"/>
              <a:t> are creating child processes using the </a:t>
            </a:r>
            <a:r>
              <a:rPr lang="en-US" altLang="en-US" sz="2000" dirty="0">
                <a:latin typeface="Courier New" panose="02070309020205020404" pitchFamily="49" charset="0"/>
                <a:cs typeface="Courier New" panose="02070309020205020404" pitchFamily="49" charset="0"/>
              </a:rPr>
              <a:t>fork() </a:t>
            </a:r>
            <a:r>
              <a:rPr lang="en-US" altLang="en-US" sz="2000" dirty="0"/>
              <a:t>system call</a:t>
            </a:r>
          </a:p>
          <a:p>
            <a:r>
              <a:rPr lang="en-US" altLang="en-US" sz="2000" dirty="0"/>
              <a:t>Race condition on kernel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which represents the next available process identifier (</a:t>
            </a:r>
            <a:r>
              <a:rPr lang="en-US" altLang="en-US" sz="2000" dirty="0" err="1"/>
              <a:t>pid</a:t>
            </a:r>
            <a:r>
              <a:rPr lang="en-US" altLang="en-US" sz="2000"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endParaRPr lang="en-US" altLang="en-US" dirty="0"/>
          </a:p>
          <a:p>
            <a:endParaRPr lang="en-US" altLang="en-US" sz="2000" dirty="0"/>
          </a:p>
          <a:p>
            <a:r>
              <a:rPr lang="en-US" altLang="en-US" sz="2000" dirty="0"/>
              <a:t>Unless there is a mechanism to prevent P</a:t>
            </a:r>
            <a:r>
              <a:rPr lang="en-US" altLang="en-US" sz="2000" baseline="-25000" dirty="0"/>
              <a:t>0</a:t>
            </a:r>
            <a:r>
              <a:rPr lang="en-US" altLang="en-US" sz="2000" dirty="0"/>
              <a:t> and P</a:t>
            </a:r>
            <a:r>
              <a:rPr lang="en-US" altLang="en-US" sz="2000" baseline="-25000" dirty="0"/>
              <a:t>1</a:t>
            </a:r>
            <a:r>
              <a:rPr lang="en-US" altLang="en-US" sz="2000" dirty="0"/>
              <a:t> from accessing  the variable </a:t>
            </a:r>
            <a:r>
              <a:rPr lang="en-US" altLang="en-US" sz="2000" dirty="0" err="1">
                <a:latin typeface="Courier New" panose="02070309020205020404" pitchFamily="49" charset="0"/>
                <a:cs typeface="Courier New" panose="02070309020205020404" pitchFamily="49" charset="0"/>
              </a:rPr>
              <a:t>next_available_pid</a:t>
            </a:r>
            <a:r>
              <a:rPr lang="en-US" altLang="en-US" sz="2000" dirty="0"/>
              <a:t>  the same </a:t>
            </a:r>
            <a:r>
              <a:rPr lang="en-US" altLang="en-US" sz="2000" dirty="0" err="1"/>
              <a:t>pid</a:t>
            </a:r>
            <a:r>
              <a:rPr lang="en-US" altLang="en-US" sz="2000" dirty="0"/>
              <a:t> could be assigned to two different processes!</a:t>
            </a:r>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0574" y="2285156"/>
            <a:ext cx="5239245" cy="327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9B4AC74-056A-FC03-5A8C-B6244F7B5B99}"/>
              </a:ext>
            </a:extLst>
          </p:cNvPr>
          <p:cNvSpPr>
            <a:spLocks noGrp="1" noChangeArrowheads="1"/>
          </p:cNvSpPr>
          <p:nvPr>
            <p:ph type="title" idx="4294967295"/>
          </p:nvPr>
        </p:nvSpPr>
        <p:spPr>
          <a:xfrm>
            <a:off x="7099301" y="228601"/>
            <a:ext cx="2678113" cy="576263"/>
          </a:xfrm>
        </p:spPr>
        <p:txBody>
          <a:bodyPr/>
          <a:lstStyle/>
          <a:p>
            <a:pPr eaLnBrk="1" hangingPunct="1"/>
            <a:r>
              <a:rPr lang="en-US" altLang="en-US"/>
              <a:t>Consumer</a:t>
            </a:r>
          </a:p>
        </p:txBody>
      </p:sp>
      <p:sp>
        <p:nvSpPr>
          <p:cNvPr id="7171" name="Rectangle 3">
            <a:extLst>
              <a:ext uri="{FF2B5EF4-FFF2-40B4-BE49-F238E27FC236}">
                <a16:creationId xmlns:a16="http://schemas.microsoft.com/office/drawing/2014/main" id="{6FE9B0EB-BB96-6CC6-3E13-A76326AE0B2D}"/>
              </a:ext>
            </a:extLst>
          </p:cNvPr>
          <p:cNvSpPr>
            <a:spLocks noGrp="1" noChangeArrowheads="1"/>
          </p:cNvSpPr>
          <p:nvPr>
            <p:ph type="body" idx="4294967295"/>
          </p:nvPr>
        </p:nvSpPr>
        <p:spPr>
          <a:xfrm>
            <a:off x="722676" y="1355059"/>
            <a:ext cx="4674871" cy="4557713"/>
          </a:xfrm>
        </p:spPr>
        <p:txBody>
          <a:bodyPr/>
          <a:lstStyle/>
          <a:p>
            <a:pPr eaLnBrk="1" hangingPunct="1">
              <a:buFont typeface="Wingdings" panose="05000000000000000000" pitchFamily="2" charset="2"/>
              <a:buNone/>
            </a:pPr>
            <a:r>
              <a:rPr lang="en-US" altLang="en-US" dirty="0">
                <a:solidFill>
                  <a:srgbClr val="0000FF"/>
                </a:solidFill>
              </a:rPr>
              <a:t>while (true) {</a:t>
            </a:r>
          </a:p>
          <a:p>
            <a:pPr eaLnBrk="1" hangingPunct="1">
              <a:buFont typeface="Wingdings" panose="05000000000000000000" pitchFamily="2" charset="2"/>
              <a:buNone/>
            </a:pP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  produce an item and put in </a:t>
            </a:r>
            <a:r>
              <a:rPr lang="en-US" altLang="en-US" dirty="0" err="1">
                <a:solidFill>
                  <a:srgbClr val="0000FF"/>
                </a:solidFill>
              </a:rPr>
              <a:t>nextProduced</a:t>
            </a: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while (count == BUFFER_SIZE)</a:t>
            </a:r>
          </a:p>
          <a:p>
            <a:pPr eaLnBrk="1" hangingPunct="1">
              <a:buFont typeface="Wingdings" panose="05000000000000000000" pitchFamily="2" charset="2"/>
              <a:buNone/>
            </a:pPr>
            <a:r>
              <a:rPr lang="en-US" altLang="en-US" dirty="0">
                <a:solidFill>
                  <a:srgbClr val="0000FF"/>
                </a:solidFill>
              </a:rPr>
              <a:t>			; // do nothing</a:t>
            </a:r>
          </a:p>
          <a:p>
            <a:pPr eaLnBrk="1" hangingPunct="1">
              <a:buFont typeface="Wingdings" panose="05000000000000000000" pitchFamily="2" charset="2"/>
              <a:buNone/>
            </a:pPr>
            <a:r>
              <a:rPr lang="en-US" altLang="en-US" dirty="0">
                <a:solidFill>
                  <a:srgbClr val="0000FF"/>
                </a:solidFill>
              </a:rPr>
              <a:t>	      buffer [in] = </a:t>
            </a:r>
            <a:r>
              <a:rPr lang="en-US" altLang="en-US" dirty="0" err="1">
                <a:solidFill>
                  <a:srgbClr val="0000FF"/>
                </a:solidFill>
              </a:rPr>
              <a:t>nextProduced</a:t>
            </a:r>
            <a:r>
              <a:rPr lang="en-US" altLang="en-US" dirty="0">
                <a:solidFill>
                  <a:srgbClr val="0000FF"/>
                </a:solidFill>
              </a:rPr>
              <a:t>;</a:t>
            </a:r>
          </a:p>
          <a:p>
            <a:pPr eaLnBrk="1" hangingPunct="1">
              <a:buFont typeface="Wingdings" panose="05000000000000000000" pitchFamily="2" charset="2"/>
              <a:buNone/>
            </a:pPr>
            <a:r>
              <a:rPr lang="en-US" altLang="en-US" dirty="0">
                <a:solidFill>
                  <a:srgbClr val="0000FF"/>
                </a:solidFill>
              </a:rPr>
              <a:t>	      in = (in + 1) % BUFFER_SIZE;</a:t>
            </a:r>
          </a:p>
          <a:p>
            <a:pPr eaLnBrk="1" hangingPunct="1">
              <a:buFont typeface="Wingdings" panose="05000000000000000000" pitchFamily="2" charset="2"/>
              <a:buNone/>
            </a:pPr>
            <a:r>
              <a:rPr lang="en-US" altLang="en-US" dirty="0">
                <a:solidFill>
                  <a:srgbClr val="0000FF"/>
                </a:solidFill>
              </a:rPr>
              <a:t>	      count++;</a:t>
            </a:r>
          </a:p>
          <a:p>
            <a:pPr eaLnBrk="1" hangingPunct="1">
              <a:buFont typeface="Wingdings" panose="05000000000000000000" pitchFamily="2" charset="2"/>
              <a:buNone/>
            </a:pPr>
            <a:r>
              <a:rPr lang="en-US" altLang="en-US" dirty="0">
                <a:solidFill>
                  <a:srgbClr val="0000FF"/>
                </a:solidFill>
              </a:rPr>
              <a:t>}   </a:t>
            </a:r>
          </a:p>
        </p:txBody>
      </p:sp>
      <p:sp>
        <p:nvSpPr>
          <p:cNvPr id="7172" name="Rectangle 3">
            <a:extLst>
              <a:ext uri="{FF2B5EF4-FFF2-40B4-BE49-F238E27FC236}">
                <a16:creationId xmlns:a16="http://schemas.microsoft.com/office/drawing/2014/main" id="{903327FD-B950-5483-2E18-26432FE6E411}"/>
              </a:ext>
            </a:extLst>
          </p:cNvPr>
          <p:cNvSpPr txBox="1">
            <a:spLocks noChangeArrowheads="1"/>
          </p:cNvSpPr>
          <p:nvPr/>
        </p:nvSpPr>
        <p:spPr bwMode="auto">
          <a:xfrm>
            <a:off x="6581724" y="982818"/>
            <a:ext cx="4700791"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endParaRPr lang="en-US" altLang="en-US" sz="2000" dirty="0"/>
          </a:p>
          <a:p>
            <a:pPr eaLnBrk="1" hangingPunct="1">
              <a:buFont typeface="Wingdings" panose="05000000000000000000" pitchFamily="2" charset="2"/>
              <a:buNone/>
            </a:pPr>
            <a:r>
              <a:rPr lang="en-US" altLang="en-US" sz="2000" dirty="0">
                <a:solidFill>
                  <a:srgbClr val="0000FF"/>
                </a:solidFill>
              </a:rPr>
              <a:t>    </a:t>
            </a:r>
            <a:r>
              <a:rPr lang="en-US" altLang="en-US" dirty="0">
                <a:solidFill>
                  <a:srgbClr val="0000FF"/>
                </a:solidFill>
              </a:rPr>
              <a:t>while (true)  {</a:t>
            </a:r>
          </a:p>
          <a:p>
            <a:pPr eaLnBrk="1" hangingPunct="1">
              <a:buFont typeface="Wingdings" panose="05000000000000000000" pitchFamily="2" charset="2"/>
              <a:buNone/>
            </a:pPr>
            <a:r>
              <a:rPr lang="en-US" altLang="en-US" dirty="0">
                <a:solidFill>
                  <a:srgbClr val="0000FF"/>
                </a:solidFill>
              </a:rPr>
              <a:t>	        while (count == 0)</a:t>
            </a:r>
          </a:p>
          <a:p>
            <a:pPr eaLnBrk="1" hangingPunct="1">
              <a:buFont typeface="Wingdings" panose="05000000000000000000" pitchFamily="2" charset="2"/>
              <a:buNone/>
            </a:pPr>
            <a:r>
              <a:rPr lang="en-US" altLang="en-US" dirty="0">
                <a:solidFill>
                  <a:srgbClr val="0000FF"/>
                </a:solidFill>
              </a:rPr>
              <a:t>		        ; // do nothing</a:t>
            </a:r>
          </a:p>
          <a:p>
            <a:pPr eaLnBrk="1" hangingPunct="1">
              <a:buFont typeface="Wingdings" panose="05000000000000000000" pitchFamily="2" charset="2"/>
              <a:buNone/>
            </a:pPr>
            <a:r>
              <a:rPr lang="en-US" altLang="en-US" dirty="0">
                <a:solidFill>
                  <a:srgbClr val="0000FF"/>
                </a:solidFill>
              </a:rPr>
              <a:t>	        </a:t>
            </a:r>
            <a:r>
              <a:rPr lang="en-US" altLang="en-US" dirty="0" err="1">
                <a:solidFill>
                  <a:srgbClr val="0000FF"/>
                </a:solidFill>
              </a:rPr>
              <a:t>nextConsumed</a:t>
            </a:r>
            <a:r>
              <a:rPr lang="en-US" altLang="en-US" dirty="0">
                <a:solidFill>
                  <a:srgbClr val="0000FF"/>
                </a:solidFill>
              </a:rPr>
              <a:t> =  buffer[out];</a:t>
            </a:r>
          </a:p>
          <a:p>
            <a:pPr eaLnBrk="1" hangingPunct="1">
              <a:buFont typeface="Wingdings" panose="05000000000000000000" pitchFamily="2" charset="2"/>
              <a:buNone/>
            </a:pPr>
            <a:r>
              <a:rPr lang="en-US" altLang="en-US" dirty="0">
                <a:solidFill>
                  <a:srgbClr val="0000FF"/>
                </a:solidFill>
              </a:rPr>
              <a:t>	        out = (out + 1) % BUFFER_SIZE;</a:t>
            </a:r>
          </a:p>
          <a:p>
            <a:pPr eaLnBrk="1" hangingPunct="1">
              <a:buFont typeface="Wingdings" panose="05000000000000000000" pitchFamily="2" charset="2"/>
              <a:buNone/>
            </a:pPr>
            <a:r>
              <a:rPr lang="en-US" altLang="en-US" dirty="0">
                <a:solidFill>
                  <a:srgbClr val="0000FF"/>
                </a:solidFill>
              </a:rPr>
              <a:t>	        count--;</a:t>
            </a:r>
          </a:p>
          <a:p>
            <a:pPr eaLnBrk="1" hangingPunct="1">
              <a:buFont typeface="Wingdings" panose="05000000000000000000" pitchFamily="2" charset="2"/>
              <a:buNone/>
            </a:pPr>
            <a:endParaRPr lang="en-US" altLang="en-US" dirty="0">
              <a:solidFill>
                <a:srgbClr val="0000FF"/>
              </a:solidFill>
            </a:endParaRPr>
          </a:p>
          <a:p>
            <a:pPr eaLnBrk="1" hangingPunct="1">
              <a:buFont typeface="Wingdings" panose="05000000000000000000" pitchFamily="2" charset="2"/>
              <a:buNone/>
            </a:pPr>
            <a:r>
              <a:rPr lang="en-US" altLang="en-US" dirty="0">
                <a:solidFill>
                  <a:srgbClr val="0000FF"/>
                </a:solidFill>
              </a:rPr>
              <a:t>	/*  consume the item in </a:t>
            </a:r>
            <a:r>
              <a:rPr lang="en-US" altLang="en-US" dirty="0" err="1">
                <a:solidFill>
                  <a:srgbClr val="0000FF"/>
                </a:solidFill>
              </a:rPr>
              <a:t>nextConsumed</a:t>
            </a:r>
            <a:r>
              <a:rPr lang="en-US" altLang="en-US" dirty="0">
                <a:solidFill>
                  <a:srgbClr val="0000FF"/>
                </a:solidFill>
              </a:rPr>
              <a:t> */</a:t>
            </a:r>
          </a:p>
          <a:p>
            <a:pPr eaLnBrk="1" hangingPunct="1">
              <a:buFont typeface="Wingdings" panose="05000000000000000000" pitchFamily="2" charset="2"/>
              <a:buNone/>
            </a:pPr>
            <a:r>
              <a:rPr lang="en-US" altLang="en-US" dirty="0">
                <a:solidFill>
                  <a:srgbClr val="0000FF"/>
                </a:solidFill>
              </a:rPr>
              <a:t>	}</a:t>
            </a:r>
          </a:p>
        </p:txBody>
      </p:sp>
      <p:sp>
        <p:nvSpPr>
          <p:cNvPr id="7173" name="Line 8">
            <a:extLst>
              <a:ext uri="{FF2B5EF4-FFF2-40B4-BE49-F238E27FC236}">
                <a16:creationId xmlns:a16="http://schemas.microsoft.com/office/drawing/2014/main" id="{01A901A6-DA51-7782-012A-E99CBA927A1B}"/>
              </a:ext>
            </a:extLst>
          </p:cNvPr>
          <p:cNvSpPr>
            <a:spLocks noChangeShapeType="1"/>
          </p:cNvSpPr>
          <p:nvPr/>
        </p:nvSpPr>
        <p:spPr bwMode="auto">
          <a:xfrm>
            <a:off x="5989638" y="1022351"/>
            <a:ext cx="0" cy="5248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74" name="Rectangle 2">
            <a:extLst>
              <a:ext uri="{FF2B5EF4-FFF2-40B4-BE49-F238E27FC236}">
                <a16:creationId xmlns:a16="http://schemas.microsoft.com/office/drawing/2014/main" id="{2623147D-8D59-AB76-99D2-56999A9E73CA}"/>
              </a:ext>
            </a:extLst>
          </p:cNvPr>
          <p:cNvSpPr txBox="1">
            <a:spLocks noChangeArrowheads="1"/>
          </p:cNvSpPr>
          <p:nvPr/>
        </p:nvSpPr>
        <p:spPr bwMode="auto">
          <a:xfrm>
            <a:off x="2551113" y="228600"/>
            <a:ext cx="24495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kumimoji="0" lang="en-US" altLang="en-US" sz="3200" b="1">
                <a:solidFill>
                  <a:srgbClr val="D03200"/>
                </a:solidFill>
                <a:latin typeface="Arial" panose="020B0604020202020204" pitchFamily="34" charset="0"/>
              </a:rPr>
              <a:t>Producer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1981200" y="225267"/>
            <a:ext cx="8229600" cy="576262"/>
          </a:xfrm>
        </p:spPr>
        <p:txBody>
          <a:bodyPr/>
          <a:lstStyle/>
          <a:p>
            <a:pPr eaLnBrk="1" hangingPunct="1"/>
            <a:r>
              <a:rPr lang="en-US" altLang="en-US" dirty="0"/>
              <a:t>Race Condition</a:t>
            </a:r>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1091381" y="1000946"/>
            <a:ext cx="10441858" cy="5631787"/>
          </a:xfrm>
        </p:spPr>
        <p:txBody>
          <a:bodyPr/>
          <a:lstStyle/>
          <a:p>
            <a:pPr>
              <a:lnSpc>
                <a:spcPct val="90000"/>
              </a:lnSpc>
            </a:pPr>
            <a:r>
              <a:rPr lang="en-US" altLang="en-US" sz="2000" b="1" dirty="0">
                <a:solidFill>
                  <a:srgbClr val="000000"/>
                </a:solidFill>
                <a:latin typeface="Courier New" panose="02070309020205020404" pitchFamily="49" charset="0"/>
              </a:rPr>
              <a:t>counter++ </a:t>
            </a:r>
            <a:r>
              <a:rPr lang="en-US" altLang="en-US" sz="2000" dirty="0"/>
              <a:t>could be implemented as</a:t>
            </a:r>
            <a:br>
              <a:rPr lang="en-US" altLang="en-US" sz="2000" dirty="0"/>
            </a:br>
            <a:br>
              <a:rPr lang="en-US" altLang="en-US" sz="2000" dirty="0"/>
            </a:br>
            <a:r>
              <a:rPr lang="en-US" altLang="en-US" sz="2000" b="1" dirty="0">
                <a:latin typeface="Courier New" panose="02070309020205020404" pitchFamily="49" charset="0"/>
              </a:rPr>
              <a:t>     </a:t>
            </a:r>
            <a:r>
              <a:rPr lang="en-US" altLang="en-US" sz="2000" b="1" dirty="0">
                <a:solidFill>
                  <a:srgbClr val="0000FF"/>
                </a:solidFill>
                <a:latin typeface="Courier New" panose="02070309020205020404" pitchFamily="49" charset="0"/>
              </a:rPr>
              <a:t>register1 = counter</a:t>
            </a:r>
            <a:br>
              <a:rPr lang="en-US" altLang="en-US" sz="2000" b="1" dirty="0">
                <a:solidFill>
                  <a:srgbClr val="0000FF"/>
                </a:solidFill>
                <a:latin typeface="Courier New" panose="02070309020205020404" pitchFamily="49" charset="0"/>
              </a:rPr>
            </a:br>
            <a:r>
              <a:rPr lang="en-US" altLang="en-US" sz="2000" b="1" dirty="0">
                <a:solidFill>
                  <a:srgbClr val="0000FF"/>
                </a:solidFill>
                <a:latin typeface="Courier New" panose="02070309020205020404" pitchFamily="49" charset="0"/>
              </a:rPr>
              <a:t>     register1 = register1 + 1</a:t>
            </a:r>
            <a:br>
              <a:rPr lang="en-US" altLang="en-US" sz="2000" b="1" dirty="0">
                <a:solidFill>
                  <a:srgbClr val="0000FF"/>
                </a:solidFill>
                <a:latin typeface="Courier New" panose="02070309020205020404" pitchFamily="49" charset="0"/>
              </a:rPr>
            </a:br>
            <a:r>
              <a:rPr lang="en-US" altLang="en-US" sz="2000" b="1" dirty="0">
                <a:solidFill>
                  <a:srgbClr val="0000FF"/>
                </a:solidFill>
                <a:latin typeface="Courier New" panose="02070309020205020404" pitchFamily="49" charset="0"/>
              </a:rPr>
              <a:t>     counter = register1</a:t>
            </a:r>
            <a:endParaRPr lang="en-US" altLang="en-US" sz="2000" dirty="0">
              <a:solidFill>
                <a:srgbClr val="0000FF"/>
              </a:solidFill>
            </a:endParaRPr>
          </a:p>
          <a:p>
            <a:pPr>
              <a:lnSpc>
                <a:spcPct val="90000"/>
              </a:lnSpc>
            </a:pPr>
            <a:r>
              <a:rPr lang="en-US" altLang="en-US" sz="2000" b="1" dirty="0">
                <a:solidFill>
                  <a:srgbClr val="000000"/>
                </a:solidFill>
                <a:latin typeface="Courier New" panose="02070309020205020404" pitchFamily="49" charset="0"/>
              </a:rPr>
              <a:t>counter--</a:t>
            </a:r>
            <a:r>
              <a:rPr lang="en-US" altLang="en-US" sz="2000" b="1" dirty="0">
                <a:solidFill>
                  <a:schemeClr val="tx2"/>
                </a:solidFill>
                <a:latin typeface="Courier New" panose="02070309020205020404" pitchFamily="49" charset="0"/>
              </a:rPr>
              <a:t> </a:t>
            </a:r>
            <a:r>
              <a:rPr lang="en-US" altLang="en-US" sz="2000" dirty="0"/>
              <a:t>could be implemented as</a:t>
            </a:r>
            <a:br>
              <a:rPr lang="en-US" altLang="en-US" sz="2000" dirty="0"/>
            </a:br>
            <a:br>
              <a:rPr lang="en-US" altLang="en-US" sz="2000" dirty="0"/>
            </a:br>
            <a:r>
              <a:rPr lang="en-US" altLang="en-US" sz="2000" b="1" dirty="0">
                <a:latin typeface="Courier New" panose="02070309020205020404" pitchFamily="49" charset="0"/>
              </a:rPr>
              <a:t>     </a:t>
            </a:r>
            <a:r>
              <a:rPr lang="en-US" altLang="en-US" sz="2000" b="1" dirty="0">
                <a:solidFill>
                  <a:schemeClr val="tx2"/>
                </a:solidFill>
                <a:latin typeface="Courier New" panose="02070309020205020404" pitchFamily="49" charset="0"/>
              </a:rPr>
              <a:t>register2 = counter</a:t>
            </a:r>
            <a:br>
              <a:rPr lang="en-US" altLang="en-US" sz="2000" b="1" dirty="0">
                <a:solidFill>
                  <a:schemeClr val="tx2"/>
                </a:solidFill>
                <a:latin typeface="Courier New" panose="02070309020205020404" pitchFamily="49" charset="0"/>
              </a:rPr>
            </a:br>
            <a:r>
              <a:rPr lang="en-US" altLang="en-US" sz="2000" b="1" dirty="0">
                <a:solidFill>
                  <a:schemeClr val="tx2"/>
                </a:solidFill>
                <a:latin typeface="Courier New" panose="02070309020205020404" pitchFamily="49" charset="0"/>
              </a:rPr>
              <a:t>     register2 = register2 - 1</a:t>
            </a:r>
            <a:br>
              <a:rPr lang="en-US" altLang="en-US" sz="2000" b="1" dirty="0">
                <a:solidFill>
                  <a:schemeClr val="tx2"/>
                </a:solidFill>
                <a:latin typeface="Courier New" panose="02070309020205020404" pitchFamily="49" charset="0"/>
              </a:rPr>
            </a:br>
            <a:r>
              <a:rPr lang="en-US" altLang="en-US" sz="2000" b="1" dirty="0">
                <a:solidFill>
                  <a:schemeClr val="tx2"/>
                </a:solidFill>
                <a:latin typeface="Courier New" panose="02070309020205020404" pitchFamily="49" charset="0"/>
              </a:rPr>
              <a:t>     counter = register2</a:t>
            </a:r>
          </a:p>
          <a:p>
            <a:pPr>
              <a:lnSpc>
                <a:spcPct val="90000"/>
              </a:lnSpc>
              <a:buFont typeface="Monotype Sorts" pitchFamily="-84" charset="2"/>
              <a:buNone/>
            </a:pPr>
            <a:endParaRPr lang="en-US" altLang="en-US" sz="2000" dirty="0">
              <a:solidFill>
                <a:schemeClr val="tx2"/>
              </a:solidFill>
            </a:endParaRPr>
          </a:p>
          <a:p>
            <a:pPr>
              <a:lnSpc>
                <a:spcPct val="90000"/>
              </a:lnSpc>
            </a:pPr>
            <a:r>
              <a:rPr lang="en-US" altLang="en-US" sz="2000" dirty="0"/>
              <a:t>Consider this execution interleaving with </a:t>
            </a:r>
            <a:r>
              <a:rPr lang="ja-JP" altLang="en-US" sz="2000" dirty="0"/>
              <a:t>“</a:t>
            </a:r>
            <a:r>
              <a:rPr lang="en-US" altLang="ja-JP" sz="2000" dirty="0"/>
              <a:t>count = 5</a:t>
            </a:r>
            <a:r>
              <a:rPr lang="ja-JP" altLang="en-US" sz="2000" dirty="0"/>
              <a:t>”</a:t>
            </a:r>
            <a:r>
              <a:rPr lang="en-US" altLang="ja-JP" sz="2000" dirty="0"/>
              <a:t> initially:</a:t>
            </a:r>
          </a:p>
          <a:p>
            <a:pPr lvl="1">
              <a:lnSpc>
                <a:spcPct val="90000"/>
              </a:lnSpc>
              <a:buFont typeface="Monotype Sorts" pitchFamily="-84" charset="2"/>
              <a:buNone/>
            </a:pPr>
            <a:r>
              <a:rPr lang="en-US" altLang="en-US" sz="2000" dirty="0"/>
              <a:t>	S0: producer execute </a:t>
            </a:r>
            <a:r>
              <a:rPr lang="en-US" altLang="en-US" sz="2000" b="1" dirty="0">
                <a:solidFill>
                  <a:srgbClr val="0000FF"/>
                </a:solidFill>
                <a:latin typeface="Courier New" panose="02070309020205020404" pitchFamily="49" charset="0"/>
              </a:rPr>
              <a:t>register1 = counter</a:t>
            </a:r>
            <a:r>
              <a:rPr lang="en-US" altLang="en-US" sz="2000" b="1" dirty="0">
                <a:latin typeface="Courier New" panose="02070309020205020404" pitchFamily="49" charset="0"/>
              </a:rPr>
              <a:t>         </a:t>
            </a:r>
            <a:r>
              <a:rPr lang="en-US" altLang="en-US" sz="2000" dirty="0"/>
              <a:t>{register1 = 5}</a:t>
            </a:r>
            <a:br>
              <a:rPr lang="en-US" altLang="en-US" sz="2000" dirty="0"/>
            </a:br>
            <a:r>
              <a:rPr lang="en-US" altLang="en-US" sz="2000" dirty="0"/>
              <a:t>S1: producer execute </a:t>
            </a:r>
            <a:r>
              <a:rPr lang="en-US" altLang="en-US" sz="2000" b="1" dirty="0">
                <a:solidFill>
                  <a:srgbClr val="0000FF"/>
                </a:solidFill>
                <a:latin typeface="Courier New" panose="02070309020205020404" pitchFamily="49" charset="0"/>
              </a:rPr>
              <a:t>register1 = register1 + 1   </a:t>
            </a:r>
            <a:r>
              <a:rPr lang="en-US" altLang="en-US" sz="2000" dirty="0"/>
              <a:t>{register1 = 6} </a:t>
            </a:r>
            <a:br>
              <a:rPr lang="en-US" altLang="en-US" sz="2000" dirty="0"/>
            </a:br>
            <a:r>
              <a:rPr lang="en-US" altLang="en-US" sz="2000" dirty="0"/>
              <a:t>S2: consumer execute </a:t>
            </a:r>
            <a:r>
              <a:rPr lang="en-US" altLang="en-US" sz="2000" b="1" dirty="0">
                <a:solidFill>
                  <a:schemeClr val="tx2"/>
                </a:solidFill>
                <a:latin typeface="Courier New" panose="02070309020205020404" pitchFamily="49" charset="0"/>
              </a:rPr>
              <a:t>register2 = counter</a:t>
            </a:r>
            <a:r>
              <a:rPr lang="en-US" altLang="en-US" sz="2000" b="1" dirty="0">
                <a:latin typeface="Courier New" panose="02070309020205020404" pitchFamily="49" charset="0"/>
              </a:rPr>
              <a:t>        </a:t>
            </a:r>
            <a:r>
              <a:rPr lang="en-US" altLang="en-US" sz="2000" dirty="0"/>
              <a:t>{register2 = 5} </a:t>
            </a:r>
            <a:br>
              <a:rPr lang="en-US" altLang="en-US" sz="2000" dirty="0"/>
            </a:br>
            <a:r>
              <a:rPr lang="en-US" altLang="en-US" sz="2000" dirty="0"/>
              <a:t>S3: consumer execute </a:t>
            </a:r>
            <a:r>
              <a:rPr lang="en-US" altLang="en-US" sz="2000" b="1" dirty="0">
                <a:solidFill>
                  <a:schemeClr val="tx2"/>
                </a:solidFill>
                <a:latin typeface="Courier New" panose="02070309020205020404" pitchFamily="49" charset="0"/>
              </a:rPr>
              <a:t>register2 = register2 – 1  </a:t>
            </a:r>
            <a:r>
              <a:rPr lang="en-US" altLang="en-US" sz="2000" dirty="0"/>
              <a:t>{register2 = 4} </a:t>
            </a:r>
            <a:br>
              <a:rPr lang="en-US" altLang="en-US" sz="2000" dirty="0"/>
            </a:br>
            <a:r>
              <a:rPr lang="en-US" altLang="en-US" sz="2000" dirty="0"/>
              <a:t>S4: producer execute </a:t>
            </a:r>
            <a:r>
              <a:rPr lang="en-US" altLang="en-US" sz="2000" b="1" dirty="0">
                <a:solidFill>
                  <a:srgbClr val="0000FF"/>
                </a:solidFill>
                <a:latin typeface="Courier New" panose="02070309020205020404" pitchFamily="49" charset="0"/>
              </a:rPr>
              <a:t>counter = register1         </a:t>
            </a:r>
            <a:r>
              <a:rPr lang="en-US" altLang="en-US" sz="2000" dirty="0"/>
              <a:t>{counter = 6 } </a:t>
            </a:r>
            <a:br>
              <a:rPr lang="en-US" altLang="en-US" sz="2000" dirty="0"/>
            </a:br>
            <a:r>
              <a:rPr lang="en-US" altLang="en-US" sz="2000" dirty="0"/>
              <a:t>S5: consumer execute </a:t>
            </a:r>
            <a:r>
              <a:rPr lang="en-US" altLang="en-US" sz="2000" b="1" dirty="0">
                <a:solidFill>
                  <a:schemeClr val="tx2"/>
                </a:solidFill>
                <a:latin typeface="Courier New" panose="02070309020205020404" pitchFamily="49" charset="0"/>
              </a:rPr>
              <a:t>counter = register2        </a:t>
            </a:r>
            <a:r>
              <a:rPr lang="en-US" altLang="en-US" sz="2000" dirty="0"/>
              <a:t>{counter = 4}</a:t>
            </a:r>
          </a:p>
          <a:p>
            <a:pPr lvl="1">
              <a:lnSpc>
                <a:spcPct val="90000"/>
              </a:lnSpc>
              <a:buFont typeface="Monotype Sorts" pitchFamily="-84" charset="2"/>
              <a:buNone/>
            </a:pPr>
            <a:endParaRPr lang="en-US" altLang="en-US" sz="2000" dirty="0"/>
          </a:p>
        </p:txBody>
      </p:sp>
    </p:spTree>
    <p:extLst>
      <p:ext uri="{BB962C8B-B14F-4D97-AF65-F5344CB8AC3E}">
        <p14:creationId xmlns:p14="http://schemas.microsoft.com/office/powerpoint/2010/main" val="2964105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1981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929148" y="1159882"/>
            <a:ext cx="10427110" cy="4433523"/>
          </a:xfrm>
        </p:spPr>
        <p:txBody>
          <a:bodyPr/>
          <a:lstStyle/>
          <a:p>
            <a:r>
              <a:rPr lang="en-US" altLang="en-US" sz="2000" dirty="0"/>
              <a:t>Consider system of </a:t>
            </a:r>
            <a:r>
              <a:rPr lang="en-US" altLang="en-US" sz="2000" b="1" i="1" dirty="0"/>
              <a:t>n</a:t>
            </a:r>
            <a:r>
              <a:rPr lang="en-US" altLang="en-US" sz="2000" b="1" dirty="0"/>
              <a:t> </a:t>
            </a:r>
            <a:r>
              <a:rPr lang="en-US" altLang="en-US" sz="2000" dirty="0"/>
              <a:t>processes {</a:t>
            </a:r>
            <a:r>
              <a:rPr lang="en-US" altLang="en-US" sz="2000" b="1" i="1" dirty="0"/>
              <a:t>p</a:t>
            </a:r>
            <a:r>
              <a:rPr lang="en-US" altLang="en-US" sz="2000" b="1" i="1" baseline="-25000" dirty="0"/>
              <a:t>0</a:t>
            </a:r>
            <a:r>
              <a:rPr lang="en-US" altLang="en-US" sz="2000" b="1" i="1" dirty="0"/>
              <a:t>, p</a:t>
            </a:r>
            <a:r>
              <a:rPr lang="en-US" altLang="en-US" sz="2000" b="1" i="1" baseline="-25000" dirty="0"/>
              <a:t>1</a:t>
            </a:r>
            <a:r>
              <a:rPr lang="en-US" altLang="en-US" sz="2000" b="1" i="1" dirty="0"/>
              <a:t>, … p</a:t>
            </a:r>
            <a:r>
              <a:rPr lang="en-US" altLang="en-US" sz="2000" b="1" i="1" baseline="-25000" dirty="0"/>
              <a:t>n-1</a:t>
            </a:r>
            <a:r>
              <a:rPr lang="en-US" altLang="en-US" sz="2000" dirty="0"/>
              <a:t>}</a:t>
            </a:r>
          </a:p>
          <a:p>
            <a:endParaRPr lang="en-US" altLang="en-US" sz="2000" dirty="0"/>
          </a:p>
          <a:p>
            <a:r>
              <a:rPr lang="en-US" altLang="en-US" sz="2000" dirty="0"/>
              <a:t>Each process has </a:t>
            </a:r>
            <a:r>
              <a:rPr lang="en-US" altLang="en-US" sz="2000" b="1" dirty="0">
                <a:solidFill>
                  <a:srgbClr val="006699"/>
                </a:solidFill>
                <a:latin typeface="+mj-lt"/>
              </a:rPr>
              <a:t>critical section </a:t>
            </a:r>
            <a:r>
              <a:rPr lang="en-US" altLang="en-US" sz="2000" dirty="0"/>
              <a:t>segment of code</a:t>
            </a:r>
          </a:p>
          <a:p>
            <a:pPr lvl="1"/>
            <a:r>
              <a:rPr lang="en-US" altLang="en-US" sz="2000" dirty="0"/>
              <a:t>Process may be changing common variables, updating table, writing file, etc.</a:t>
            </a:r>
          </a:p>
          <a:p>
            <a:pPr lvl="1"/>
            <a:r>
              <a:rPr lang="en-US" altLang="en-US" sz="2000" dirty="0"/>
              <a:t>When one process in critical section, no other may be in its critical section</a:t>
            </a:r>
          </a:p>
          <a:p>
            <a:endParaRPr lang="en-US" altLang="en-US" sz="2000" b="1" i="1" dirty="0"/>
          </a:p>
          <a:p>
            <a:r>
              <a:rPr lang="en-US" altLang="en-US" sz="2000" b="1" i="1" dirty="0"/>
              <a:t>Critical section problem </a:t>
            </a:r>
            <a:r>
              <a:rPr lang="en-US" altLang="en-US" sz="2000" dirty="0"/>
              <a:t>is to design protocol to solve this</a:t>
            </a:r>
          </a:p>
          <a:p>
            <a:endParaRPr lang="en-US" altLang="en-US" sz="2000" dirty="0"/>
          </a:p>
          <a:p>
            <a:r>
              <a:rPr lang="en-US" altLang="en-US" sz="2000" dirty="0"/>
              <a:t>Each process must ask permission to enter critical section in </a:t>
            </a:r>
            <a:r>
              <a:rPr lang="en-US" altLang="en-US" sz="2000" b="1" dirty="0">
                <a:solidFill>
                  <a:srgbClr val="006699"/>
                </a:solidFill>
                <a:latin typeface="+mj-lt"/>
              </a:rPr>
              <a:t>entry</a:t>
            </a:r>
            <a:r>
              <a:rPr lang="en-US" altLang="en-US" sz="2000" b="1" dirty="0">
                <a:solidFill>
                  <a:srgbClr val="3366FF"/>
                </a:solidFill>
              </a:rPr>
              <a:t> </a:t>
            </a:r>
            <a:r>
              <a:rPr lang="en-US" altLang="en-US" sz="2000" b="1" dirty="0">
                <a:solidFill>
                  <a:srgbClr val="006699"/>
                </a:solidFill>
                <a:latin typeface="+mj-lt"/>
              </a:rPr>
              <a:t>section</a:t>
            </a:r>
            <a:r>
              <a:rPr lang="en-US" altLang="en-US" sz="2000" dirty="0"/>
              <a:t>, may follow critical section with </a:t>
            </a:r>
            <a:r>
              <a:rPr lang="en-US" altLang="en-US" sz="2000" b="1" dirty="0">
                <a:solidFill>
                  <a:srgbClr val="006699"/>
                </a:solidFill>
                <a:latin typeface="+mj-lt"/>
              </a:rPr>
              <a:t>exit section</a:t>
            </a:r>
            <a:r>
              <a:rPr lang="en-US" altLang="en-US" sz="2000" dirty="0"/>
              <a:t>, then </a:t>
            </a:r>
            <a:r>
              <a:rPr lang="en-US" altLang="en-US" sz="2000" b="1" dirty="0">
                <a:solidFill>
                  <a:srgbClr val="006699"/>
                </a:solidFill>
                <a:latin typeface="+mj-lt"/>
              </a:rPr>
              <a:t>remainder section</a:t>
            </a:r>
          </a:p>
          <a:p>
            <a:endParaRPr lang="en-US" altLang="en-US" sz="2000" b="1" dirty="0">
              <a:solidFill>
                <a:srgbClr val="3366FF"/>
              </a:solidFill>
            </a:endParaRPr>
          </a:p>
          <a:p>
            <a:pPr>
              <a:buFont typeface="Monotype Sorts" pitchFamily="-84" charset="2"/>
              <a:buNone/>
            </a:pPr>
            <a:endParaRPr lang="en-US" altLang="en-US" sz="2000" b="1" dirty="0">
              <a:solidFill>
                <a:srgbClr val="006699"/>
              </a:solidFill>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1981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3503960" y="1943900"/>
            <a:ext cx="4415924" cy="4285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2345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855406" y="1653517"/>
            <a:ext cx="10913807" cy="4806277"/>
          </a:xfrm>
        </p:spPr>
        <p:txBody>
          <a:bodyPr/>
          <a:lstStyle/>
          <a:p>
            <a:pPr marL="342900" indent="-342900">
              <a:buFont typeface="Monotype Sorts" pitchFamily="-84" charset="2"/>
              <a:buAutoNum type="arabicPeriod"/>
            </a:pPr>
            <a:r>
              <a:rPr lang="en-US" altLang="en-US" sz="2000" b="1" dirty="0">
                <a:solidFill>
                  <a:srgbClr val="006699"/>
                </a:solidFill>
                <a:latin typeface="+mj-lt"/>
              </a:rPr>
              <a:t>Mutual Exclusion </a:t>
            </a:r>
            <a:r>
              <a:rPr lang="en-US" altLang="en-US" sz="2000" dirty="0"/>
              <a:t>- If process </a:t>
            </a:r>
            <a:r>
              <a:rPr lang="en-US" altLang="en-US" sz="2000" b="1" i="1" dirty="0"/>
              <a:t>P</a:t>
            </a:r>
            <a:r>
              <a:rPr lang="en-US" altLang="en-US" sz="2000" b="1" i="1" baseline="-25000" dirty="0"/>
              <a:t>i</a:t>
            </a:r>
            <a:r>
              <a:rPr lang="en-US" altLang="en-US" sz="2000" b="1" dirty="0"/>
              <a:t> </a:t>
            </a:r>
            <a:r>
              <a:rPr lang="en-US" altLang="en-US" sz="2000" dirty="0"/>
              <a:t>is executing in its critical section, then no other processes can be executing in their critical sections</a:t>
            </a:r>
          </a:p>
          <a:p>
            <a:pPr marL="342900" indent="-342900">
              <a:buFont typeface="Monotype Sorts" pitchFamily="-84" charset="2"/>
              <a:buAutoNum type="arabicPeriod"/>
            </a:pPr>
            <a:endParaRPr lang="en-US" altLang="en-US" sz="2000" b="1" dirty="0">
              <a:solidFill>
                <a:srgbClr val="006699"/>
              </a:solidFill>
              <a:latin typeface="+mj-lt"/>
            </a:endParaRPr>
          </a:p>
          <a:p>
            <a:pPr marL="342900" indent="-342900">
              <a:buFont typeface="Monotype Sorts" pitchFamily="-84" charset="2"/>
              <a:buAutoNum type="arabicPeriod"/>
            </a:pPr>
            <a:r>
              <a:rPr lang="en-US" altLang="en-US" sz="2000" b="1" dirty="0">
                <a:solidFill>
                  <a:srgbClr val="006699"/>
                </a:solidFill>
                <a:latin typeface="+mj-lt"/>
              </a:rPr>
              <a:t>Progress</a:t>
            </a:r>
            <a:r>
              <a:rPr lang="en-US" altLang="en-US" sz="2000" b="1" dirty="0"/>
              <a:t> </a:t>
            </a:r>
            <a:r>
              <a:rPr lang="en-US" altLang="en-US" sz="2000"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endParaRPr lang="en-US" altLang="en-US" sz="2000" b="1" dirty="0">
              <a:solidFill>
                <a:srgbClr val="006699"/>
              </a:solidFill>
            </a:endParaRPr>
          </a:p>
          <a:p>
            <a:pPr marL="342900" indent="-342900">
              <a:buFont typeface="Monotype Sorts" pitchFamily="-84" charset="2"/>
              <a:buAutoNum type="arabicPeriod"/>
            </a:pPr>
            <a:r>
              <a:rPr lang="en-US" altLang="en-US" sz="2000" b="1" dirty="0">
                <a:solidFill>
                  <a:srgbClr val="006699"/>
                </a:solidFill>
              </a:rPr>
              <a:t>Bounded Waiting </a:t>
            </a:r>
            <a:r>
              <a:rPr lang="en-US" altLang="en-US" sz="2000" dirty="0"/>
              <a:t>- A bound must exist on the number of times that other processes are allowed to enter their critical sections after a process has made a request to enter its critical section and before that request is granted</a:t>
            </a:r>
            <a:r>
              <a:rPr lang="en-US" altLang="en-US" sz="2000" dirty="0">
                <a:solidFill>
                  <a:srgbClr val="993300"/>
                </a:solidFill>
              </a:rPr>
              <a:t> </a:t>
            </a:r>
            <a:endParaRPr lang="en-US" altLang="en-US" sz="2000" dirty="0"/>
          </a:p>
          <a:p>
            <a:pPr lvl="1">
              <a:buSzPct val="125000"/>
            </a:pPr>
            <a:r>
              <a:rPr lang="en-US" altLang="en-US" sz="2000" dirty="0"/>
              <a:t>Assume that each process executes at a nonzero speed </a:t>
            </a:r>
          </a:p>
          <a:p>
            <a:pPr lvl="1">
              <a:buSzPct val="125000"/>
            </a:pPr>
            <a:r>
              <a:rPr lang="en-US" altLang="en-US" sz="2000" dirty="0"/>
              <a:t>No assumption concerning </a:t>
            </a:r>
            <a:r>
              <a:rPr lang="en-US" altLang="en-US" sz="2000" b="1" dirty="0">
                <a:solidFill>
                  <a:srgbClr val="006699"/>
                </a:solidFill>
                <a:latin typeface="+mj-lt"/>
              </a:rPr>
              <a:t>relative speed </a:t>
            </a:r>
            <a:r>
              <a:rPr lang="en-US" altLang="en-US" sz="2000" dirty="0"/>
              <a:t>of the</a:t>
            </a:r>
            <a:r>
              <a:rPr lang="en-US" altLang="en-US" sz="2000" b="1" dirty="0"/>
              <a:t> </a:t>
            </a:r>
            <a:r>
              <a:rPr lang="en-US" altLang="en-US" sz="2000" b="1" i="1" dirty="0">
                <a:solidFill>
                  <a:srgbClr val="000000"/>
                </a:solidFill>
              </a:rPr>
              <a:t>n</a:t>
            </a:r>
            <a:r>
              <a:rPr lang="en-US" altLang="en-US" sz="2000" b="1" dirty="0">
                <a:solidFill>
                  <a:srgbClr val="000000"/>
                </a:solidFill>
              </a:rPr>
              <a:t> </a:t>
            </a:r>
            <a:r>
              <a:rPr lang="en-US" altLang="en-US" sz="2000" dirty="0"/>
              <a:t>processes</a:t>
            </a:r>
          </a:p>
        </p:txBody>
      </p:sp>
      <p:sp>
        <p:nvSpPr>
          <p:cNvPr id="2" name="TextBox 1"/>
          <p:cNvSpPr txBox="1"/>
          <p:nvPr/>
        </p:nvSpPr>
        <p:spPr>
          <a:xfrm>
            <a:off x="2497396" y="1054512"/>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2177144"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2335763" y="1103615"/>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2270446"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2279777"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2279777"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2139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1179872" y="1314826"/>
            <a:ext cx="10235380" cy="5026980"/>
          </a:xfrm>
        </p:spPr>
        <p:txBody>
          <a:bodyPr/>
          <a:lstStyle/>
          <a:p>
            <a:pPr>
              <a:lnSpc>
                <a:spcPct val="90000"/>
              </a:lnSpc>
              <a:tabLst>
                <a:tab pos="739775" algn="l"/>
                <a:tab pos="1020763" algn="l"/>
                <a:tab pos="1257300" algn="l"/>
              </a:tabLst>
            </a:pPr>
            <a:r>
              <a:rPr lang="en-US" altLang="en-US" sz="2000" dirty="0"/>
              <a:t>Two process solution</a:t>
            </a:r>
          </a:p>
          <a:p>
            <a:pPr>
              <a:lnSpc>
                <a:spcPct val="90000"/>
              </a:lnSpc>
              <a:tabLst>
                <a:tab pos="739775" algn="l"/>
                <a:tab pos="1020763" algn="l"/>
                <a:tab pos="1257300" algn="l"/>
              </a:tabLst>
            </a:pPr>
            <a:endParaRPr lang="en-US" altLang="en-US" sz="2000" dirty="0"/>
          </a:p>
          <a:p>
            <a:pPr>
              <a:lnSpc>
                <a:spcPct val="90000"/>
              </a:lnSpc>
              <a:tabLst>
                <a:tab pos="739775" algn="l"/>
                <a:tab pos="1020763" algn="l"/>
                <a:tab pos="1257300" algn="l"/>
              </a:tabLst>
            </a:pPr>
            <a:r>
              <a:rPr lang="en-US" altLang="en-US" sz="2000" dirty="0"/>
              <a:t>Assume that the </a:t>
            </a:r>
            <a:r>
              <a:rPr lang="en-US" altLang="en-US" sz="2000" b="1" dirty="0">
                <a:latin typeface="Courier New" panose="02070309020205020404" pitchFamily="49" charset="0"/>
              </a:rPr>
              <a:t>load</a:t>
            </a:r>
            <a:r>
              <a:rPr lang="en-US" altLang="en-US" sz="2000" dirty="0">
                <a:latin typeface="Courier New" panose="02070309020205020404" pitchFamily="49" charset="0"/>
              </a:rPr>
              <a:t> </a:t>
            </a:r>
            <a:r>
              <a:rPr lang="en-US" altLang="en-US" sz="2000" dirty="0"/>
              <a:t>and </a:t>
            </a:r>
            <a:r>
              <a:rPr lang="en-US" altLang="en-US" sz="2000" b="1" dirty="0">
                <a:latin typeface="Courier New" panose="02070309020205020404" pitchFamily="49" charset="0"/>
              </a:rPr>
              <a:t>store</a:t>
            </a:r>
            <a:r>
              <a:rPr lang="en-US" altLang="en-US" sz="2000" dirty="0"/>
              <a:t> machine-language instructions are atomic; that is, cannot be interrupted</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 </a:t>
            </a:r>
            <a:endParaRPr lang="en-US" altLang="en-US" sz="2000" b="1" dirty="0">
              <a:solidFill>
                <a:srgbClr val="000000"/>
              </a:solidFill>
            </a:endParaRP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variable </a:t>
            </a:r>
            <a:r>
              <a:rPr lang="en-US" altLang="en-US" sz="2000" b="1" dirty="0">
                <a:latin typeface="Courier New" panose="02070309020205020404" pitchFamily="49" charset="0"/>
              </a:rPr>
              <a:t>turn</a:t>
            </a:r>
            <a:r>
              <a:rPr lang="en-US" altLang="en-US" sz="2000" dirty="0">
                <a:solidFill>
                  <a:srgbClr val="000000"/>
                </a:solidFill>
              </a:rPr>
              <a:t> indicates whose turn it is to enter the critical section</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initially, the value of </a:t>
            </a:r>
            <a:r>
              <a:rPr lang="en-US" altLang="en-US" sz="2000" b="1" dirty="0">
                <a:latin typeface="Courier New" panose="02070309020205020404" pitchFamily="49" charset="0"/>
              </a:rPr>
              <a:t>turn </a:t>
            </a:r>
            <a:r>
              <a:rPr lang="en-US" altLang="en-US" sz="2000" dirty="0">
                <a:solidFill>
                  <a:srgbClr val="000000"/>
                </a:solidFill>
              </a:rPr>
              <a:t>is set to </a:t>
            </a:r>
            <a:r>
              <a:rPr lang="en-US" altLang="en-US" sz="2000"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247292" y="896679"/>
            <a:ext cx="5596552"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687644" y="1582340"/>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513144" y="2283147"/>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513144" y="3666579"/>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2" name="Rectangle 3">
            <a:extLst>
              <a:ext uri="{FF2B5EF4-FFF2-40B4-BE49-F238E27FC236}">
                <a16:creationId xmlns:a16="http://schemas.microsoft.com/office/drawing/2014/main" id="{17B9D4B0-64AB-39F5-E94B-254D93036895}"/>
              </a:ext>
            </a:extLst>
          </p:cNvPr>
          <p:cNvSpPr>
            <a:spLocks noChangeArrowheads="1"/>
          </p:cNvSpPr>
          <p:nvPr/>
        </p:nvSpPr>
        <p:spPr bwMode="auto">
          <a:xfrm>
            <a:off x="5843844" y="1582340"/>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3" name="Rectangle 7">
            <a:extLst>
              <a:ext uri="{FF2B5EF4-FFF2-40B4-BE49-F238E27FC236}">
                <a16:creationId xmlns:a16="http://schemas.microsoft.com/office/drawing/2014/main" id="{5E9A9A86-218F-6C39-A456-91DE19DB72E1}"/>
              </a:ext>
            </a:extLst>
          </p:cNvPr>
          <p:cNvSpPr>
            <a:spLocks noChangeArrowheads="1"/>
          </p:cNvSpPr>
          <p:nvPr/>
        </p:nvSpPr>
        <p:spPr bwMode="auto">
          <a:xfrm>
            <a:off x="6669344" y="2283147"/>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4" name="Rectangle 8">
            <a:extLst>
              <a:ext uri="{FF2B5EF4-FFF2-40B4-BE49-F238E27FC236}">
                <a16:creationId xmlns:a16="http://schemas.microsoft.com/office/drawing/2014/main" id="{F138ED77-5DFF-B0A4-DCDE-7C50EA329CD1}"/>
              </a:ext>
            </a:extLst>
          </p:cNvPr>
          <p:cNvSpPr>
            <a:spLocks noChangeArrowheads="1"/>
          </p:cNvSpPr>
          <p:nvPr/>
        </p:nvSpPr>
        <p:spPr bwMode="auto">
          <a:xfrm>
            <a:off x="6669344" y="3666579"/>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5" name="Title 1">
            <a:extLst>
              <a:ext uri="{FF2B5EF4-FFF2-40B4-BE49-F238E27FC236}">
                <a16:creationId xmlns:a16="http://schemas.microsoft.com/office/drawing/2014/main" id="{84BB6038-1954-B0B1-3BE6-AFF80DDC1EAC}"/>
              </a:ext>
            </a:extLst>
          </p:cNvPr>
          <p:cNvSpPr txBox="1">
            <a:spLocks/>
          </p:cNvSpPr>
          <p:nvPr/>
        </p:nvSpPr>
        <p:spPr bwMode="auto">
          <a:xfrm>
            <a:off x="5623668" y="896679"/>
            <a:ext cx="559655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r>
              <a:rPr lang="en-US" altLang="en-US" kern="0" dirty="0"/>
              <a:t>Algorithm for Process </a:t>
            </a:r>
            <a:r>
              <a:rPr lang="en-US" altLang="en-US" i="1" kern="0" dirty="0" err="1"/>
              <a:t>P</a:t>
            </a:r>
            <a:r>
              <a:rPr lang="en-US" altLang="en-US" i="1" kern="0" baseline="-25000" dirty="0" err="1"/>
              <a:t>j</a:t>
            </a:r>
            <a:endParaRPr lang="en-US" altLang="en-US" i="1" kern="0" dirty="0"/>
          </a:p>
        </p:txBody>
      </p:sp>
      <p:cxnSp>
        <p:nvCxnSpPr>
          <p:cNvPr id="7" name="Straight Connector 6">
            <a:extLst>
              <a:ext uri="{FF2B5EF4-FFF2-40B4-BE49-F238E27FC236}">
                <a16:creationId xmlns:a16="http://schemas.microsoft.com/office/drawing/2014/main" id="{F6CB5CD8-8D89-A546-E503-EC9D48BB8251}"/>
              </a:ext>
            </a:extLst>
          </p:cNvPr>
          <p:cNvCxnSpPr/>
          <p:nvPr/>
        </p:nvCxnSpPr>
        <p:spPr bwMode="auto">
          <a:xfrm>
            <a:off x="5623668" y="896679"/>
            <a:ext cx="0" cy="4973179"/>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4661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3050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1548581" y="1233489"/>
            <a:ext cx="9763432" cy="4422775"/>
          </a:xfrm>
        </p:spPr>
        <p:txBody>
          <a:bodyPr/>
          <a:lstStyle/>
          <a:p>
            <a:r>
              <a:rPr lang="en-US" altLang="en-US" sz="2000" dirty="0">
                <a:solidFill>
                  <a:srgbClr val="000000"/>
                </a:solidFill>
              </a:rPr>
              <a:t>Mutual exclusion is preserved</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b="1" dirty="0">
                <a:solidFill>
                  <a:srgbClr val="000000"/>
                </a:solidFill>
                <a:latin typeface="Courier New" panose="02070309020205020404" pitchFamily="49" charset="0"/>
              </a:rPr>
              <a:t> </a:t>
            </a:r>
            <a:r>
              <a:rPr lang="en-US" altLang="en-US" sz="2000" dirty="0">
                <a:solidFill>
                  <a:srgbClr val="000000"/>
                </a:solidFill>
              </a:rPr>
              <a:t>enters critical section only if:</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turn = </a:t>
            </a:r>
            <a:r>
              <a:rPr lang="en-US" altLang="en-US" sz="2000" b="1" dirty="0" err="1">
                <a:solidFill>
                  <a:srgbClr val="000000"/>
                </a:solidFill>
                <a:latin typeface="Courier New" panose="02070309020205020404" pitchFamily="49" charset="0"/>
              </a:rPr>
              <a:t>i</a:t>
            </a: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a:t>
            </a:r>
            <a:r>
              <a:rPr lang="en-US" altLang="en-US" sz="2000" dirty="0">
                <a:solidFill>
                  <a:srgbClr val="000000"/>
                </a:solidFill>
              </a:rPr>
              <a:t>and </a:t>
            </a:r>
            <a:r>
              <a:rPr lang="en-US" altLang="en-US" sz="2000" b="1" dirty="0">
                <a:solidFill>
                  <a:srgbClr val="000000"/>
                </a:solidFill>
                <a:latin typeface="Courier New" panose="02070309020205020404" pitchFamily="49" charset="0"/>
              </a:rPr>
              <a:t>turn </a:t>
            </a:r>
            <a:r>
              <a:rPr lang="en-US" altLang="en-US" sz="2000" dirty="0">
                <a:solidFill>
                  <a:srgbClr val="000000"/>
                </a:solidFill>
              </a:rPr>
              <a:t>cannot be both 0 and 1 at the same time</a:t>
            </a: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What about the Progress requirement?</a:t>
            </a: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What about the Bounded-waiting requirement?</a:t>
            </a:r>
          </a:p>
          <a:p>
            <a:pPr>
              <a:lnSpc>
                <a:spcPct val="90000"/>
              </a:lnSpc>
            </a:pPr>
            <a:endParaRPr lang="en-US" altLang="en-US" sz="2000" dirty="0"/>
          </a:p>
        </p:txBody>
      </p:sp>
    </p:spTree>
    <p:extLst>
      <p:ext uri="{BB962C8B-B14F-4D97-AF65-F5344CB8AC3E}">
        <p14:creationId xmlns:p14="http://schemas.microsoft.com/office/powerpoint/2010/main" val="403554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2139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1165123" y="1139856"/>
            <a:ext cx="10235380" cy="5231447"/>
          </a:xfrm>
        </p:spPr>
        <p:txBody>
          <a:bodyPr/>
          <a:lstStyle/>
          <a:p>
            <a:pPr>
              <a:lnSpc>
                <a:spcPct val="90000"/>
              </a:lnSpc>
              <a:tabLst>
                <a:tab pos="739775" algn="l"/>
                <a:tab pos="1020763" algn="l"/>
                <a:tab pos="1257300" algn="l"/>
              </a:tabLst>
            </a:pPr>
            <a:r>
              <a:rPr lang="en-US" altLang="en-US" sz="2000" dirty="0"/>
              <a:t>Two process solution</a:t>
            </a:r>
          </a:p>
          <a:p>
            <a:pPr>
              <a:lnSpc>
                <a:spcPct val="90000"/>
              </a:lnSpc>
              <a:tabLst>
                <a:tab pos="739775" algn="l"/>
                <a:tab pos="1020763" algn="l"/>
                <a:tab pos="1257300" algn="l"/>
              </a:tabLst>
            </a:pPr>
            <a:endParaRPr lang="en-US" altLang="en-US" sz="2000" dirty="0"/>
          </a:p>
          <a:p>
            <a:pPr>
              <a:lnSpc>
                <a:spcPct val="90000"/>
              </a:lnSpc>
              <a:tabLst>
                <a:tab pos="739775" algn="l"/>
                <a:tab pos="1020763" algn="l"/>
                <a:tab pos="1257300" algn="l"/>
              </a:tabLst>
            </a:pPr>
            <a:r>
              <a:rPr lang="en-US" altLang="en-US" sz="2000" dirty="0"/>
              <a:t>Assume that the </a:t>
            </a:r>
            <a:r>
              <a:rPr lang="en-US" altLang="en-US" sz="2000" b="1" dirty="0">
                <a:latin typeface="Courier New" panose="02070309020205020404" pitchFamily="49" charset="0"/>
              </a:rPr>
              <a:t>load</a:t>
            </a:r>
            <a:r>
              <a:rPr lang="en-US" altLang="en-US" sz="2000" dirty="0">
                <a:latin typeface="Courier New" panose="02070309020205020404" pitchFamily="49" charset="0"/>
              </a:rPr>
              <a:t> </a:t>
            </a:r>
            <a:r>
              <a:rPr lang="en-US" altLang="en-US" sz="2000" dirty="0"/>
              <a:t>and </a:t>
            </a:r>
            <a:r>
              <a:rPr lang="en-US" altLang="en-US" sz="2000" b="1" dirty="0">
                <a:latin typeface="Courier New" panose="02070309020205020404" pitchFamily="49" charset="0"/>
              </a:rPr>
              <a:t>store</a:t>
            </a:r>
            <a:r>
              <a:rPr lang="en-US" altLang="en-US" sz="2000" dirty="0"/>
              <a:t> machine-language instructions are atomic; that is, cannot be interrupted</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two processes share two variables:</a:t>
            </a:r>
          </a:p>
          <a:p>
            <a:pPr lvl="1">
              <a:lnSpc>
                <a:spcPct val="90000"/>
              </a:lnSpc>
              <a:tabLst>
                <a:tab pos="739775" algn="l"/>
                <a:tab pos="1020763" algn="l"/>
                <a:tab pos="1257300" algn="l"/>
              </a:tabLst>
            </a:pPr>
            <a:r>
              <a:rPr lang="en-US" altLang="en-US" sz="2000" b="1" dirty="0" err="1">
                <a:latin typeface="Courier New" panose="02070309020205020404" pitchFamily="49" charset="0"/>
              </a:rPr>
              <a:t>int</a:t>
            </a:r>
            <a:r>
              <a:rPr lang="en-US" altLang="en-US" sz="2000" b="1" dirty="0">
                <a:latin typeface="Courier New" panose="02070309020205020404" pitchFamily="49" charset="0"/>
              </a:rPr>
              <a:t> turn; </a:t>
            </a:r>
          </a:p>
          <a:p>
            <a:pPr lvl="1">
              <a:lnSpc>
                <a:spcPct val="90000"/>
              </a:lnSpc>
              <a:tabLst>
                <a:tab pos="739775" algn="l"/>
                <a:tab pos="1020763" algn="l"/>
                <a:tab pos="1257300" algn="l"/>
              </a:tabLst>
            </a:pPr>
            <a:r>
              <a:rPr lang="en-US" altLang="en-US" sz="2000" b="1" dirty="0" err="1">
                <a:latin typeface="Courier New" panose="02070309020205020404" pitchFamily="49" charset="0"/>
              </a:rPr>
              <a:t>boolean</a:t>
            </a:r>
            <a:r>
              <a:rPr lang="en-US" altLang="en-US" sz="2000" b="1" dirty="0">
                <a:latin typeface="Courier New" panose="02070309020205020404" pitchFamily="49" charset="0"/>
              </a:rPr>
              <a:t> flag[2]</a:t>
            </a:r>
          </a:p>
          <a:p>
            <a:pPr lvl="1">
              <a:lnSpc>
                <a:spcPct val="90000"/>
              </a:lnSpc>
              <a:tabLst>
                <a:tab pos="739775" algn="l"/>
                <a:tab pos="1020763" algn="l"/>
                <a:tab pos="1257300" algn="l"/>
              </a:tabLst>
            </a:pPr>
            <a:endParaRPr lang="en-US" altLang="en-US" sz="2000" b="1"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variable </a:t>
            </a:r>
            <a:r>
              <a:rPr lang="en-US" altLang="en-US" sz="2000" b="1" dirty="0">
                <a:latin typeface="Courier New" panose="02070309020205020404" pitchFamily="49" charset="0"/>
              </a:rPr>
              <a:t>turn</a:t>
            </a:r>
            <a:r>
              <a:rPr lang="en-US" altLang="en-US" sz="2000" dirty="0">
                <a:solidFill>
                  <a:srgbClr val="000000"/>
                </a:solidFill>
              </a:rPr>
              <a:t> indicates whose turn it is to enter the critical section</a:t>
            </a:r>
          </a:p>
          <a:p>
            <a:pPr>
              <a:lnSpc>
                <a:spcPct val="90000"/>
              </a:lnSpc>
              <a:tabLst>
                <a:tab pos="739775" algn="l"/>
                <a:tab pos="1020763" algn="l"/>
                <a:tab pos="1257300" algn="l"/>
              </a:tabLst>
            </a:pPr>
            <a:endParaRPr lang="en-US" altLang="en-US" sz="2000" dirty="0">
              <a:solidFill>
                <a:srgbClr val="000000"/>
              </a:solidFill>
            </a:endParaRPr>
          </a:p>
          <a:p>
            <a:pPr>
              <a:lnSpc>
                <a:spcPct val="90000"/>
              </a:lnSpc>
              <a:tabLst>
                <a:tab pos="739775" algn="l"/>
                <a:tab pos="1020763" algn="l"/>
                <a:tab pos="1257300" algn="l"/>
              </a:tabLst>
            </a:pPr>
            <a:r>
              <a:rPr lang="en-US" altLang="en-US" sz="2000" dirty="0">
                <a:solidFill>
                  <a:srgbClr val="000000"/>
                </a:solidFill>
              </a:rPr>
              <a:t>The </a:t>
            </a:r>
            <a:r>
              <a:rPr lang="en-US" altLang="en-US" sz="2000" b="1" dirty="0">
                <a:latin typeface="Courier New" panose="02070309020205020404" pitchFamily="49" charset="0"/>
              </a:rPr>
              <a:t>flag </a:t>
            </a:r>
            <a:r>
              <a:rPr lang="en-US" altLang="en-US" sz="2000"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sz="2000" b="1" dirty="0">
                <a:latin typeface="Courier New" panose="02070309020205020404" pitchFamily="49" charset="0"/>
              </a:rPr>
              <a:t>flag[</a:t>
            </a:r>
            <a:r>
              <a:rPr lang="en-US" altLang="en-US" sz="2000" b="1" dirty="0" err="1">
                <a:latin typeface="Courier New" panose="02070309020205020404" pitchFamily="49" charset="0"/>
              </a:rPr>
              <a:t>i</a:t>
            </a:r>
            <a:r>
              <a:rPr lang="en-US" altLang="en-US" sz="2000" b="1" dirty="0">
                <a:latin typeface="Courier New" panose="02070309020205020404" pitchFamily="49" charset="0"/>
              </a:rPr>
              <a:t>] = </a:t>
            </a:r>
            <a:r>
              <a:rPr lang="en-US" altLang="en-US" sz="2000" b="1" i="1" dirty="0">
                <a:latin typeface="Courier New" panose="02070309020205020404" pitchFamily="49" charset="0"/>
              </a:rPr>
              <a:t>true</a:t>
            </a:r>
            <a:r>
              <a:rPr lang="en-US" altLang="en-US" sz="2000"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806251" y="392898"/>
            <a:ext cx="5053779"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48431" y="1713468"/>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173931" y="2280638"/>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173931" y="4078259"/>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
        <p:nvSpPr>
          <p:cNvPr id="2" name="Title 1">
            <a:extLst>
              <a:ext uri="{FF2B5EF4-FFF2-40B4-BE49-F238E27FC236}">
                <a16:creationId xmlns:a16="http://schemas.microsoft.com/office/drawing/2014/main" id="{53AA082D-8A66-39F0-E169-817BD034E405}"/>
              </a:ext>
            </a:extLst>
          </p:cNvPr>
          <p:cNvSpPr txBox="1">
            <a:spLocks/>
          </p:cNvSpPr>
          <p:nvPr/>
        </p:nvSpPr>
        <p:spPr bwMode="auto">
          <a:xfrm>
            <a:off x="6641281" y="392898"/>
            <a:ext cx="5053779"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r>
              <a:rPr lang="en-US" altLang="en-US" kern="0" dirty="0"/>
              <a:t>Algorithm for Process </a:t>
            </a:r>
            <a:r>
              <a:rPr lang="en-US" altLang="en-US" i="1" kern="0" dirty="0" err="1"/>
              <a:t>P</a:t>
            </a:r>
            <a:r>
              <a:rPr lang="en-US" altLang="en-US" i="1" kern="0" baseline="-25000" dirty="0" err="1"/>
              <a:t>j</a:t>
            </a:r>
            <a:endParaRPr lang="en-US" altLang="en-US" i="1" kern="0" dirty="0"/>
          </a:p>
        </p:txBody>
      </p:sp>
      <p:sp>
        <p:nvSpPr>
          <p:cNvPr id="3" name="Rectangle 3">
            <a:extLst>
              <a:ext uri="{FF2B5EF4-FFF2-40B4-BE49-F238E27FC236}">
                <a16:creationId xmlns:a16="http://schemas.microsoft.com/office/drawing/2014/main" id="{0E197E98-5630-8077-95D2-ABE1A3C92016}"/>
              </a:ext>
            </a:extLst>
          </p:cNvPr>
          <p:cNvSpPr>
            <a:spLocks noChangeArrowheads="1"/>
          </p:cNvSpPr>
          <p:nvPr/>
        </p:nvSpPr>
        <p:spPr bwMode="auto">
          <a:xfrm>
            <a:off x="5947491" y="1713468"/>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flag[j] = true; </a:t>
            </a: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&amp;&amp;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flag[j]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4" name="Rectangle 7">
            <a:extLst>
              <a:ext uri="{FF2B5EF4-FFF2-40B4-BE49-F238E27FC236}">
                <a16:creationId xmlns:a16="http://schemas.microsoft.com/office/drawing/2014/main" id="{B532688B-D46F-0849-D90E-177FC405CC0C}"/>
              </a:ext>
            </a:extLst>
          </p:cNvPr>
          <p:cNvSpPr>
            <a:spLocks noChangeArrowheads="1"/>
          </p:cNvSpPr>
          <p:nvPr/>
        </p:nvSpPr>
        <p:spPr bwMode="auto">
          <a:xfrm>
            <a:off x="6772991" y="2280638"/>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5" name="Rectangle 8">
            <a:extLst>
              <a:ext uri="{FF2B5EF4-FFF2-40B4-BE49-F238E27FC236}">
                <a16:creationId xmlns:a16="http://schemas.microsoft.com/office/drawing/2014/main" id="{738A67A7-FC92-6885-28BD-74BCD105304A}"/>
              </a:ext>
            </a:extLst>
          </p:cNvPr>
          <p:cNvSpPr>
            <a:spLocks noChangeArrowheads="1"/>
          </p:cNvSpPr>
          <p:nvPr/>
        </p:nvSpPr>
        <p:spPr bwMode="auto">
          <a:xfrm>
            <a:off x="6772991" y="4078259"/>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cxnSp>
        <p:nvCxnSpPr>
          <p:cNvPr id="7" name="Straight Connector 6">
            <a:extLst>
              <a:ext uri="{FF2B5EF4-FFF2-40B4-BE49-F238E27FC236}">
                <a16:creationId xmlns:a16="http://schemas.microsoft.com/office/drawing/2014/main" id="{1521993E-8920-3AA6-BD54-7F29E2ED9E77}"/>
              </a:ext>
            </a:extLst>
          </p:cNvPr>
          <p:cNvCxnSpPr/>
          <p:nvPr/>
        </p:nvCxnSpPr>
        <p:spPr bwMode="auto">
          <a:xfrm>
            <a:off x="5845282" y="1042900"/>
            <a:ext cx="0" cy="501868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93168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3029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1415845" y="1233489"/>
            <a:ext cx="9792929" cy="4872343"/>
          </a:xfrm>
        </p:spPr>
        <p:txBody>
          <a:bodyPr/>
          <a:lstStyle/>
          <a:p>
            <a:r>
              <a:rPr lang="en-US" altLang="en-US" sz="2000" dirty="0">
                <a:solidFill>
                  <a:srgbClr val="000000"/>
                </a:solidFill>
              </a:rPr>
              <a:t>Provable that the three  CS requirement are met:</a:t>
            </a:r>
          </a:p>
          <a:p>
            <a:pPr>
              <a:buFont typeface="Monotype Sorts" pitchFamily="-84" charset="2"/>
              <a:buNone/>
            </a:pPr>
            <a:r>
              <a:rPr lang="en-US" altLang="en-US" sz="2000" dirty="0">
                <a:solidFill>
                  <a:srgbClr val="000000"/>
                </a:solidFill>
              </a:rPr>
              <a:t>        1.   Mutual exclusion is preserved</a:t>
            </a:r>
          </a:p>
          <a:p>
            <a:pPr>
              <a:buFont typeface="Monotype Sorts" pitchFamily="-84" charset="2"/>
              <a:buNone/>
            </a:pPr>
            <a:r>
              <a:rPr lang="en-US" altLang="en-US" sz="2000"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sz="2000" b="1" dirty="0">
                <a:solidFill>
                  <a:srgbClr val="000000"/>
                </a:solidFill>
                <a:latin typeface="Courier New" panose="02070309020205020404" pitchFamily="49" charset="0"/>
              </a:rPr>
              <a:t> </a:t>
            </a:r>
            <a:r>
              <a:rPr lang="en-US" altLang="en-US" sz="2000" dirty="0">
                <a:solidFill>
                  <a:srgbClr val="000000"/>
                </a:solidFill>
              </a:rPr>
              <a:t>enters CS only if:</a:t>
            </a:r>
          </a:p>
          <a:p>
            <a:pPr>
              <a:buFont typeface="Monotype Sorts" pitchFamily="-84" charset="2"/>
              <a:buNone/>
            </a:pPr>
            <a:r>
              <a:rPr lang="en-US" altLang="en-US" sz="2000" dirty="0">
                <a:solidFill>
                  <a:srgbClr val="000000"/>
                </a:solidFill>
              </a:rPr>
              <a:t>                      either </a:t>
            </a:r>
            <a:r>
              <a:rPr lang="en-US" altLang="en-US" sz="2000" b="1" dirty="0">
                <a:solidFill>
                  <a:srgbClr val="000000"/>
                </a:solidFill>
                <a:latin typeface="Courier New" panose="02070309020205020404" pitchFamily="49" charset="0"/>
              </a:rPr>
              <a:t>flag[j] = false </a:t>
            </a:r>
            <a:r>
              <a:rPr lang="en-US" altLang="en-US" sz="2000" dirty="0">
                <a:solidFill>
                  <a:srgbClr val="000000"/>
                </a:solidFill>
              </a:rPr>
              <a:t>or</a:t>
            </a:r>
            <a:r>
              <a:rPr lang="en-US" altLang="en-US" sz="2000" b="1" dirty="0">
                <a:solidFill>
                  <a:srgbClr val="000000"/>
                </a:solidFill>
                <a:latin typeface="Courier New" panose="02070309020205020404" pitchFamily="49" charset="0"/>
              </a:rPr>
              <a:t> turn = I</a:t>
            </a:r>
          </a:p>
          <a:p>
            <a:pPr>
              <a:buFont typeface="Monotype Sorts" pitchFamily="-84" charset="2"/>
              <a:buNone/>
            </a:pPr>
            <a:endParaRPr lang="en-US" altLang="en-US" sz="2000" dirty="0">
              <a:solidFill>
                <a:srgbClr val="000000"/>
              </a:solidFill>
            </a:endParaRPr>
          </a:p>
          <a:p>
            <a:pPr>
              <a:buFont typeface="Monotype Sorts" pitchFamily="-84" charset="2"/>
              <a:buNone/>
            </a:pPr>
            <a:r>
              <a:rPr lang="en-US" altLang="en-US" sz="2000" dirty="0">
                <a:solidFill>
                  <a:srgbClr val="000000"/>
                </a:solidFill>
              </a:rPr>
              <a:t>        2.  Progress requirement is satisfied</a:t>
            </a:r>
          </a:p>
          <a:p>
            <a:pPr>
              <a:buFont typeface="Monotype Sorts" pitchFamily="-84" charset="2"/>
              <a:buNone/>
            </a:pPr>
            <a:endParaRPr lang="en-US" altLang="en-US" sz="2000" dirty="0">
              <a:solidFill>
                <a:srgbClr val="000000"/>
              </a:solidFill>
            </a:endParaRPr>
          </a:p>
          <a:p>
            <a:pPr>
              <a:buFont typeface="Monotype Sorts" pitchFamily="-84" charset="2"/>
              <a:buNone/>
            </a:pPr>
            <a:r>
              <a:rPr lang="en-US" altLang="en-US" sz="2000" dirty="0">
                <a:solidFill>
                  <a:srgbClr val="000000"/>
                </a:solidFill>
              </a:rPr>
              <a:t>        3.  Bounded-waiting requirement is met</a:t>
            </a:r>
          </a:p>
          <a:p>
            <a:pPr>
              <a:lnSpc>
                <a:spcPct val="90000"/>
              </a:lnSpc>
            </a:pPr>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2356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1120877" y="1233489"/>
            <a:ext cx="10500852" cy="4385647"/>
          </a:xfrm>
        </p:spPr>
        <p:txBody>
          <a:bodyPr/>
          <a:lstStyle/>
          <a:p>
            <a:r>
              <a:rPr lang="en-US" altLang="en-US" sz="2000" dirty="0"/>
              <a:t>Although useful for demonstrating an algorithm, Peterson’s Solution is not guaranteed to work on modern architectures.</a:t>
            </a:r>
          </a:p>
          <a:p>
            <a:pPr lvl="1"/>
            <a:r>
              <a:rPr lang="en-US" altLang="en-US" sz="2000" dirty="0"/>
              <a:t>To improve performance, processors and/or compilers may reorder operations that have no dependencies</a:t>
            </a:r>
          </a:p>
          <a:p>
            <a:endParaRPr lang="en-US" altLang="en-US" sz="2000" dirty="0"/>
          </a:p>
          <a:p>
            <a:r>
              <a:rPr lang="en-US" altLang="en-US" sz="2000" dirty="0"/>
              <a:t>Understanding why it will not work is useful for better understanding race conditions.</a:t>
            </a:r>
          </a:p>
          <a:p>
            <a:endParaRPr lang="en-US" altLang="en-US" sz="2000" dirty="0"/>
          </a:p>
          <a:p>
            <a:r>
              <a:rPr lang="en-US" altLang="en-US" sz="2000" dirty="0"/>
              <a:t>For single-threaded this is ok as the result will always be the same.</a:t>
            </a:r>
          </a:p>
          <a:p>
            <a:endParaRPr lang="en-US" altLang="en-US" sz="2000" dirty="0"/>
          </a:p>
          <a:p>
            <a:r>
              <a:rPr lang="en-US" altLang="en-US" sz="2000" dirty="0"/>
              <a:t>For multithreaded the reordering may produce inconsistent or unexpected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1981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2330450" y="1233488"/>
            <a:ext cx="7727950" cy="4710111"/>
          </a:xfrm>
        </p:spPr>
        <p:txBody>
          <a:bodyPr/>
          <a:lstStyle/>
          <a:p>
            <a:r>
              <a:rPr lang="en-US" altLang="en-US" sz="2000" dirty="0"/>
              <a:t>Two threads share the data:</a:t>
            </a:r>
            <a:br>
              <a:rPr lang="en-US" altLang="en-US" sz="2000" dirty="0"/>
            </a:br>
            <a:r>
              <a:rPr lang="en-US" altLang="en-US" sz="2000" dirty="0"/>
              <a:t>      </a:t>
            </a:r>
            <a:r>
              <a:rPr lang="en-US" altLang="en-US" sz="2000" dirty="0" err="1">
                <a:latin typeface="Courier New" panose="02070309020205020404" pitchFamily="49" charset="0"/>
                <a:cs typeface="Courier New" panose="02070309020205020404" pitchFamily="49" charset="0"/>
              </a:rPr>
              <a:t>boolean</a:t>
            </a:r>
            <a:r>
              <a:rPr lang="en-US" altLang="en-US" sz="2000" dirty="0">
                <a:latin typeface="Courier New" panose="02070309020205020404" pitchFamily="49" charset="0"/>
                <a:cs typeface="Courier New" panose="02070309020205020404" pitchFamily="49" charset="0"/>
              </a:rPr>
              <a:t> flag = false;</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int x = 0;</a:t>
            </a:r>
          </a:p>
          <a:p>
            <a:r>
              <a:rPr lang="en-US" altLang="en-US" sz="2000" dirty="0"/>
              <a:t>Thread 1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while (!flag)</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print x</a:t>
            </a:r>
          </a:p>
          <a:p>
            <a:r>
              <a:rPr lang="en-US" altLang="en-US" sz="2000" dirty="0"/>
              <a:t>Thread 2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x = 100;</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flag = true</a:t>
            </a:r>
          </a:p>
          <a:p>
            <a:r>
              <a:rPr lang="en-US" altLang="en-US" sz="2000" dirty="0"/>
              <a:t>What is the expected output?</a:t>
            </a:r>
          </a:p>
          <a:p>
            <a:pPr marL="0" indent="0">
              <a:buNone/>
            </a:pPr>
            <a:r>
              <a:rPr lang="en-US" altLang="en-US" sz="2000" dirty="0"/>
              <a:t>            </a:t>
            </a:r>
          </a:p>
          <a:p>
            <a:pPr marL="0" indent="0">
              <a:buNone/>
            </a:pPr>
            <a:r>
              <a:rPr lang="en-US" altLang="en-US" sz="2000"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3104789" y="5255180"/>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2635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1696065" y="1233489"/>
            <a:ext cx="7993625" cy="4294476"/>
          </a:xfrm>
        </p:spPr>
        <p:txBody>
          <a:bodyPr/>
          <a:lstStyle/>
          <a:p>
            <a:r>
              <a:rPr lang="en-US" altLang="en-US" sz="2000" dirty="0"/>
              <a:t>However, since the variables </a:t>
            </a:r>
            <a:r>
              <a:rPr lang="en-US" altLang="en-US" sz="2000" dirty="0">
                <a:latin typeface="Courier New" panose="02070309020205020404" pitchFamily="49" charset="0"/>
                <a:cs typeface="Courier New" panose="02070309020205020404" pitchFamily="49" charset="0"/>
              </a:rPr>
              <a:t>flag</a:t>
            </a:r>
            <a:r>
              <a:rPr lang="en-US" altLang="en-US" sz="2000" dirty="0"/>
              <a:t> and </a:t>
            </a:r>
            <a:r>
              <a:rPr lang="en-US" altLang="en-US" sz="2000" dirty="0">
                <a:latin typeface="Courier New" panose="02070309020205020404" pitchFamily="49" charset="0"/>
                <a:cs typeface="Courier New" panose="02070309020205020404" pitchFamily="49" charset="0"/>
              </a:rPr>
              <a:t>x</a:t>
            </a:r>
            <a:r>
              <a:rPr lang="en-US" altLang="en-US" sz="2000" dirty="0"/>
              <a:t> are independent of each other, the instructions:</a:t>
            </a:r>
          </a:p>
          <a:p>
            <a:pPr marL="0" indent="0">
              <a:buNone/>
            </a:pP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flag = true;</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x = 100;</a:t>
            </a:r>
          </a:p>
          <a:p>
            <a:pPr marL="0" indent="0">
              <a:buNone/>
            </a:pPr>
            <a:endParaRPr lang="en-US" altLang="en-US" sz="2000" dirty="0">
              <a:latin typeface="Courier New" panose="02070309020205020404" pitchFamily="49" charset="0"/>
              <a:cs typeface="Courier New" panose="02070309020205020404" pitchFamily="49" charset="0"/>
            </a:endParaRPr>
          </a:p>
          <a:p>
            <a:pPr marL="0" indent="0">
              <a:buNone/>
            </a:pPr>
            <a:r>
              <a:rPr lang="en-US" altLang="en-US" sz="2000" dirty="0">
                <a:latin typeface="Courier New" panose="02070309020205020404" pitchFamily="49" charset="0"/>
                <a:cs typeface="Courier New" panose="02070309020205020404" pitchFamily="49" charset="0"/>
              </a:rPr>
              <a:t>   </a:t>
            </a:r>
            <a:r>
              <a:rPr lang="en-US" altLang="en-US" sz="2000" dirty="0"/>
              <a:t>for Thread 2 may be reordered</a:t>
            </a:r>
            <a:endParaRPr lang="en-US" altLang="en-US" sz="2000" dirty="0">
              <a:latin typeface="Courier New" panose="02070309020205020404" pitchFamily="49" charset="0"/>
              <a:cs typeface="Courier New" panose="02070309020205020404" pitchFamily="49" charset="0"/>
            </a:endParaRPr>
          </a:p>
          <a:p>
            <a:r>
              <a:rPr lang="en-US" altLang="en-US" sz="2000" dirty="0"/>
              <a:t>If this occurs, the output may be 0!</a:t>
            </a:r>
          </a:p>
          <a:p>
            <a:pPr marL="0" indent="0">
              <a:buNone/>
            </a:pPr>
            <a:br>
              <a:rPr lang="en-US" altLang="en-US" sz="2000" dirty="0"/>
            </a:br>
            <a:br>
              <a:rPr lang="en-US" altLang="en-US" sz="2000" dirty="0"/>
            </a:br>
            <a:br>
              <a:rPr lang="en-US" altLang="en-US" sz="2000" dirty="0"/>
            </a:br>
            <a:endParaRPr lang="en-US"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2487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1075267" y="2189857"/>
            <a:ext cx="10472720" cy="3797988"/>
          </a:xfrm>
        </p:spPr>
        <p:txBody>
          <a:bodyPr/>
          <a:lstStyle/>
          <a:p>
            <a:r>
              <a:rPr lang="en-US" altLang="en-US" sz="2000" dirty="0"/>
              <a:t>The effects of instruction reordering in Peterson’s Solution</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This allows both processes to be in their critical section at the same time!</a:t>
            </a:r>
          </a:p>
          <a:p>
            <a:r>
              <a:rPr lang="en-US" altLang="en-US" sz="2000" dirty="0"/>
              <a:t>To ensure that Peterson’s solution will work correctly on modern computer architecture we must use </a:t>
            </a:r>
            <a:r>
              <a:rPr lang="en-US" altLang="en-US" sz="2000" b="1" dirty="0">
                <a:solidFill>
                  <a:srgbClr val="006699"/>
                </a:solidFill>
                <a:latin typeface="+mj-lt"/>
              </a:rPr>
              <a:t>Memory Barrier</a:t>
            </a:r>
            <a:r>
              <a:rPr lang="en-US" altLang="en-US" sz="2000" dirty="0"/>
              <a:t>.</a:t>
            </a:r>
            <a:br>
              <a:rPr lang="en-US" altLang="en-US" sz="2000" dirty="0"/>
            </a:br>
            <a:br>
              <a:rPr lang="en-US" altLang="en-US" sz="2000" dirty="0"/>
            </a:br>
            <a:br>
              <a:rPr lang="en-US" altLang="en-US" sz="2000" dirty="0"/>
            </a:br>
            <a:br>
              <a:rPr lang="en-US" altLang="en-US" sz="2000" dirty="0"/>
            </a:br>
            <a:endParaRPr lang="en-US" altLang="en-US" sz="2000"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0471" y="3015914"/>
            <a:ext cx="8848606" cy="214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9011FDD-BE85-C6BD-41F0-F9F5B9BD214E}"/>
              </a:ext>
            </a:extLst>
          </p:cNvPr>
          <p:cNvSpPr txBox="1"/>
          <p:nvPr/>
        </p:nvSpPr>
        <p:spPr>
          <a:xfrm>
            <a:off x="614505" y="1012873"/>
            <a:ext cx="4827650" cy="923330"/>
          </a:xfrm>
          <a:prstGeom prst="rect">
            <a:avLst/>
          </a:prstGeom>
          <a:noFill/>
        </p:spPr>
        <p:txBody>
          <a:bodyPr wrap="square">
            <a:spAutoFit/>
          </a:bodyPr>
          <a:lstStyle/>
          <a:p>
            <a:r>
              <a:rPr lang="en-US" altLang="en-US" b="1" dirty="0">
                <a:solidFill>
                  <a:srgbClr val="000000"/>
                </a:solidFill>
                <a:latin typeface="Courier New" panose="02070309020205020404" pitchFamily="49" charset="0"/>
              </a:rPr>
              <a:t>turn = j; </a:t>
            </a:r>
          </a:p>
          <a:p>
            <a:pPr>
              <a:buFont typeface="Monotype Sorts" pitchFamily="-84" charset="2"/>
              <a:buNone/>
            </a:pPr>
            <a:r>
              <a:rPr lang="en-US" altLang="en-US" b="1" dirty="0">
                <a:solidFill>
                  <a:srgbClr val="000000"/>
                </a:solidFill>
                <a:latin typeface="Courier New" panose="02070309020205020404" pitchFamily="49" charset="0"/>
              </a:rPr>
              <a:t>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while (flag[j] &amp;&amp; turn = = j)</a:t>
            </a:r>
          </a:p>
        </p:txBody>
      </p:sp>
      <p:sp>
        <p:nvSpPr>
          <p:cNvPr id="7" name="TextBox 6">
            <a:extLst>
              <a:ext uri="{FF2B5EF4-FFF2-40B4-BE49-F238E27FC236}">
                <a16:creationId xmlns:a16="http://schemas.microsoft.com/office/drawing/2014/main" id="{EF39C529-6C09-57B2-0C68-4AC377333D4A}"/>
              </a:ext>
            </a:extLst>
          </p:cNvPr>
          <p:cNvSpPr txBox="1"/>
          <p:nvPr/>
        </p:nvSpPr>
        <p:spPr>
          <a:xfrm>
            <a:off x="6311627" y="1123612"/>
            <a:ext cx="4690670" cy="923330"/>
          </a:xfrm>
          <a:prstGeom prst="rect">
            <a:avLst/>
          </a:prstGeom>
          <a:noFill/>
        </p:spPr>
        <p:txBody>
          <a:bodyPr wrap="square">
            <a:spAutoFit/>
          </a:bodyPr>
          <a:lstStyle/>
          <a:p>
            <a:r>
              <a:rPr lang="en-US" altLang="en-US" b="1" dirty="0">
                <a:solidFill>
                  <a:srgbClr val="000000"/>
                </a:solidFill>
                <a:latin typeface="Courier New" panose="02070309020205020404" pitchFamily="49" charset="0"/>
              </a:rPr>
              <a:t>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flag[j] = true; </a:t>
            </a:r>
          </a:p>
          <a:p>
            <a:pPr>
              <a:buFont typeface="Monotype Sorts" pitchFamily="-84" charset="2"/>
              <a:buNone/>
            </a:pPr>
            <a:r>
              <a:rPr lang="en-US" altLang="en-US" b="1" dirty="0">
                <a:solidFill>
                  <a:srgbClr val="000000"/>
                </a:solidFill>
                <a:latin typeface="Courier New" panose="02070309020205020404" pitchFamily="49" charset="0"/>
              </a:rPr>
              <a:t>while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&amp;&amp; turn =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a:t>
            </a:r>
          </a:p>
        </p:txBody>
      </p:sp>
      <p:cxnSp>
        <p:nvCxnSpPr>
          <p:cNvPr id="9" name="Straight Connector 8">
            <a:extLst>
              <a:ext uri="{FF2B5EF4-FFF2-40B4-BE49-F238E27FC236}">
                <a16:creationId xmlns:a16="http://schemas.microsoft.com/office/drawing/2014/main" id="{9AEC2782-232E-F547-40AC-B9241B090596}"/>
              </a:ext>
            </a:extLst>
          </p:cNvPr>
          <p:cNvCxnSpPr/>
          <p:nvPr/>
        </p:nvCxnSpPr>
        <p:spPr bwMode="auto">
          <a:xfrm>
            <a:off x="5442155" y="899652"/>
            <a:ext cx="0" cy="129020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15089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1981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1592826" y="1233489"/>
            <a:ext cx="9674942" cy="4590537"/>
          </a:xfrm>
        </p:spPr>
        <p:txBody>
          <a:bodyPr/>
          <a:lstStyle/>
          <a:p>
            <a:r>
              <a:rPr lang="en-US" altLang="en-US" sz="2000" b="1" dirty="0"/>
              <a:t>Memory model </a:t>
            </a:r>
            <a:r>
              <a:rPr lang="en-US" altLang="en-US" sz="2000" dirty="0"/>
              <a:t>are the memory guarantees a computer architecture makes to application programs.</a:t>
            </a:r>
          </a:p>
          <a:p>
            <a:pPr marL="0" indent="0">
              <a:buNone/>
            </a:pPr>
            <a:endParaRPr lang="en-US" altLang="en-US" sz="2000" dirty="0"/>
          </a:p>
          <a:p>
            <a:r>
              <a:rPr lang="en-US" altLang="en-US" sz="2000" dirty="0"/>
              <a:t>Memory models may be either:</a:t>
            </a:r>
          </a:p>
          <a:p>
            <a:pPr lvl="1"/>
            <a:r>
              <a:rPr lang="en-US" altLang="en-US" sz="2000" b="1" dirty="0"/>
              <a:t>Strongly ordered </a:t>
            </a:r>
            <a:r>
              <a:rPr lang="en-US" altLang="en-US" sz="2000" dirty="0"/>
              <a:t>– where a memory modification of one processor is immediately visible to all other processors.</a:t>
            </a:r>
          </a:p>
          <a:p>
            <a:pPr lvl="1"/>
            <a:r>
              <a:rPr lang="en-US" altLang="en-US" sz="2000" b="1" dirty="0"/>
              <a:t>Weakly ordered  </a:t>
            </a:r>
            <a:r>
              <a:rPr lang="en-US" altLang="en-US" sz="2000" dirty="0"/>
              <a:t>– where a memory modification of one processor may not be immediately visible to all other processors.</a:t>
            </a:r>
          </a:p>
          <a:p>
            <a:endParaRPr lang="en-US" altLang="en-US" sz="2000" dirty="0"/>
          </a:p>
          <a:p>
            <a:r>
              <a:rPr lang="en-US" altLang="en-US" sz="2000" dirty="0"/>
              <a:t>A </a:t>
            </a:r>
            <a:r>
              <a:rPr lang="en-US" altLang="en-US" sz="2000" b="1" dirty="0"/>
              <a:t>memory barrier </a:t>
            </a:r>
            <a:r>
              <a:rPr lang="en-US" altLang="en-US" sz="2000" dirty="0"/>
              <a:t>is an instruction that forces any change in memory to be propagated (made visible) to all other processors.</a:t>
            </a:r>
            <a:br>
              <a:rPr lang="en-US" altLang="en-US" sz="2000" dirty="0"/>
            </a:br>
            <a:endParaRPr lang="en-US" altLang="en-US" sz="2000" dirty="0"/>
          </a:p>
        </p:txBody>
      </p:sp>
    </p:spTree>
    <p:extLst>
      <p:ext uri="{BB962C8B-B14F-4D97-AF65-F5344CB8AC3E}">
        <p14:creationId xmlns:p14="http://schemas.microsoft.com/office/powerpoint/2010/main" val="2482274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1981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1135626" y="1233489"/>
            <a:ext cx="10279626" cy="4590537"/>
          </a:xfrm>
        </p:spPr>
        <p:txBody>
          <a:bodyPr/>
          <a:lstStyle/>
          <a:p>
            <a:r>
              <a:rPr lang="en-US" altLang="en-US" sz="2000" dirty="0"/>
              <a:t>When a memory barrier instruction is performed, the system ensures that all loads and stores are completed before any subsequent load or store operations are performed.</a:t>
            </a:r>
          </a:p>
          <a:p>
            <a:endParaRPr lang="en-US" altLang="en-US" sz="2000" dirty="0"/>
          </a:p>
          <a:p>
            <a:endParaRPr lang="en-US" altLang="en-US" sz="2000" dirty="0"/>
          </a:p>
          <a:p>
            <a:r>
              <a:rPr lang="en-US" altLang="en-US" sz="2000" dirty="0"/>
              <a:t>Therefore, even if instructions were reordered, the memory barrier ensures that the store operations are completed in memory and visible to other processors before future load or store operations are performed.</a:t>
            </a:r>
          </a:p>
          <a:p>
            <a:endParaRPr lang="en-US" altLang="en-US" sz="2000" dirty="0"/>
          </a:p>
        </p:txBody>
      </p:sp>
    </p:spTree>
    <p:extLst>
      <p:ext uri="{BB962C8B-B14F-4D97-AF65-F5344CB8AC3E}">
        <p14:creationId xmlns:p14="http://schemas.microsoft.com/office/powerpoint/2010/main" val="1006609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1981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1076633" y="1161867"/>
            <a:ext cx="10294374" cy="5312675"/>
          </a:xfrm>
        </p:spPr>
        <p:txBody>
          <a:bodyPr/>
          <a:lstStyle/>
          <a:p>
            <a:r>
              <a:rPr lang="en-US" altLang="en-US" sz="2000" dirty="0"/>
              <a:t>Returning to the example of slides 6.17 - 6.18</a:t>
            </a:r>
          </a:p>
          <a:p>
            <a:r>
              <a:rPr lang="en-US" altLang="en-US" sz="2000" dirty="0"/>
              <a:t>We could add a memory barrier to the following instructions to ensure Thread 1 outputs 100:</a:t>
            </a:r>
          </a:p>
          <a:p>
            <a:r>
              <a:rPr lang="en-US" altLang="en-US" sz="2000" dirty="0"/>
              <a:t>Thread 1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while (!flag)</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memory_barrier</a:t>
            </a:r>
            <a:r>
              <a:rPr lang="en-US" altLang="en-US" sz="2000" dirty="0">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print x</a:t>
            </a:r>
          </a:p>
          <a:p>
            <a:r>
              <a:rPr lang="en-US" altLang="en-US" sz="2000" dirty="0"/>
              <a:t>Thread 2 now performs</a:t>
            </a:r>
            <a:br>
              <a:rPr lang="en-US" altLang="en-US" sz="2000" dirty="0"/>
            </a:br>
            <a:r>
              <a:rPr lang="en-US" altLang="en-US" sz="2000" dirty="0"/>
              <a:t>     </a:t>
            </a:r>
            <a:r>
              <a:rPr lang="en-US" altLang="en-US" sz="2000" dirty="0">
                <a:latin typeface="Courier New" panose="02070309020205020404" pitchFamily="49" charset="0"/>
                <a:cs typeface="Courier New" panose="02070309020205020404" pitchFamily="49" charset="0"/>
              </a:rPr>
              <a:t>x = 100;</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a:t>
            </a:r>
            <a:r>
              <a:rPr lang="en-US" altLang="en-US" sz="2000" dirty="0" err="1">
                <a:latin typeface="Courier New" panose="02070309020205020404" pitchFamily="49" charset="0"/>
                <a:cs typeface="Courier New" panose="02070309020205020404" pitchFamily="49" charset="0"/>
              </a:rPr>
              <a:t>memory_barrier</a:t>
            </a:r>
            <a:r>
              <a:rPr lang="en-US" altLang="en-US" sz="2000" dirty="0">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flag = true</a:t>
            </a:r>
          </a:p>
          <a:p>
            <a:r>
              <a:rPr lang="en-US" altLang="en-US" sz="2000" dirty="0"/>
              <a:t>For</a:t>
            </a:r>
            <a:r>
              <a:rPr lang="en-US" altLang="en-US" sz="2000" dirty="0">
                <a:latin typeface="Courier New" panose="02070309020205020404" pitchFamily="49" charset="0"/>
                <a:cs typeface="Courier New" panose="02070309020205020404" pitchFamily="49" charset="0"/>
              </a:rPr>
              <a:t> </a:t>
            </a:r>
            <a:r>
              <a:rPr lang="en-US" altLang="en-US" sz="2000" dirty="0"/>
              <a:t>Thread 1 we are guaranteed that  that the value of </a:t>
            </a:r>
            <a:r>
              <a:rPr lang="en-US" altLang="en-US" sz="2000" dirty="0">
                <a:latin typeface="Courier New" panose="02070309020205020404" pitchFamily="49" charset="0"/>
                <a:cs typeface="Courier New" panose="02070309020205020404" pitchFamily="49" charset="0"/>
              </a:rPr>
              <a:t>flag</a:t>
            </a:r>
            <a:r>
              <a:rPr lang="en-US" altLang="en-US" sz="2000" dirty="0"/>
              <a:t> is loaded before the value of </a:t>
            </a:r>
            <a:r>
              <a:rPr lang="en-US" altLang="en-US" sz="2000" dirty="0">
                <a:latin typeface="Courier New" panose="02070309020205020404" pitchFamily="49" charset="0"/>
                <a:cs typeface="Courier New" panose="02070309020205020404" pitchFamily="49" charset="0"/>
              </a:rPr>
              <a:t>x</a:t>
            </a:r>
            <a:r>
              <a:rPr lang="en-US" altLang="en-US" sz="2000" dirty="0"/>
              <a:t>.</a:t>
            </a:r>
          </a:p>
          <a:p>
            <a:r>
              <a:rPr lang="en-US" altLang="en-US" sz="2000" dirty="0"/>
              <a:t>For Thread 2 we ensure that the assignment to </a:t>
            </a:r>
            <a:r>
              <a:rPr lang="en-US" altLang="en-US" sz="2000" dirty="0">
                <a:latin typeface="Courier New" panose="02070309020205020404" pitchFamily="49" charset="0"/>
                <a:cs typeface="Courier New" panose="02070309020205020404" pitchFamily="49" charset="0"/>
              </a:rPr>
              <a:t>x</a:t>
            </a:r>
            <a:r>
              <a:rPr lang="en-US" altLang="en-US" sz="2000" dirty="0"/>
              <a:t> occurs before the assignment </a:t>
            </a:r>
            <a:r>
              <a:rPr lang="en-US" altLang="en-US" sz="2000" dirty="0">
                <a:latin typeface="Courier New" panose="02070309020205020404" pitchFamily="49" charset="0"/>
                <a:cs typeface="Courier New" panose="02070309020205020404" pitchFamily="49" charset="0"/>
              </a:rPr>
              <a:t>flag.</a:t>
            </a:r>
          </a:p>
          <a:p>
            <a:pPr marL="0" indent="0">
              <a:buNone/>
            </a:pPr>
            <a:endParaRPr lang="en-US" altLang="en-US" sz="2000" dirty="0"/>
          </a:p>
        </p:txBody>
      </p:sp>
    </p:spTree>
    <p:extLst>
      <p:ext uri="{BB962C8B-B14F-4D97-AF65-F5344CB8AC3E}">
        <p14:creationId xmlns:p14="http://schemas.microsoft.com/office/powerpoint/2010/main" val="2104174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2624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988143" y="1233489"/>
            <a:ext cx="10028902" cy="4372487"/>
          </a:xfrm>
        </p:spPr>
        <p:txBody>
          <a:bodyPr/>
          <a:lstStyle/>
          <a:p>
            <a:pPr>
              <a:lnSpc>
                <a:spcPct val="90000"/>
              </a:lnSpc>
              <a:tabLst>
                <a:tab pos="739775" algn="l"/>
                <a:tab pos="1020763" algn="l"/>
                <a:tab pos="1257300" algn="l"/>
              </a:tabLst>
            </a:pPr>
            <a:r>
              <a:rPr lang="en-US" altLang="en-US" sz="2000" dirty="0"/>
              <a:t>Many systems provide hardware support for implementing the critical section code.</a:t>
            </a:r>
          </a:p>
          <a:p>
            <a:pPr>
              <a:lnSpc>
                <a:spcPct val="90000"/>
              </a:lnSpc>
              <a:tabLst>
                <a:tab pos="739775" algn="l"/>
                <a:tab pos="1020763" algn="l"/>
                <a:tab pos="1257300" algn="l"/>
              </a:tabLst>
            </a:pPr>
            <a:r>
              <a:rPr lang="en-US" altLang="en-US" sz="2000" dirty="0"/>
              <a:t>Uniprocessors – could disable interrupts</a:t>
            </a:r>
          </a:p>
          <a:p>
            <a:pPr lvl="1">
              <a:lnSpc>
                <a:spcPct val="90000"/>
              </a:lnSpc>
              <a:tabLst>
                <a:tab pos="739775" algn="l"/>
                <a:tab pos="1020763" algn="l"/>
                <a:tab pos="1257300" algn="l"/>
              </a:tabLst>
            </a:pPr>
            <a:r>
              <a:rPr lang="en-US" altLang="en-US" sz="2000" dirty="0"/>
              <a:t>Currently running code would execute without preemption</a:t>
            </a:r>
          </a:p>
          <a:p>
            <a:pPr lvl="1">
              <a:lnSpc>
                <a:spcPct val="90000"/>
              </a:lnSpc>
              <a:tabLst>
                <a:tab pos="739775" algn="l"/>
                <a:tab pos="1020763" algn="l"/>
                <a:tab pos="1257300" algn="l"/>
              </a:tabLst>
            </a:pPr>
            <a:r>
              <a:rPr lang="en-US" altLang="en-US" sz="2000" dirty="0"/>
              <a:t>Generally too inefficient on multiprocessor systems</a:t>
            </a:r>
          </a:p>
          <a:p>
            <a:pPr lvl="2">
              <a:lnSpc>
                <a:spcPct val="90000"/>
              </a:lnSpc>
              <a:tabLst>
                <a:tab pos="739775" algn="l"/>
                <a:tab pos="1020763" algn="l"/>
                <a:tab pos="1257300" algn="l"/>
              </a:tabLst>
            </a:pPr>
            <a:r>
              <a:rPr lang="en-US" altLang="en-US" sz="2000" dirty="0"/>
              <a:t>Operating systems using this not broadly scalable</a:t>
            </a:r>
          </a:p>
          <a:p>
            <a:pPr>
              <a:lnSpc>
                <a:spcPct val="90000"/>
              </a:lnSpc>
              <a:tabLst>
                <a:tab pos="739775" algn="l"/>
                <a:tab pos="1020763" algn="l"/>
                <a:tab pos="1257300" algn="l"/>
              </a:tabLst>
            </a:pPr>
            <a:r>
              <a:rPr lang="en-US" altLang="en-US" sz="2000" dirty="0"/>
              <a:t>We will look at three forms of hardware support:</a:t>
            </a:r>
          </a:p>
          <a:p>
            <a:pPr marL="0" indent="0">
              <a:lnSpc>
                <a:spcPct val="90000"/>
              </a:lnSpc>
              <a:buNone/>
              <a:tabLst>
                <a:tab pos="739775" algn="l"/>
                <a:tab pos="1020763" algn="l"/>
                <a:tab pos="1257300" algn="l"/>
              </a:tabLst>
            </a:pPr>
            <a:endParaRPr lang="en-US" altLang="en-US" sz="2000" dirty="0"/>
          </a:p>
          <a:p>
            <a:pPr marL="0" indent="0">
              <a:lnSpc>
                <a:spcPct val="90000"/>
              </a:lnSpc>
              <a:buNone/>
              <a:tabLst>
                <a:tab pos="739775" algn="l"/>
                <a:tab pos="1020763" algn="l"/>
                <a:tab pos="1257300" algn="l"/>
              </a:tabLst>
            </a:pPr>
            <a:r>
              <a:rPr lang="en-US" altLang="en-US" sz="2000" b="1" dirty="0"/>
              <a:t>1. Memory barrier</a:t>
            </a:r>
            <a:br>
              <a:rPr lang="en-US" altLang="en-US" sz="2000" dirty="0"/>
            </a:br>
            <a:br>
              <a:rPr lang="en-US" altLang="en-US" sz="2000" dirty="0"/>
            </a:br>
            <a:r>
              <a:rPr lang="en-US" altLang="en-US" sz="2000" dirty="0"/>
              <a:t>2</a:t>
            </a:r>
            <a:r>
              <a:rPr lang="en-US" altLang="en-US" sz="2000" dirty="0">
                <a:solidFill>
                  <a:srgbClr val="CC6600"/>
                </a:solidFill>
              </a:rPr>
              <a:t>. </a:t>
            </a:r>
            <a:r>
              <a:rPr lang="en-US" altLang="en-US" sz="2000"/>
              <a:t>Hardware </a:t>
            </a:r>
            <a:r>
              <a:rPr lang="en-US" altLang="en-US" sz="2000" dirty="0"/>
              <a:t>instructions</a:t>
            </a:r>
            <a:br>
              <a:rPr lang="en-US" altLang="en-US" sz="2000" dirty="0"/>
            </a:br>
            <a:br>
              <a:rPr lang="en-US" altLang="en-US" sz="2000" dirty="0"/>
            </a:br>
            <a:r>
              <a:rPr lang="en-US" altLang="en-US" sz="2000">
                <a:solidFill>
                  <a:srgbClr val="CC6600"/>
                </a:solidFill>
              </a:rPr>
              <a:t>3. </a:t>
            </a:r>
            <a:r>
              <a:rPr lang="en-US" altLang="en-US" sz="2000" dirty="0"/>
              <a:t>Atomic variables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1981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548581" y="1233489"/>
            <a:ext cx="9011470" cy="4147404"/>
          </a:xfrm>
        </p:spPr>
        <p:txBody>
          <a:bodyPr/>
          <a:lstStyle/>
          <a:p>
            <a:r>
              <a:rPr lang="en-US" altLang="en-US" sz="2000" dirty="0"/>
              <a:t>Special hardware instructions that allow us to either </a:t>
            </a:r>
            <a:r>
              <a:rPr lang="en-US" altLang="en-US" sz="2000" i="1" dirty="0"/>
              <a:t>test-and-modify</a:t>
            </a:r>
            <a:r>
              <a:rPr lang="en-US" altLang="en-US" sz="2000" dirty="0"/>
              <a:t> the content of a word, or to </a:t>
            </a:r>
            <a:r>
              <a:rPr lang="en-US" altLang="en-US" sz="2000" i="1" dirty="0"/>
              <a:t>swap</a:t>
            </a:r>
            <a:r>
              <a:rPr lang="en-US" altLang="en-US" sz="2000" dirty="0"/>
              <a:t> the contents of two words atomically (uninterruptedly.)</a:t>
            </a:r>
          </a:p>
          <a:p>
            <a:pPr lvl="1"/>
            <a:r>
              <a:rPr lang="en-US" altLang="en-US" sz="2000" b="1" dirty="0"/>
              <a:t>Test-and-Set</a:t>
            </a:r>
            <a:r>
              <a:rPr lang="en-US" altLang="en-US" sz="2000" dirty="0"/>
              <a:t> instruction</a:t>
            </a:r>
          </a:p>
          <a:p>
            <a:pPr lvl="1"/>
            <a:r>
              <a:rPr lang="en-US" altLang="en-US" sz="2000" b="1" dirty="0"/>
              <a:t>Compare-and-Swap</a:t>
            </a:r>
            <a:r>
              <a:rPr lang="en-US" altLang="en-US" sz="2000" dirty="0"/>
              <a:t> instruction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2038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150374" y="1233489"/>
            <a:ext cx="8686799" cy="4680614"/>
          </a:xfrm>
        </p:spPr>
        <p:txBody>
          <a:bodyPr/>
          <a:lstStyle/>
          <a:p>
            <a:r>
              <a:rPr lang="en-US" altLang="en-US" sz="2000" dirty="0"/>
              <a:t>Definition</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test_and_set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*target)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boolean</a:t>
            </a: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 = *target;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*target = true;</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return </a:t>
            </a:r>
            <a:r>
              <a:rPr lang="en-US" altLang="en-US" sz="2000" b="1" dirty="0" err="1">
                <a:solidFill>
                  <a:srgbClr val="000000"/>
                </a:solidFill>
                <a:latin typeface="Courier New" panose="02070309020205020404" pitchFamily="49" charset="0"/>
              </a:rPr>
              <a:t>rv</a:t>
            </a:r>
            <a:r>
              <a:rPr lang="en-US" altLang="en-US" sz="2000" b="1" dirty="0">
                <a:solidFill>
                  <a:srgbClr val="000000"/>
                </a:solidFill>
                <a:latin typeface="Courier New" panose="02070309020205020404" pitchFamily="49" charset="0"/>
              </a:rPr>
              <a:t>:</a:t>
            </a:r>
          </a:p>
          <a:p>
            <a:pPr>
              <a:lnSpc>
                <a:spcPct val="90000"/>
              </a:lnSpc>
              <a:buNone/>
              <a:tabLst>
                <a:tab pos="739775" algn="l"/>
                <a:tab pos="1020763" algn="l"/>
                <a:tab pos="1257300" algn="l"/>
              </a:tabLst>
            </a:pPr>
            <a:r>
              <a:rPr lang="en-US" altLang="en-US" sz="2000" b="1" dirty="0">
                <a:solidFill>
                  <a:srgbClr val="000000"/>
                </a:solidFill>
                <a:latin typeface="Courier New" panose="02070309020205020404" pitchFamily="49" charset="0"/>
              </a:rPr>
              <a:t>        }</a:t>
            </a:r>
            <a:endParaRPr lang="en-US" altLang="en-US" sz="2000" dirty="0">
              <a:solidFill>
                <a:srgbClr val="0000FF"/>
              </a:solidFill>
            </a:endParaRPr>
          </a:p>
          <a:p>
            <a:r>
              <a:rPr lang="en-US" altLang="en-US" sz="2000" dirty="0"/>
              <a:t>Properties</a:t>
            </a:r>
          </a:p>
          <a:p>
            <a:pPr lvl="1"/>
            <a:r>
              <a:rPr lang="en-US" altLang="en-US" sz="2000" dirty="0"/>
              <a:t>Executed atomically</a:t>
            </a:r>
          </a:p>
          <a:p>
            <a:pPr lvl="1"/>
            <a:r>
              <a:rPr lang="en-US" altLang="en-US" sz="2000" dirty="0"/>
              <a:t>Returns the original value of passed parameter</a:t>
            </a:r>
          </a:p>
          <a:p>
            <a:pPr lvl="1"/>
            <a:r>
              <a:rPr lang="en-US" altLang="en-US" sz="2000" dirty="0"/>
              <a:t>Set the new value of passed parameter to </a:t>
            </a:r>
            <a:r>
              <a:rPr lang="en-US" altLang="en-US" sz="2000" b="1" dirty="0">
                <a:solidFill>
                  <a:srgbClr val="000000"/>
                </a:solidFill>
                <a:latin typeface="Courier New" panose="02070309020205020404" pitchFamily="49" charset="0"/>
              </a:rPr>
              <a:t>true</a:t>
            </a:r>
            <a:endParaRPr lang="en-US" altLang="en-US" sz="2000" b="1" dirty="0">
              <a:latin typeface="Courier New" panose="02070309020205020404" pitchFamily="49" charset="0"/>
              <a:cs typeface="Courier New" panose="02070309020205020404" pitchFamily="49" charset="0"/>
            </a:endParaRPr>
          </a:p>
          <a:p>
            <a:pPr lvl="1"/>
            <a:endParaRPr lang="en-US" altLang="en-US" sz="2000" dirty="0"/>
          </a:p>
        </p:txBody>
      </p:sp>
    </p:spTree>
    <p:extLst>
      <p:ext uri="{BB962C8B-B14F-4D97-AF65-F5344CB8AC3E}">
        <p14:creationId xmlns:p14="http://schemas.microsoft.com/office/powerpoint/2010/main" val="3986950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2373314" y="227243"/>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442452" y="1223297"/>
            <a:ext cx="6710515" cy="5067300"/>
          </a:xfrm>
        </p:spPr>
        <p:txBody>
          <a:bodyPr/>
          <a:lstStyle/>
          <a:p>
            <a:pPr>
              <a:lnSpc>
                <a:spcPct val="90000"/>
              </a:lnSpc>
              <a:tabLst>
                <a:tab pos="741363" algn="l"/>
                <a:tab pos="1022350" algn="l"/>
                <a:tab pos="1258888" algn="l"/>
              </a:tabLst>
            </a:pPr>
            <a:r>
              <a:rPr lang="en-US" altLang="en-US" sz="2000" dirty="0"/>
              <a:t>Shared </a:t>
            </a:r>
            <a:r>
              <a:rPr lang="en-US" altLang="en-US" sz="2000" dirty="0" err="1"/>
              <a:t>boolean</a:t>
            </a:r>
            <a:r>
              <a:rPr lang="en-US" altLang="en-US" sz="2000" dirty="0"/>
              <a:t> variable </a:t>
            </a:r>
            <a:r>
              <a:rPr lang="en-US" altLang="en-US" sz="2000" b="1" dirty="0">
                <a:latin typeface="Courier New" panose="02070309020205020404" pitchFamily="49" charset="0"/>
                <a:cs typeface="Courier New" panose="02070309020205020404" pitchFamily="49" charset="0"/>
              </a:rPr>
              <a:t>lock</a:t>
            </a:r>
            <a:r>
              <a:rPr lang="en-US" altLang="en-US" sz="2000" dirty="0"/>
              <a:t>, initialized to </a:t>
            </a:r>
            <a:r>
              <a:rPr lang="en-US" altLang="en-US" sz="2000"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sz="2000" dirty="0"/>
              <a:t>Solution:</a:t>
            </a:r>
            <a:endParaRPr lang="en-US" altLang="en-US" sz="2000" b="1" dirty="0">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cs typeface="Courier New" panose="02070309020205020404" pitchFamily="49" charset="0"/>
              </a:rPr>
              <a:t>       </a:t>
            </a:r>
            <a:r>
              <a:rPr lang="en-US" altLang="en-US" sz="2000" b="1" dirty="0">
                <a:solidFill>
                  <a:srgbClr val="000000"/>
                </a:solidFill>
                <a:latin typeface="Courier New" panose="02070309020205020404" pitchFamily="49" charset="0"/>
                <a:cs typeface="Courier New" panose="02070309020205020404" pitchFamily="49" charset="0"/>
              </a:rPr>
              <a:t>do {</a:t>
            </a:r>
            <a:br>
              <a:rPr lang="en-US" altLang="en-US" sz="2000" b="1" dirty="0">
                <a:solidFill>
                  <a:srgbClr val="000000"/>
                </a:solidFill>
                <a:latin typeface="Courier New" panose="02070309020205020404" pitchFamily="49" charset="0"/>
                <a:cs typeface="Courier New" panose="02070309020205020404" pitchFamily="49" charset="0"/>
              </a:rPr>
            </a:br>
            <a:r>
              <a:rPr lang="en-US" altLang="en-US" sz="2000" b="1" dirty="0">
                <a:solidFill>
                  <a:srgbClr val="000000"/>
                </a:solidFill>
                <a:latin typeface="Courier New" panose="02070309020205020404" pitchFamily="49" charset="0"/>
                <a:cs typeface="Courier New" panose="02070309020205020404" pitchFamily="49" charset="0"/>
              </a:rPr>
              <a:t>          while (test_and_set(&amp;lock))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 do nothing */ </a:t>
            </a:r>
            <a:br>
              <a:rPr lang="en-US" altLang="en-US" sz="2000" b="1" dirty="0">
                <a:solidFill>
                  <a:srgbClr val="000000"/>
                </a:solidFill>
                <a:latin typeface="Courier New" panose="02070309020205020404" pitchFamily="49" charset="0"/>
                <a:cs typeface="Courier New" panose="02070309020205020404" pitchFamily="49" charset="0"/>
              </a:rPr>
            </a:br>
            <a:endParaRPr lang="en-US" altLang="en-US" sz="20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critical section */ </a:t>
            </a:r>
            <a:br>
              <a:rPr lang="en-US" altLang="en-US" sz="2000" b="1" dirty="0">
                <a:solidFill>
                  <a:srgbClr val="000000"/>
                </a:solidFill>
                <a:latin typeface="Courier New" panose="02070309020205020404" pitchFamily="49" charset="0"/>
                <a:cs typeface="Courier New" panose="02070309020205020404" pitchFamily="49" charset="0"/>
              </a:rPr>
            </a:br>
            <a:endParaRPr lang="en-US" altLang="en-US" sz="20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lock = false;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remainder section */ </a:t>
            </a:r>
          </a:p>
          <a:p>
            <a:pPr>
              <a:buNone/>
              <a:tabLst>
                <a:tab pos="741363" algn="l"/>
                <a:tab pos="1022350" algn="l"/>
                <a:tab pos="1258888" algn="l"/>
              </a:tabLst>
            </a:pPr>
            <a:r>
              <a:rPr lang="en-US" altLang="en-US" sz="2000" b="1" dirty="0">
                <a:solidFill>
                  <a:srgbClr val="000000"/>
                </a:solidFill>
                <a:latin typeface="Courier New" panose="02070309020205020404" pitchFamily="49" charset="0"/>
                <a:cs typeface="Courier New" panose="02070309020205020404" pitchFamily="49" charset="0"/>
              </a:rPr>
              <a:t>       } while (true);</a:t>
            </a:r>
          </a:p>
          <a:p>
            <a:pPr>
              <a:tabLst>
                <a:tab pos="741363" algn="l"/>
                <a:tab pos="1022350" algn="l"/>
                <a:tab pos="1258888" algn="l"/>
              </a:tabLst>
            </a:pPr>
            <a:endParaRPr lang="en-US" altLang="en-US" sz="2000" dirty="0"/>
          </a:p>
          <a:p>
            <a:pPr>
              <a:tabLst>
                <a:tab pos="741363" algn="l"/>
                <a:tab pos="1022350" algn="l"/>
                <a:tab pos="1258888" algn="l"/>
              </a:tabLst>
            </a:pPr>
            <a:r>
              <a:rPr lang="en-US" altLang="en-US" sz="2000" dirty="0"/>
              <a:t>Does it solve the critical-section problem?     </a:t>
            </a:r>
          </a:p>
        </p:txBody>
      </p:sp>
      <p:sp>
        <p:nvSpPr>
          <p:cNvPr id="2" name="Content Placeholder 2">
            <a:extLst>
              <a:ext uri="{FF2B5EF4-FFF2-40B4-BE49-F238E27FC236}">
                <a16:creationId xmlns:a16="http://schemas.microsoft.com/office/drawing/2014/main" id="{302D8BD8-8403-3E4B-D7FF-057DFC13911F}"/>
              </a:ext>
            </a:extLst>
          </p:cNvPr>
          <p:cNvSpPr txBox="1">
            <a:spLocks/>
          </p:cNvSpPr>
          <p:nvPr/>
        </p:nvSpPr>
        <p:spPr bwMode="auto">
          <a:xfrm>
            <a:off x="6813754" y="1416640"/>
            <a:ext cx="5088193" cy="4680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boolean</a:t>
            </a: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test_and_set</a:t>
            </a: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boolean</a:t>
            </a:r>
            <a:r>
              <a:rPr lang="en-US" altLang="en-US" sz="2000" b="1" kern="0" dirty="0">
                <a:solidFill>
                  <a:srgbClr val="000000"/>
                </a:solidFill>
                <a:latin typeface="Courier New" panose="02070309020205020404" pitchFamily="49" charset="0"/>
              </a:rPr>
              <a:t> *target)</a:t>
            </a:r>
          </a:p>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a:t>
            </a:r>
          </a:p>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boolean</a:t>
            </a: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rv</a:t>
            </a:r>
            <a:r>
              <a:rPr lang="en-US" altLang="en-US" sz="2000" b="1" kern="0" dirty="0">
                <a:solidFill>
                  <a:srgbClr val="000000"/>
                </a:solidFill>
                <a:latin typeface="Courier New" panose="02070309020205020404" pitchFamily="49" charset="0"/>
              </a:rPr>
              <a:t> = *target;</a:t>
            </a:r>
          </a:p>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*target = true;</a:t>
            </a:r>
          </a:p>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return </a:t>
            </a:r>
            <a:r>
              <a:rPr lang="en-US" altLang="en-US" sz="2000" b="1" kern="0" dirty="0" err="1">
                <a:solidFill>
                  <a:srgbClr val="000000"/>
                </a:solidFill>
                <a:latin typeface="Courier New" panose="02070309020205020404" pitchFamily="49" charset="0"/>
              </a:rPr>
              <a:t>rv</a:t>
            </a:r>
            <a:r>
              <a:rPr lang="en-US" altLang="en-US" sz="2000" b="1" kern="0" dirty="0">
                <a:solidFill>
                  <a:srgbClr val="000000"/>
                </a:solidFill>
                <a:latin typeface="Courier New" panose="02070309020205020404" pitchFamily="49" charset="0"/>
              </a:rPr>
              <a:t>:</a:t>
            </a:r>
          </a:p>
          <a:p>
            <a:pPr>
              <a:lnSpc>
                <a:spcPct val="90000"/>
              </a:lnSpc>
              <a:buFont typeface="Wingdings" panose="05000000000000000000" pitchFamily="2" charset="2"/>
              <a:buNone/>
              <a:tabLst>
                <a:tab pos="739775" algn="l"/>
                <a:tab pos="1020763" algn="l"/>
                <a:tab pos="1257300" algn="l"/>
              </a:tabLst>
            </a:pPr>
            <a:r>
              <a:rPr lang="en-US" altLang="en-US" sz="2000" b="1" kern="0" dirty="0">
                <a:solidFill>
                  <a:srgbClr val="000000"/>
                </a:solidFill>
                <a:latin typeface="Courier New" panose="02070309020205020404" pitchFamily="49" charset="0"/>
              </a:rPr>
              <a:t>        }</a:t>
            </a:r>
            <a:endParaRPr lang="en-US" altLang="en-US" sz="2000" kern="0" dirty="0">
              <a:solidFill>
                <a:srgbClr val="0000FF"/>
              </a:solidFill>
            </a:endParaRPr>
          </a:p>
          <a:p>
            <a:r>
              <a:rPr lang="en-US" altLang="en-US" sz="2000" kern="0" dirty="0"/>
              <a:t>Properties</a:t>
            </a:r>
          </a:p>
          <a:p>
            <a:pPr lvl="1"/>
            <a:r>
              <a:rPr lang="en-US" altLang="en-US" sz="2000" kern="0" dirty="0"/>
              <a:t>Executed atomically</a:t>
            </a:r>
          </a:p>
          <a:p>
            <a:pPr lvl="1"/>
            <a:r>
              <a:rPr lang="en-US" altLang="en-US" sz="2000" kern="0" dirty="0"/>
              <a:t>Returns the original value of passed parameter</a:t>
            </a:r>
          </a:p>
          <a:p>
            <a:pPr lvl="1"/>
            <a:r>
              <a:rPr lang="en-US" altLang="en-US" sz="2000" kern="0" dirty="0"/>
              <a:t>Set the new value of passed parameter to </a:t>
            </a:r>
            <a:r>
              <a:rPr lang="en-US" altLang="en-US" sz="2000" b="1" kern="0" dirty="0">
                <a:solidFill>
                  <a:srgbClr val="000000"/>
                </a:solidFill>
                <a:latin typeface="Courier New" panose="02070309020205020404" pitchFamily="49" charset="0"/>
              </a:rPr>
              <a:t>true</a:t>
            </a:r>
            <a:endParaRPr lang="en-US" altLang="en-US" sz="2000" b="1" kern="0" dirty="0">
              <a:latin typeface="Courier New" panose="02070309020205020404" pitchFamily="49" charset="0"/>
              <a:cs typeface="Courier New" panose="02070309020205020404" pitchFamily="49" charset="0"/>
            </a:endParaRPr>
          </a:p>
          <a:p>
            <a:pPr lvl="1"/>
            <a:endParaRPr lang="en-US" altLang="en-US" sz="2000" kern="0" dirty="0"/>
          </a:p>
        </p:txBody>
      </p:sp>
      <p:cxnSp>
        <p:nvCxnSpPr>
          <p:cNvPr id="4" name="Straight Connector 3">
            <a:extLst>
              <a:ext uri="{FF2B5EF4-FFF2-40B4-BE49-F238E27FC236}">
                <a16:creationId xmlns:a16="http://schemas.microsoft.com/office/drawing/2014/main" id="{C7DC97E6-E5A0-286E-981E-8FE2231CA22E}"/>
              </a:ext>
            </a:extLst>
          </p:cNvPr>
          <p:cNvCxnSpPr/>
          <p:nvPr/>
        </p:nvCxnSpPr>
        <p:spPr bwMode="auto">
          <a:xfrm>
            <a:off x="6813754" y="1091381"/>
            <a:ext cx="0" cy="5199216"/>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2417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1563330" y="1046451"/>
            <a:ext cx="9202994" cy="2663102"/>
          </a:xfrm>
        </p:spPr>
        <p:txBody>
          <a:bodyPr/>
          <a:lstStyle/>
          <a:p>
            <a:r>
              <a:rPr lang="en-US" altLang="en-US" dirty="0"/>
              <a:t>Definition</a:t>
            </a:r>
          </a:p>
          <a:p>
            <a:pPr>
              <a:buNone/>
              <a:tabLst>
                <a:tab pos="741363" algn="l"/>
                <a:tab pos="1022350" algn="l"/>
                <a:tab pos="1258888" algn="l"/>
              </a:tabLst>
            </a:pPr>
            <a:r>
              <a:rPr lang="en-US" altLang="en-US" b="1" dirty="0">
                <a:latin typeface="Courier New" panose="02070309020205020404" pitchFamily="49" charset="0"/>
              </a:rPr>
              <a:t>    int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(int *value, int expected, int </a:t>
            </a:r>
            <a:r>
              <a:rPr lang="en-US" altLang="en-US" b="1" dirty="0" err="1">
                <a:latin typeface="Courier New" panose="02070309020205020404" pitchFamily="49" charset="0"/>
              </a:rPr>
              <a:t>new_value</a:t>
            </a:r>
            <a:r>
              <a:rPr lang="en-US" altLang="en-US" b="1" dirty="0">
                <a:latin typeface="Courier New" panose="02070309020205020404" pitchFamily="49" charset="0"/>
              </a:rPr>
              <a:t>)</a:t>
            </a:r>
          </a:p>
          <a:p>
            <a:pPr>
              <a:buNone/>
              <a:tabLst>
                <a:tab pos="741363" algn="l"/>
                <a:tab pos="1022350" algn="l"/>
                <a:tab pos="1258888" algn="l"/>
              </a:tabLst>
            </a:pPr>
            <a:r>
              <a:rPr lang="en-US" altLang="en-US" b="1" dirty="0">
                <a:latin typeface="Courier New" panose="02070309020205020404" pitchFamily="49" charset="0"/>
              </a:rPr>
              <a:t>      {                  </a:t>
            </a:r>
          </a:p>
          <a:p>
            <a:pPr>
              <a:buNone/>
              <a:tabLst>
                <a:tab pos="741363" algn="l"/>
                <a:tab pos="1022350" algn="l"/>
                <a:tab pos="1258888" algn="l"/>
              </a:tabLst>
            </a:pPr>
            <a:r>
              <a:rPr lang="en-US" altLang="en-US" b="1" dirty="0">
                <a:latin typeface="Courier New" panose="02070309020205020404" pitchFamily="49" charset="0"/>
              </a:rPr>
              <a:t>       int temp = *value; </a:t>
            </a:r>
          </a:p>
          <a:p>
            <a:pPr>
              <a:buNone/>
              <a:tabLst>
                <a:tab pos="741363" algn="l"/>
                <a:tab pos="1022350" algn="l"/>
                <a:tab pos="1258888" algn="l"/>
              </a:tabLst>
            </a:pPr>
            <a:r>
              <a:rPr lang="en-US" altLang="en-US" b="1" dirty="0">
                <a:latin typeface="Courier New" panose="02070309020205020404" pitchFamily="49" charset="0"/>
              </a:rPr>
              <a:t>        if (*value == expected) </a:t>
            </a:r>
          </a:p>
          <a:p>
            <a:pPr>
              <a:buNone/>
              <a:tabLst>
                <a:tab pos="741363" algn="l"/>
                <a:tab pos="1022350" algn="l"/>
                <a:tab pos="1258888" algn="l"/>
              </a:tabLst>
            </a:pPr>
            <a:r>
              <a:rPr lang="en-US" altLang="en-US" b="1" dirty="0">
                <a:latin typeface="Courier New" panose="02070309020205020404" pitchFamily="49" charset="0"/>
              </a:rPr>
              <a:t>            *value = </a:t>
            </a:r>
            <a:r>
              <a:rPr lang="en-US" altLang="en-US" b="1" dirty="0" err="1">
                <a:latin typeface="Courier New" panose="02070309020205020404" pitchFamily="49" charset="0"/>
              </a:rPr>
              <a:t>new_value</a:t>
            </a:r>
            <a:r>
              <a:rPr lang="en-US" altLang="en-US" b="1" dirty="0">
                <a:latin typeface="Courier New" panose="02070309020205020404" pitchFamily="49" charset="0"/>
              </a:rPr>
              <a:t>; </a:t>
            </a:r>
          </a:p>
          <a:p>
            <a:pPr>
              <a:buNone/>
              <a:tabLst>
                <a:tab pos="741363" algn="l"/>
                <a:tab pos="1022350" algn="l"/>
                <a:tab pos="1258888" algn="l"/>
              </a:tabLst>
            </a:pPr>
            <a:r>
              <a:rPr lang="en-US" altLang="en-US" b="1" dirty="0">
                <a:latin typeface="Courier New" panose="02070309020205020404" pitchFamily="49" charset="0"/>
              </a:rPr>
              <a:t>         return temp; </a:t>
            </a:r>
          </a:p>
          <a:p>
            <a:pPr>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sz="2000" dirty="0"/>
              <a:t>Properties</a:t>
            </a:r>
          </a:p>
          <a:p>
            <a:pPr lvl="1"/>
            <a:r>
              <a:rPr lang="en-US" altLang="en-US" sz="2000" dirty="0"/>
              <a:t>Executed atomically</a:t>
            </a:r>
          </a:p>
          <a:p>
            <a:pPr lvl="1"/>
            <a:r>
              <a:rPr lang="en-US" altLang="en-US" sz="2000" dirty="0"/>
              <a:t>Returns the original value of passed parameter </a:t>
            </a:r>
            <a:r>
              <a:rPr lang="en-US" altLang="en-US" sz="2000" b="1" dirty="0">
                <a:latin typeface="Courier New" panose="02070309020205020404" pitchFamily="49" charset="0"/>
                <a:cs typeface="Courier New" panose="02070309020205020404" pitchFamily="49" charset="0"/>
              </a:rPr>
              <a:t>value</a:t>
            </a:r>
            <a:endParaRPr lang="en-US" altLang="en-US" sz="2000" dirty="0"/>
          </a:p>
          <a:p>
            <a:pPr lvl="1"/>
            <a:r>
              <a:rPr lang="en-US" altLang="en-US" sz="2000" dirty="0"/>
              <a:t>Set  the variable </a:t>
            </a:r>
            <a:r>
              <a:rPr lang="en-US" altLang="en-US" sz="2000" b="1" dirty="0">
                <a:latin typeface="Courier New" panose="02070309020205020404" pitchFamily="49" charset="0"/>
                <a:cs typeface="Courier New" panose="02070309020205020404" pitchFamily="49" charset="0"/>
              </a:rPr>
              <a:t>value</a:t>
            </a:r>
            <a:r>
              <a:rPr lang="en-US" altLang="en-US" sz="2000" dirty="0"/>
              <a:t> the value of the passed parameter </a:t>
            </a:r>
            <a:r>
              <a:rPr lang="en-US" altLang="en-US" sz="2000" b="1" dirty="0" err="1">
                <a:latin typeface="Courier New" panose="02070309020205020404" pitchFamily="49" charset="0"/>
                <a:cs typeface="Courier New" panose="02070309020205020404" pitchFamily="49" charset="0"/>
              </a:rPr>
              <a:t>new_value</a:t>
            </a:r>
            <a:r>
              <a:rPr lang="en-US" altLang="en-US" sz="2000" dirty="0"/>
              <a:t> but only if </a:t>
            </a:r>
            <a:r>
              <a:rPr lang="en-US" altLang="en-US" sz="2000" b="1" dirty="0">
                <a:latin typeface="Courier New" panose="02070309020205020404" pitchFamily="49" charset="0"/>
                <a:cs typeface="Courier New" panose="02070309020205020404" pitchFamily="49" charset="0"/>
              </a:rPr>
              <a:t>*value == expected </a:t>
            </a:r>
            <a:r>
              <a:rPr lang="en-US" altLang="en-US" sz="2000"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2716213" y="219076"/>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383458" y="914401"/>
            <a:ext cx="7567613" cy="5442154"/>
          </a:xfrm>
        </p:spPr>
        <p:txBody>
          <a:bodyPr/>
          <a:lstStyle/>
          <a:p>
            <a:pPr>
              <a:lnSpc>
                <a:spcPct val="90000"/>
              </a:lnSpc>
              <a:tabLst>
                <a:tab pos="741363" algn="l"/>
                <a:tab pos="1022350" algn="l"/>
                <a:tab pos="1258888" algn="l"/>
              </a:tabLst>
            </a:pPr>
            <a:r>
              <a:rPr lang="en-US" altLang="en-US" sz="2000" dirty="0"/>
              <a:t>Shared integer  </a:t>
            </a:r>
            <a:r>
              <a:rPr lang="en-US" altLang="ja-JP" sz="2000" b="1" dirty="0">
                <a:latin typeface="Courier New" panose="02070309020205020404" pitchFamily="49" charset="0"/>
                <a:cs typeface="Courier New" panose="02070309020205020404" pitchFamily="49" charset="0"/>
              </a:rPr>
              <a:t>lock</a:t>
            </a:r>
            <a:r>
              <a:rPr lang="en-US" altLang="ja-JP" sz="2000" dirty="0"/>
              <a:t>  initialized to 0; </a:t>
            </a:r>
          </a:p>
          <a:p>
            <a:pPr>
              <a:lnSpc>
                <a:spcPct val="90000"/>
              </a:lnSpc>
              <a:tabLst>
                <a:tab pos="741363" algn="l"/>
                <a:tab pos="1022350" algn="l"/>
                <a:tab pos="1258888" algn="l"/>
              </a:tabLst>
            </a:pPr>
            <a:r>
              <a:rPr lang="en-US" altLang="en-US" sz="2000" dirty="0"/>
              <a:t>Solution:</a:t>
            </a:r>
          </a:p>
          <a:p>
            <a:pPr>
              <a:buNone/>
              <a:tabLst>
                <a:tab pos="741363" algn="l"/>
                <a:tab pos="1022350" algn="l"/>
                <a:tab pos="1258888" algn="l"/>
              </a:tabLst>
            </a:pPr>
            <a:r>
              <a:rPr lang="en-US" altLang="en-US" sz="2000" b="1" dirty="0">
                <a:latin typeface="Courier New" panose="02070309020205020404" pitchFamily="49" charset="0"/>
              </a:rPr>
              <a:t>   while (true){</a:t>
            </a:r>
            <a:br>
              <a:rPr lang="en-US" altLang="en-US" sz="2000" b="1" dirty="0">
                <a:latin typeface="Courier New" panose="02070309020205020404" pitchFamily="49" charset="0"/>
              </a:rPr>
            </a:br>
            <a:r>
              <a:rPr lang="en-US" altLang="en-US" sz="2000" b="1" dirty="0">
                <a:latin typeface="Courier New" panose="02070309020205020404" pitchFamily="49" charset="0"/>
              </a:rPr>
              <a:t>	while (</a:t>
            </a:r>
            <a:r>
              <a:rPr lang="en-US" altLang="en-US" sz="2000" b="1" dirty="0" err="1">
                <a:latin typeface="Courier New" panose="02070309020205020404" pitchFamily="49" charset="0"/>
              </a:rPr>
              <a:t>compare_and_swap</a:t>
            </a:r>
            <a:r>
              <a:rPr lang="en-US" altLang="en-US" sz="2000" b="1" dirty="0">
                <a:latin typeface="Courier New" panose="02070309020205020404" pitchFamily="49" charset="0"/>
              </a:rPr>
              <a:t>(&amp;lock, 0, 1) != 0) </a:t>
            </a:r>
          </a:p>
          <a:p>
            <a:pPr>
              <a:buNone/>
              <a:tabLst>
                <a:tab pos="741363" algn="l"/>
                <a:tab pos="1022350" algn="l"/>
                <a:tab pos="1258888" algn="l"/>
              </a:tabLst>
            </a:pPr>
            <a:r>
              <a:rPr lang="en-US" altLang="en-US" sz="2000" b="1" dirty="0">
                <a:latin typeface="Courier New" panose="02070309020205020404" pitchFamily="49" charset="0"/>
              </a:rPr>
              <a:t>            	; /* do nothing */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 critical section */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lock = 0; </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a:buNone/>
              <a:tabLst>
                <a:tab pos="741363" algn="l"/>
                <a:tab pos="1022350" algn="l"/>
                <a:tab pos="1258888" algn="l"/>
              </a:tabLst>
            </a:pPr>
            <a:r>
              <a:rPr lang="en-US" altLang="en-US" sz="2000" b="1" dirty="0">
                <a:latin typeface="Courier New" panose="02070309020205020404" pitchFamily="49" charset="0"/>
              </a:rPr>
              <a:t>          /* remainder section */ </a:t>
            </a:r>
          </a:p>
          <a:p>
            <a:pPr>
              <a:buNone/>
              <a:tabLst>
                <a:tab pos="741363" algn="l"/>
                <a:tab pos="1022350" algn="l"/>
                <a:tab pos="1258888" algn="l"/>
              </a:tabLst>
            </a:pPr>
            <a:r>
              <a:rPr lang="en-US" altLang="en-US" sz="2000" b="1" dirty="0">
                <a:latin typeface="Courier New" panose="02070309020205020404" pitchFamily="49" charset="0"/>
              </a:rPr>
              <a:t>      } </a:t>
            </a:r>
          </a:p>
          <a:p>
            <a:pPr>
              <a:buNone/>
              <a:tabLst>
                <a:tab pos="741363" algn="l"/>
                <a:tab pos="1022350" algn="l"/>
                <a:tab pos="1258888" algn="l"/>
              </a:tabLst>
            </a:pPr>
            <a:endParaRPr lang="en-US" altLang="en-US" sz="2000" b="1" dirty="0">
              <a:latin typeface="Courier New" panose="02070309020205020404" pitchFamily="49" charset="0"/>
            </a:endParaRPr>
          </a:p>
          <a:p>
            <a:pPr>
              <a:tabLst>
                <a:tab pos="741363" algn="l"/>
                <a:tab pos="1022350" algn="l"/>
                <a:tab pos="1258888" algn="l"/>
              </a:tabLst>
            </a:pPr>
            <a:r>
              <a:rPr lang="en-US" altLang="en-US" sz="2000" dirty="0"/>
              <a:t>Does it solve the critical-section problem? </a:t>
            </a:r>
          </a:p>
        </p:txBody>
      </p:sp>
      <p:sp>
        <p:nvSpPr>
          <p:cNvPr id="4" name="TextBox 3">
            <a:extLst>
              <a:ext uri="{FF2B5EF4-FFF2-40B4-BE49-F238E27FC236}">
                <a16:creationId xmlns:a16="http://schemas.microsoft.com/office/drawing/2014/main" id="{D448D288-F2BB-3F1D-1AF8-A9FBBCF7B99E}"/>
              </a:ext>
            </a:extLst>
          </p:cNvPr>
          <p:cNvSpPr txBox="1"/>
          <p:nvPr/>
        </p:nvSpPr>
        <p:spPr>
          <a:xfrm>
            <a:off x="6413986" y="2558107"/>
            <a:ext cx="5308523" cy="2308324"/>
          </a:xfrm>
          <a:prstGeom prst="rect">
            <a:avLst/>
          </a:prstGeom>
          <a:noFill/>
        </p:spPr>
        <p:txBody>
          <a:bodyPr wrap="square">
            <a:spAutoFit/>
          </a:bodyPr>
          <a:lstStyle/>
          <a:p>
            <a:pPr>
              <a:buNone/>
              <a:tabLst>
                <a:tab pos="741363" algn="l"/>
                <a:tab pos="1022350" algn="l"/>
                <a:tab pos="1258888" algn="l"/>
              </a:tabLst>
            </a:pPr>
            <a:r>
              <a:rPr lang="en-US" altLang="en-US" b="1" dirty="0">
                <a:latin typeface="Courier New" panose="02070309020205020404" pitchFamily="49" charset="0"/>
              </a:rPr>
              <a:t>int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(int *value, int expected, int </a:t>
            </a:r>
            <a:r>
              <a:rPr lang="en-US" altLang="en-US" b="1" dirty="0" err="1">
                <a:latin typeface="Courier New" panose="02070309020205020404" pitchFamily="49" charset="0"/>
              </a:rPr>
              <a:t>new_value</a:t>
            </a:r>
            <a:r>
              <a:rPr lang="en-US" altLang="en-US" b="1" dirty="0">
                <a:latin typeface="Courier New" panose="02070309020205020404" pitchFamily="49" charset="0"/>
              </a:rPr>
              <a:t>)</a:t>
            </a:r>
          </a:p>
          <a:p>
            <a:pPr>
              <a:buNone/>
              <a:tabLst>
                <a:tab pos="741363" algn="l"/>
                <a:tab pos="1022350" algn="l"/>
                <a:tab pos="1258888" algn="l"/>
              </a:tabLst>
            </a:pPr>
            <a:r>
              <a:rPr lang="en-US" altLang="en-US" b="1" dirty="0">
                <a:latin typeface="Courier New" panose="02070309020205020404" pitchFamily="49" charset="0"/>
              </a:rPr>
              <a:t>      {                  </a:t>
            </a:r>
          </a:p>
          <a:p>
            <a:pPr>
              <a:buNone/>
              <a:tabLst>
                <a:tab pos="741363" algn="l"/>
                <a:tab pos="1022350" algn="l"/>
                <a:tab pos="1258888" algn="l"/>
              </a:tabLst>
            </a:pPr>
            <a:r>
              <a:rPr lang="en-US" altLang="en-US" b="1" dirty="0">
                <a:latin typeface="Courier New" panose="02070309020205020404" pitchFamily="49" charset="0"/>
              </a:rPr>
              <a:t>       int temp = *value; </a:t>
            </a:r>
          </a:p>
          <a:p>
            <a:pPr>
              <a:buNone/>
              <a:tabLst>
                <a:tab pos="741363" algn="l"/>
                <a:tab pos="1022350" algn="l"/>
                <a:tab pos="1258888" algn="l"/>
              </a:tabLst>
            </a:pPr>
            <a:r>
              <a:rPr lang="en-US" altLang="en-US" b="1" dirty="0">
                <a:latin typeface="Courier New" panose="02070309020205020404" pitchFamily="49" charset="0"/>
              </a:rPr>
              <a:t>        if (*value == expected) </a:t>
            </a:r>
          </a:p>
          <a:p>
            <a:pPr>
              <a:buNone/>
              <a:tabLst>
                <a:tab pos="741363" algn="l"/>
                <a:tab pos="1022350" algn="l"/>
                <a:tab pos="1258888" algn="l"/>
              </a:tabLst>
            </a:pPr>
            <a:r>
              <a:rPr lang="en-US" altLang="en-US" b="1" dirty="0">
                <a:latin typeface="Courier New" panose="02070309020205020404" pitchFamily="49" charset="0"/>
              </a:rPr>
              <a:t>            *value = </a:t>
            </a:r>
            <a:r>
              <a:rPr lang="en-US" altLang="en-US" b="1" dirty="0" err="1">
                <a:latin typeface="Courier New" panose="02070309020205020404" pitchFamily="49" charset="0"/>
              </a:rPr>
              <a:t>new_value</a:t>
            </a:r>
            <a:r>
              <a:rPr lang="en-US" altLang="en-US" b="1" dirty="0">
                <a:latin typeface="Courier New" panose="02070309020205020404" pitchFamily="49" charset="0"/>
              </a:rPr>
              <a:t>; </a:t>
            </a:r>
          </a:p>
          <a:p>
            <a:pPr>
              <a:buNone/>
              <a:tabLst>
                <a:tab pos="741363" algn="l"/>
                <a:tab pos="1022350" algn="l"/>
                <a:tab pos="1258888" algn="l"/>
              </a:tabLst>
            </a:pPr>
            <a:r>
              <a:rPr lang="en-US" altLang="en-US" b="1" dirty="0">
                <a:latin typeface="Courier New" panose="02070309020205020404" pitchFamily="49" charset="0"/>
              </a:rPr>
              <a:t>         return temp; </a:t>
            </a:r>
          </a:p>
          <a:p>
            <a:pPr>
              <a:buNone/>
              <a:tabLst>
                <a:tab pos="741363" algn="l"/>
                <a:tab pos="1022350" algn="l"/>
                <a:tab pos="1258888" algn="l"/>
              </a:tabLst>
            </a:pPr>
            <a:r>
              <a:rPr lang="en-US" altLang="en-US" b="1" dirty="0">
                <a:latin typeface="Courier New" panose="02070309020205020404" pitchFamily="49" charset="0"/>
              </a:rPr>
              <a:t>     } </a:t>
            </a:r>
            <a:endParaRPr lang="en-US" altLang="en-US" dirty="0"/>
          </a:p>
        </p:txBody>
      </p:sp>
      <p:cxnSp>
        <p:nvCxnSpPr>
          <p:cNvPr id="6" name="Straight Connector 5">
            <a:extLst>
              <a:ext uri="{FF2B5EF4-FFF2-40B4-BE49-F238E27FC236}">
                <a16:creationId xmlns:a16="http://schemas.microsoft.com/office/drawing/2014/main" id="{D74B91EA-2665-15CB-F7DD-34A73E52E3CE}"/>
              </a:ext>
            </a:extLst>
          </p:cNvPr>
          <p:cNvCxnSpPr>
            <a:cxnSpLocks/>
          </p:cNvCxnSpPr>
          <p:nvPr/>
        </p:nvCxnSpPr>
        <p:spPr bwMode="auto">
          <a:xfrm>
            <a:off x="6096000" y="2558107"/>
            <a:ext cx="0" cy="39754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338EED39-B332-62A0-DF98-3123A4908921}"/>
              </a:ext>
            </a:extLst>
          </p:cNvPr>
          <p:cNvCxnSpPr/>
          <p:nvPr/>
        </p:nvCxnSpPr>
        <p:spPr bwMode="auto">
          <a:xfrm>
            <a:off x="6096000" y="2558107"/>
            <a:ext cx="513645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BF89DA94-1D88-7FBF-1ED4-9F2F90E3FC8C}"/>
              </a:ext>
            </a:extLst>
          </p:cNvPr>
          <p:cNvSpPr txBox="1"/>
          <p:nvPr/>
        </p:nvSpPr>
        <p:spPr>
          <a:xfrm>
            <a:off x="5691981" y="4607599"/>
            <a:ext cx="6224711" cy="2031325"/>
          </a:xfrm>
          <a:prstGeom prst="rect">
            <a:avLst/>
          </a:prstGeom>
          <a:noFill/>
        </p:spPr>
        <p:txBody>
          <a:bodyPr wrap="square">
            <a:spAutoFit/>
          </a:bodyPr>
          <a:lstStyle/>
          <a:p>
            <a:pPr lvl="1"/>
            <a:endParaRPr lang="en-US" altLang="en-US" sz="1800" dirty="0"/>
          </a:p>
          <a:p>
            <a:pPr lvl="1"/>
            <a:r>
              <a:rPr lang="en-US" altLang="en-US" sz="1800" dirty="0"/>
              <a:t>Executed </a:t>
            </a:r>
            <a:r>
              <a:rPr lang="en-US" altLang="en-US" sz="1800" dirty="0" err="1"/>
              <a:t>atomically</a:t>
            </a:r>
            <a:r>
              <a:rPr lang="en-US" altLang="en-US" dirty="0" err="1"/>
              <a:t>.</a:t>
            </a:r>
            <a:r>
              <a:rPr lang="en-US" altLang="en-US" sz="1800" dirty="0" err="1"/>
              <a:t>Returns</a:t>
            </a:r>
            <a:r>
              <a:rPr lang="en-US" altLang="en-US" sz="1800" dirty="0"/>
              <a:t> the original value of passed parameter </a:t>
            </a:r>
            <a:r>
              <a:rPr lang="en-US" altLang="en-US" sz="1800" b="1" dirty="0">
                <a:latin typeface="Courier New" panose="02070309020205020404" pitchFamily="49" charset="0"/>
                <a:cs typeface="Courier New" panose="02070309020205020404" pitchFamily="49" charset="0"/>
              </a:rPr>
              <a:t>value</a:t>
            </a:r>
            <a:endParaRPr lang="en-US" altLang="en-US" sz="1800" dirty="0"/>
          </a:p>
          <a:p>
            <a:pPr lvl="1"/>
            <a:r>
              <a:rPr lang="en-US" altLang="en-US" sz="1800" dirty="0"/>
              <a:t>Set  the variable </a:t>
            </a:r>
            <a:r>
              <a:rPr lang="en-US" altLang="en-US" sz="1800" b="1" dirty="0">
                <a:latin typeface="Courier New" panose="02070309020205020404" pitchFamily="49" charset="0"/>
                <a:cs typeface="Courier New" panose="02070309020205020404" pitchFamily="49" charset="0"/>
              </a:rPr>
              <a:t>value</a:t>
            </a:r>
            <a:r>
              <a:rPr lang="en-US" altLang="en-US" sz="1800" dirty="0"/>
              <a:t> the value of the passed parameter </a:t>
            </a:r>
            <a:r>
              <a:rPr lang="en-US" altLang="en-US" sz="1800" b="1" dirty="0" err="1">
                <a:latin typeface="Courier New" panose="02070309020205020404" pitchFamily="49" charset="0"/>
                <a:cs typeface="Courier New" panose="02070309020205020404" pitchFamily="49" charset="0"/>
              </a:rPr>
              <a:t>new_value</a:t>
            </a:r>
            <a:r>
              <a:rPr lang="en-US" altLang="en-US" sz="1800" dirty="0"/>
              <a:t> but only if </a:t>
            </a:r>
            <a:r>
              <a:rPr lang="en-US" altLang="en-US" sz="1800" b="1" dirty="0">
                <a:latin typeface="Courier New" panose="02070309020205020404" pitchFamily="49" charset="0"/>
                <a:cs typeface="Courier New" panose="02070309020205020404" pitchFamily="49" charset="0"/>
              </a:rPr>
              <a:t>*value == expected </a:t>
            </a:r>
            <a:r>
              <a:rPr lang="en-US" altLang="en-US" sz="1800" dirty="0"/>
              <a:t>is true. That is, the swap takes place only under this condition.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2741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622323" y="988142"/>
            <a:ext cx="9822426" cy="5737538"/>
          </a:xfrm>
        </p:spPr>
        <p:txBody>
          <a:bodyPr/>
          <a:lstStyle/>
          <a:p>
            <a:pPr marL="0" indent="0">
              <a:buNone/>
            </a:pPr>
            <a:r>
              <a:rPr lang="en-US" altLang="en-US" sz="2000" b="1" dirty="0">
                <a:latin typeface="Courier New" panose="02070309020205020404" pitchFamily="49" charset="0"/>
              </a:rPr>
              <a:t>while (true) {</a:t>
            </a:r>
            <a:br>
              <a:rPr lang="en-US" altLang="en-US" sz="2000" b="1" dirty="0">
                <a:latin typeface="Courier New" panose="02070309020205020404" pitchFamily="49" charset="0"/>
              </a:rPr>
            </a:b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true;</a:t>
            </a:r>
            <a:br>
              <a:rPr lang="en-US" altLang="en-US" b="1" dirty="0">
                <a:latin typeface="Courier New" panose="02070309020205020404" pitchFamily="49" charset="0"/>
              </a:rPr>
            </a:br>
            <a:r>
              <a:rPr lang="en-US" altLang="en-US" b="1" dirty="0">
                <a:latin typeface="Courier New" panose="02070309020205020404" pitchFamily="49" charset="0"/>
              </a:rPr>
              <a:t>   key = 1;</a:t>
            </a:r>
            <a:br>
              <a:rPr lang="en-US" altLang="en-US" b="1" dirty="0">
                <a:latin typeface="Courier New" panose="02070309020205020404" pitchFamily="49" charset="0"/>
              </a:rPr>
            </a:br>
            <a:r>
              <a:rPr lang="en-US" altLang="en-US" b="1" dirty="0">
                <a:latin typeface="Courier New" panose="02070309020205020404" pitchFamily="49" charset="0"/>
              </a:rPr>
              <a:t>   while (waiting[</a:t>
            </a:r>
            <a:r>
              <a:rPr lang="en-US" altLang="en-US" b="1" dirty="0" err="1">
                <a:latin typeface="Courier New" panose="02070309020205020404" pitchFamily="49" charset="0"/>
              </a:rPr>
              <a:t>i</a:t>
            </a:r>
            <a:r>
              <a:rPr lang="en-US" altLang="en-US" b="1" dirty="0">
                <a:latin typeface="Courier New" panose="02070309020205020404" pitchFamily="49" charset="0"/>
              </a:rPr>
              <a:t>] &amp;&amp; key == 1) </a:t>
            </a:r>
          </a:p>
          <a:p>
            <a:pPr marL="0" indent="0">
              <a:buNone/>
            </a:pPr>
            <a:r>
              <a:rPr lang="en-US" altLang="en-US" b="1" dirty="0">
                <a:latin typeface="Courier New" panose="02070309020205020404" pitchFamily="49" charset="0"/>
              </a:rPr>
              <a:t>      key =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(&amp;lock,0,1); </a:t>
            </a:r>
          </a:p>
          <a:p>
            <a:pPr marL="0" indent="0">
              <a:buNone/>
            </a:pP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false; </a:t>
            </a:r>
          </a:p>
          <a:p>
            <a:pPr marL="0" indent="0">
              <a:buNone/>
            </a:pPr>
            <a:r>
              <a:rPr lang="en-US" altLang="en-US" b="1" dirty="0">
                <a:solidFill>
                  <a:srgbClr val="CC6600"/>
                </a:solidFill>
                <a:latin typeface="Courier New" panose="02070309020205020404" pitchFamily="49" charset="0"/>
              </a:rPr>
              <a:t>                   /* critical section */ </a:t>
            </a:r>
          </a:p>
          <a:p>
            <a:pPr marL="0" indent="0">
              <a:buNone/>
            </a:pPr>
            <a:r>
              <a:rPr lang="en-US" altLang="en-US" sz="2000" b="1" dirty="0">
                <a:latin typeface="Courier New" panose="02070309020205020404" pitchFamily="49" charset="0"/>
              </a:rPr>
              <a:t>   </a:t>
            </a:r>
            <a:r>
              <a:rPr lang="en-US" altLang="en-US" b="1" dirty="0">
                <a:latin typeface="Courier New" panose="02070309020205020404" pitchFamily="49" charset="0"/>
              </a:rPr>
              <a:t>j = (</a:t>
            </a:r>
            <a:r>
              <a:rPr lang="en-US" altLang="en-US" b="1" dirty="0" err="1">
                <a:latin typeface="Courier New" panose="02070309020205020404" pitchFamily="49" charset="0"/>
              </a:rPr>
              <a:t>i</a:t>
            </a:r>
            <a:r>
              <a:rPr lang="en-US" altLang="en-US" b="1" dirty="0">
                <a:latin typeface="Courier New" panose="02070309020205020404" pitchFamily="49" charset="0"/>
              </a:rPr>
              <a:t> + 1) % n; </a:t>
            </a:r>
          </a:p>
          <a:p>
            <a:pPr marL="0" indent="0">
              <a:buNone/>
            </a:pPr>
            <a:r>
              <a:rPr lang="en-US" altLang="en-US" b="1" dirty="0">
                <a:latin typeface="Courier New" panose="02070309020205020404" pitchFamily="49" charset="0"/>
              </a:rPr>
              <a:t>   while ((j != </a:t>
            </a:r>
            <a:r>
              <a:rPr lang="en-US" altLang="en-US" b="1" dirty="0" err="1">
                <a:latin typeface="Courier New" panose="02070309020205020404" pitchFamily="49" charset="0"/>
              </a:rPr>
              <a:t>i</a:t>
            </a:r>
            <a:r>
              <a:rPr lang="en-US" altLang="en-US" b="1" dirty="0">
                <a:latin typeface="Courier New" panose="02070309020205020404" pitchFamily="49" charset="0"/>
              </a:rPr>
              <a:t>) &amp;&amp; !waiting[j]) </a:t>
            </a:r>
          </a:p>
          <a:p>
            <a:pPr marL="0" indent="0">
              <a:buNone/>
            </a:pPr>
            <a:r>
              <a:rPr lang="en-US" altLang="en-US" b="1" dirty="0">
                <a:latin typeface="Courier New" panose="02070309020205020404" pitchFamily="49" charset="0"/>
              </a:rPr>
              <a:t>      j = (j + 1) % n; </a:t>
            </a:r>
          </a:p>
          <a:p>
            <a:pPr marL="0" indent="0">
              <a:buNone/>
            </a:pPr>
            <a:r>
              <a:rPr lang="en-US" altLang="en-US" b="1" dirty="0">
                <a:latin typeface="Courier New" panose="02070309020205020404" pitchFamily="49" charset="0"/>
              </a:rPr>
              <a:t>   if (j == </a:t>
            </a:r>
            <a:r>
              <a:rPr lang="en-US" altLang="en-US" b="1" dirty="0" err="1">
                <a:latin typeface="Courier New" panose="02070309020205020404" pitchFamily="49" charset="0"/>
              </a:rPr>
              <a:t>i</a:t>
            </a:r>
            <a:r>
              <a:rPr lang="en-US" altLang="en-US" b="1" dirty="0">
                <a:latin typeface="Courier New" panose="02070309020205020404" pitchFamily="49" charset="0"/>
              </a:rPr>
              <a:t>) </a:t>
            </a:r>
          </a:p>
          <a:p>
            <a:pPr marL="0" indent="0">
              <a:buNone/>
            </a:pPr>
            <a:r>
              <a:rPr lang="en-US" altLang="en-US" b="1" dirty="0">
                <a:latin typeface="Courier New" panose="02070309020205020404" pitchFamily="49" charset="0"/>
              </a:rPr>
              <a:t>      lock = 0; </a:t>
            </a:r>
          </a:p>
          <a:p>
            <a:pPr marL="0" indent="0">
              <a:buNone/>
            </a:pPr>
            <a:r>
              <a:rPr lang="en-US" altLang="en-US" b="1" dirty="0">
                <a:latin typeface="Courier New" panose="02070309020205020404" pitchFamily="49" charset="0"/>
              </a:rPr>
              <a:t>   else </a:t>
            </a:r>
          </a:p>
          <a:p>
            <a:pPr marL="0" indent="0">
              <a:buNone/>
            </a:pPr>
            <a:r>
              <a:rPr lang="en-US" altLang="en-US" b="1" dirty="0">
                <a:latin typeface="Courier New" panose="02070309020205020404" pitchFamily="49" charset="0"/>
              </a:rPr>
              <a:t>      waiting[j] = false; </a:t>
            </a:r>
          </a:p>
          <a:p>
            <a:pPr marL="0" indent="0">
              <a:buNone/>
            </a:pPr>
            <a:r>
              <a:rPr lang="en-US" altLang="en-US" b="1" dirty="0">
                <a:latin typeface="Courier New" panose="02070309020205020404" pitchFamily="49" charset="0"/>
              </a:rPr>
              <a:t>                  </a:t>
            </a:r>
            <a:r>
              <a:rPr lang="en-US" altLang="en-US" b="1" dirty="0">
                <a:solidFill>
                  <a:srgbClr val="CC6600"/>
                </a:solidFill>
                <a:latin typeface="Courier New" panose="02070309020205020404" pitchFamily="49" charset="0"/>
              </a:rPr>
              <a:t>/* remainder section */ </a:t>
            </a:r>
          </a:p>
          <a:p>
            <a:pPr marL="0" indent="0">
              <a:buNone/>
            </a:pPr>
            <a:r>
              <a:rPr lang="en-US" altLang="en-US" sz="2000" b="1" dirty="0">
                <a:latin typeface="Courier New" panose="02070309020205020404" pitchFamily="49"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1981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1179871" y="1233489"/>
            <a:ext cx="9542206" cy="5108317"/>
          </a:xfrm>
        </p:spPr>
        <p:txBody>
          <a:bodyPr/>
          <a:lstStyle/>
          <a:p>
            <a:r>
              <a:rPr lang="en-US" altLang="en-US" sz="2000" dirty="0"/>
              <a:t>Typically, instructions such as compare-and-swap are used as building blocks for other synchronization tools.</a:t>
            </a:r>
          </a:p>
          <a:p>
            <a:endParaRPr lang="en-US" altLang="en-US" sz="2000" dirty="0"/>
          </a:p>
          <a:p>
            <a:r>
              <a:rPr lang="en-US" altLang="en-US" sz="2000" dirty="0"/>
              <a:t>One tool is an </a:t>
            </a:r>
            <a:r>
              <a:rPr lang="en-US" altLang="en-US" sz="2000" b="1" dirty="0"/>
              <a:t>atomic variable </a:t>
            </a:r>
            <a:r>
              <a:rPr lang="en-US" altLang="en-US" sz="2000" dirty="0"/>
              <a:t>that provides </a:t>
            </a:r>
            <a:r>
              <a:rPr lang="en-US" altLang="en-US" sz="2000" i="1" dirty="0"/>
              <a:t>atomic</a:t>
            </a:r>
            <a:r>
              <a:rPr lang="en-US" altLang="en-US" sz="2000" dirty="0"/>
              <a:t> (uninterruptible) updates on basic data types such as integers and </a:t>
            </a:r>
            <a:r>
              <a:rPr lang="en-US" altLang="en-US" sz="2000" dirty="0" err="1"/>
              <a:t>booleans</a:t>
            </a:r>
            <a:r>
              <a:rPr lang="en-US" altLang="en-US" sz="2000" dirty="0"/>
              <a:t>.</a:t>
            </a:r>
          </a:p>
          <a:p>
            <a:endParaRPr lang="en-US" altLang="en-US" sz="2000" dirty="0"/>
          </a:p>
          <a:p>
            <a:r>
              <a:rPr lang="en-US" altLang="en-US" sz="2000" dirty="0"/>
              <a:t>For example:</a:t>
            </a:r>
          </a:p>
          <a:p>
            <a:pPr lvl="1"/>
            <a:r>
              <a:rPr lang="en-US" altLang="en-US" sz="2000" dirty="0"/>
              <a:t>Let </a:t>
            </a:r>
            <a:r>
              <a:rPr lang="en-US" altLang="en-US" sz="2000" b="1" dirty="0">
                <a:latin typeface="Courier New" panose="02070309020205020404" pitchFamily="49" charset="0"/>
                <a:cs typeface="Courier New" panose="02070309020205020404" pitchFamily="49" charset="0"/>
              </a:rPr>
              <a:t>sequence </a:t>
            </a:r>
            <a:r>
              <a:rPr lang="en-US" altLang="en-US" sz="2000" dirty="0"/>
              <a:t>be an atomic variable </a:t>
            </a:r>
          </a:p>
          <a:p>
            <a:pPr lvl="1"/>
            <a:r>
              <a:rPr lang="en-US" altLang="en-US" sz="2000" dirty="0"/>
              <a:t>Let  </a:t>
            </a:r>
            <a:r>
              <a:rPr lang="en-US" altLang="en-US" sz="2000" b="1" dirty="0">
                <a:latin typeface="Courier New" panose="02070309020205020404" pitchFamily="49" charset="0"/>
                <a:cs typeface="Courier New" panose="02070309020205020404" pitchFamily="49" charset="0"/>
              </a:rPr>
              <a:t>increment()</a:t>
            </a:r>
            <a:r>
              <a:rPr lang="en-US" altLang="en-US" sz="2000"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sz="2000" dirty="0"/>
              <a:t> </a:t>
            </a:r>
          </a:p>
          <a:p>
            <a:pPr lvl="1"/>
            <a:r>
              <a:rPr lang="en-US" altLang="en-US" sz="2000" dirty="0"/>
              <a:t>The Command:</a:t>
            </a:r>
          </a:p>
          <a:p>
            <a:pPr marL="457200" lvl="1" indent="0">
              <a:buNone/>
            </a:pPr>
            <a:r>
              <a:rPr lang="en-US" altLang="en-US" sz="2000" b="1" dirty="0">
                <a:latin typeface="Courier New" panose="02070309020205020404" pitchFamily="49" charset="0"/>
                <a:cs typeface="Courier New" panose="02070309020205020404" pitchFamily="49" charset="0"/>
              </a:rPr>
              <a:t>     increment(&amp;sequence);</a:t>
            </a:r>
            <a:r>
              <a:rPr lang="en-US" altLang="en-US" sz="2000" dirty="0"/>
              <a:t> </a:t>
            </a:r>
          </a:p>
          <a:p>
            <a:pPr marL="457200" lvl="1" indent="0">
              <a:buNone/>
            </a:pPr>
            <a:r>
              <a:rPr lang="en-US" altLang="en-US" sz="2000" dirty="0"/>
              <a:t>      ensures </a:t>
            </a:r>
            <a:r>
              <a:rPr lang="en-US" altLang="en-US" sz="2000" b="1" dirty="0">
                <a:latin typeface="Courier New" panose="02070309020205020404" pitchFamily="49" charset="0"/>
                <a:cs typeface="Courier New" panose="02070309020205020404" pitchFamily="49" charset="0"/>
              </a:rPr>
              <a:t>sequence</a:t>
            </a:r>
            <a:r>
              <a:rPr lang="en-US" altLang="en-US" sz="2000" dirty="0"/>
              <a:t> is incremented without interruption:</a:t>
            </a:r>
            <a:br>
              <a:rPr lang="en-US" altLang="en-US" sz="2000" dirty="0"/>
            </a:br>
            <a:br>
              <a:rPr lang="en-US" altLang="en-US" sz="2000" dirty="0"/>
            </a:br>
            <a:endParaRPr lang="en-US"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1981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412955" y="953270"/>
            <a:ext cx="11606979" cy="5680208"/>
          </a:xfrm>
        </p:spPr>
        <p:txBody>
          <a:bodyPr/>
          <a:lstStyle/>
          <a:p>
            <a:r>
              <a:rPr lang="en-US" altLang="en-US" sz="2000" dirty="0"/>
              <a:t>The </a:t>
            </a:r>
            <a:r>
              <a:rPr lang="en-US" altLang="en-US" sz="2000" b="1" dirty="0">
                <a:latin typeface="Courier New" panose="02070309020205020404" pitchFamily="49" charset="0"/>
                <a:cs typeface="Courier New" panose="02070309020205020404" pitchFamily="49" charset="0"/>
              </a:rPr>
              <a:t>increment()</a:t>
            </a:r>
            <a:r>
              <a:rPr lang="en-US" altLang="en-US" sz="2000" dirty="0"/>
              <a:t> function can be implemented as follows:</a:t>
            </a:r>
            <a:br>
              <a:rPr lang="en-US" altLang="en-US" sz="2000" dirty="0"/>
            </a:br>
            <a:r>
              <a:rPr lang="en-US" altLang="en-US" sz="2000" b="1" dirty="0">
                <a:latin typeface="Courier New" panose="02070309020205020404" pitchFamily="49" charset="0"/>
                <a:cs typeface="Courier New" panose="02070309020205020404" pitchFamily="49" charset="0"/>
              </a:rPr>
              <a:t>void increment(</a:t>
            </a:r>
            <a:r>
              <a:rPr lang="en-US" altLang="en-US" sz="2000" b="1" dirty="0" err="1">
                <a:latin typeface="Courier New" panose="02070309020205020404" pitchFamily="49" charset="0"/>
                <a:cs typeface="Courier New" panose="02070309020205020404" pitchFamily="49" charset="0"/>
              </a:rPr>
              <a:t>atomic_int</a:t>
            </a:r>
            <a:r>
              <a:rPr lang="en-US" altLang="en-US" sz="2000" b="1" dirty="0">
                <a:latin typeface="Courier New" panose="02070309020205020404" pitchFamily="49" charset="0"/>
                <a:cs typeface="Courier New" panose="02070309020205020404" pitchFamily="49" charset="0"/>
              </a:rPr>
              <a:t> *v)</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int temp;</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do {</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temp = *v;</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while (temp != (</a:t>
            </a:r>
            <a:r>
              <a:rPr lang="en-US" altLang="en-US" sz="2000" b="1" dirty="0" err="1">
                <a:latin typeface="Courier New" panose="02070309020205020404" pitchFamily="49" charset="0"/>
                <a:cs typeface="Courier New" panose="02070309020205020404" pitchFamily="49" charset="0"/>
              </a:rPr>
              <a:t>compare_and_swap</a:t>
            </a:r>
            <a:r>
              <a:rPr lang="en-US" altLang="en-US" sz="2000" b="1" dirty="0">
                <a:latin typeface="Courier New" panose="02070309020205020404" pitchFamily="49" charset="0"/>
                <a:cs typeface="Courier New" panose="02070309020205020404" pitchFamily="49" charset="0"/>
              </a:rPr>
              <a:t>(v,temp,temp+1));</a:t>
            </a:r>
            <a:br>
              <a:rPr lang="en-US" altLang="en-US" sz="2000" b="1" dirty="0">
                <a:latin typeface="Courier New" panose="02070309020205020404" pitchFamily="49" charset="0"/>
                <a:cs typeface="Courier New" panose="02070309020205020404" pitchFamily="49" charset="0"/>
              </a:rPr>
            </a:br>
            <a:r>
              <a:rPr lang="en-US" altLang="en-US" sz="2000" b="1" dirty="0">
                <a:latin typeface="Courier New" panose="02070309020205020404" pitchFamily="49" charset="0"/>
                <a:cs typeface="Courier New" panose="02070309020205020404" pitchFamily="49" charset="0"/>
              </a:rPr>
              <a:t>}//----------------------------------------------------------------- </a:t>
            </a:r>
            <a:br>
              <a:rPr lang="en-US" altLang="en-US" sz="2000" b="1" dirty="0">
                <a:latin typeface="Courier New" panose="02070309020205020404" pitchFamily="49" charset="0"/>
                <a:cs typeface="Courier New" panose="02070309020205020404" pitchFamily="49" charset="0"/>
              </a:rPr>
            </a:br>
            <a:r>
              <a:rPr lang="en-US" b="1" u="sng" dirty="0"/>
              <a:t>How it works — Simple Explanation</a:t>
            </a:r>
          </a:p>
          <a:p>
            <a:r>
              <a:rPr lang="en-US" dirty="0"/>
              <a:t>temp = *v;  // Read current value of atomic integer v from memory.</a:t>
            </a:r>
          </a:p>
          <a:p>
            <a:r>
              <a:rPr lang="en-US" dirty="0" err="1"/>
              <a:t>compare_and_swap</a:t>
            </a:r>
            <a:r>
              <a:rPr lang="en-US" dirty="0"/>
              <a:t>(v, temp, temp+1)  // Tries to set v to temp+1 </a:t>
            </a:r>
            <a:r>
              <a:rPr lang="en-US" b="1" dirty="0"/>
              <a:t>only if</a:t>
            </a:r>
            <a:r>
              <a:rPr lang="en-US" dirty="0"/>
              <a:t> v has not changed since we read it.</a:t>
            </a:r>
          </a:p>
          <a:p>
            <a:r>
              <a:rPr lang="en-US" dirty="0"/>
              <a:t>while (temp != </a:t>
            </a:r>
            <a:r>
              <a:rPr lang="en-US" dirty="0" err="1"/>
              <a:t>returned_value</a:t>
            </a:r>
            <a:r>
              <a:rPr lang="en-US" dirty="0"/>
              <a:t>)</a:t>
            </a:r>
          </a:p>
          <a:p>
            <a:pPr lvl="1"/>
            <a:r>
              <a:rPr lang="en-US" dirty="0"/>
              <a:t>If someone else incremented v during the loop,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a:t>
            </a:r>
            <a:r>
              <a:rPr lang="en-US" dirty="0"/>
              <a:t>fails, because the value is no longer equal to temp.</a:t>
            </a:r>
          </a:p>
          <a:p>
            <a:pPr lvl="1"/>
            <a:r>
              <a:rPr lang="en-US" dirty="0"/>
              <a:t>Then we retry (read the updated value and try again).</a:t>
            </a:r>
          </a:p>
          <a:p>
            <a:r>
              <a:rPr lang="en-US" dirty="0"/>
              <a:t>This guarantees safe concurrent increment without locks.</a:t>
            </a:r>
          </a:p>
          <a:p>
            <a:endParaRPr lang="en-US"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1981200" y="144697"/>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99652" y="1074016"/>
            <a:ext cx="10677832" cy="4931930"/>
          </a:xfrm>
        </p:spPr>
        <p:txBody>
          <a:bodyPr/>
          <a:lstStyle/>
          <a:p>
            <a:pPr>
              <a:lnSpc>
                <a:spcPct val="90000"/>
              </a:lnSpc>
            </a:pPr>
            <a:r>
              <a:rPr lang="en-US" altLang="en-US" sz="2000" dirty="0"/>
              <a:t>Previous solutions are complicated and generally inaccessible to application programmers</a:t>
            </a:r>
          </a:p>
          <a:p>
            <a:pPr>
              <a:lnSpc>
                <a:spcPct val="90000"/>
              </a:lnSpc>
            </a:pPr>
            <a:r>
              <a:rPr lang="en-US" altLang="en-US" sz="2000" dirty="0"/>
              <a:t>OS designers build software tools to solve critical section problem</a:t>
            </a:r>
          </a:p>
          <a:p>
            <a:pPr>
              <a:lnSpc>
                <a:spcPct val="90000"/>
              </a:lnSpc>
            </a:pPr>
            <a:r>
              <a:rPr lang="en-US" altLang="en-US" sz="2000" dirty="0"/>
              <a:t>Simplest is mutex lock</a:t>
            </a:r>
          </a:p>
          <a:p>
            <a:pPr lvl="1">
              <a:lnSpc>
                <a:spcPct val="90000"/>
              </a:lnSpc>
            </a:pPr>
            <a:r>
              <a:rPr lang="en-US" altLang="en-US" sz="2000" dirty="0"/>
              <a:t>Boolean variable indicating if lock is available or not</a:t>
            </a:r>
          </a:p>
          <a:p>
            <a:pPr>
              <a:lnSpc>
                <a:spcPct val="90000"/>
              </a:lnSpc>
            </a:pPr>
            <a:r>
              <a:rPr lang="en-US" altLang="en-US" sz="2000" dirty="0"/>
              <a:t>Protect a critical section  by </a:t>
            </a:r>
          </a:p>
          <a:p>
            <a:pPr lvl="1">
              <a:lnSpc>
                <a:spcPct val="90000"/>
              </a:lnSpc>
            </a:pPr>
            <a:r>
              <a:rPr lang="en-US" altLang="en-US" sz="2000"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 lock </a:t>
            </a:r>
          </a:p>
          <a:p>
            <a:pPr lvl="1">
              <a:lnSpc>
                <a:spcPct val="90000"/>
              </a:lnSpc>
            </a:pPr>
            <a:r>
              <a:rPr lang="en-US" altLang="en-US" sz="2000" dirty="0"/>
              <a:t>Then </a:t>
            </a:r>
            <a:r>
              <a:rPr lang="en-US" altLang="en-US" sz="2000" b="1" dirty="0">
                <a:latin typeface="Courier New" panose="02070309020205020404" pitchFamily="49" charset="0"/>
              </a:rPr>
              <a:t>release()</a:t>
            </a:r>
            <a:r>
              <a:rPr lang="en-US" altLang="en-US" sz="2000" dirty="0"/>
              <a:t> the lock</a:t>
            </a:r>
          </a:p>
          <a:p>
            <a:pPr>
              <a:lnSpc>
                <a:spcPct val="90000"/>
              </a:lnSpc>
            </a:pPr>
            <a:r>
              <a:rPr lang="en-US" altLang="en-US" sz="2000" dirty="0"/>
              <a:t>Calls to </a:t>
            </a:r>
            <a:r>
              <a:rPr lang="en-US" altLang="en-US" sz="2000" b="1" dirty="0">
                <a:latin typeface="Courier New" panose="02070309020205020404" pitchFamily="49" charset="0"/>
              </a:rPr>
              <a:t>acquire()</a:t>
            </a:r>
            <a:r>
              <a:rPr lang="en-US" altLang="en-US" sz="2000" dirty="0"/>
              <a:t> and </a:t>
            </a:r>
            <a:r>
              <a:rPr lang="en-US" altLang="en-US" sz="2000" b="1" dirty="0">
                <a:latin typeface="Courier New" panose="02070309020205020404" pitchFamily="49" charset="0"/>
              </a:rPr>
              <a:t>release()</a:t>
            </a:r>
            <a:r>
              <a:rPr lang="en-US" altLang="en-US" sz="2000" dirty="0"/>
              <a:t> must be </a:t>
            </a:r>
            <a:r>
              <a:rPr lang="en-US" altLang="en-US" sz="2000" b="1" dirty="0">
                <a:solidFill>
                  <a:srgbClr val="006699"/>
                </a:solidFill>
                <a:latin typeface="+mj-lt"/>
              </a:rPr>
              <a:t>atomic</a:t>
            </a:r>
          </a:p>
          <a:p>
            <a:pPr lvl="1">
              <a:lnSpc>
                <a:spcPct val="90000"/>
              </a:lnSpc>
            </a:pPr>
            <a:r>
              <a:rPr lang="en-US" altLang="en-US" sz="2000" dirty="0"/>
              <a:t>Usually implemented via hardware atomic instructions such as compare-and-swap.</a:t>
            </a:r>
          </a:p>
          <a:p>
            <a:pPr>
              <a:lnSpc>
                <a:spcPct val="90000"/>
              </a:lnSpc>
            </a:pPr>
            <a:r>
              <a:rPr lang="en-US" altLang="en-US" sz="2000" dirty="0"/>
              <a:t>But this solution requires </a:t>
            </a:r>
            <a:r>
              <a:rPr lang="en-US" altLang="en-US" sz="2000" b="1" dirty="0">
                <a:solidFill>
                  <a:srgbClr val="006699"/>
                </a:solidFill>
                <a:latin typeface="+mj-lt"/>
              </a:rPr>
              <a:t>busy waiting</a:t>
            </a:r>
          </a:p>
          <a:p>
            <a:pPr lvl="1">
              <a:lnSpc>
                <a:spcPct val="90000"/>
              </a:lnSpc>
            </a:pPr>
            <a:r>
              <a:rPr lang="en-US" altLang="en-US" sz="2000" dirty="0"/>
              <a:t>This lock therefore called a </a:t>
            </a:r>
            <a:r>
              <a:rPr lang="en-US" altLang="en-US" sz="2000" b="1" dirty="0">
                <a:solidFill>
                  <a:srgbClr val="006699"/>
                </a:solidFill>
                <a:latin typeface="+mj-lt"/>
              </a:rPr>
              <a:t>spinlock</a:t>
            </a:r>
          </a:p>
          <a:p>
            <a:pPr>
              <a:lnSpc>
                <a:spcPct val="90000"/>
              </a:lnSpc>
              <a:buFont typeface="Monotype Sorts" pitchFamily="-84" charset="2"/>
              <a:buNone/>
            </a:pPr>
            <a:endParaRPr lang="en-US" altLang="en-US" sz="2000" dirty="0"/>
          </a:p>
        </p:txBody>
      </p:sp>
    </p:spTree>
    <p:extLst>
      <p:ext uri="{BB962C8B-B14F-4D97-AF65-F5344CB8AC3E}">
        <p14:creationId xmlns:p14="http://schemas.microsoft.com/office/powerpoint/2010/main" val="389945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1933421" y="2344712"/>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1933420" y="3492102"/>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2541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1033362" y="1681718"/>
            <a:ext cx="4482535"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000" b="1" dirty="0">
                <a:solidFill>
                  <a:srgbClr val="000000"/>
                </a:solidFill>
                <a:latin typeface="Courier New" panose="02070309020205020404" pitchFamily="49" charset="0"/>
              </a:rPr>
              <a:t>while (true)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acquire lock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critical section </a:t>
            </a:r>
          </a:p>
          <a:p>
            <a:pPr>
              <a:buFont typeface="Monotype Sorts" pitchFamily="-84" charset="2"/>
              <a:buNone/>
            </a:pPr>
            <a:endParaRPr lang="en-US" altLang="en-US" sz="2000" b="1" dirty="0">
              <a:solidFill>
                <a:srgbClr val="000000"/>
              </a:solidFill>
              <a:latin typeface="Courier New" panose="02070309020205020404" pitchFamily="49" charset="0"/>
            </a:endParaRPr>
          </a:p>
          <a:p>
            <a:pPr>
              <a:buFont typeface="Monotype Sorts" pitchFamily="-84" charset="2"/>
              <a:buNone/>
            </a:pPr>
            <a:r>
              <a:rPr lang="en-US" altLang="en-US" sz="2000" b="1" dirty="0">
                <a:solidFill>
                  <a:srgbClr val="000000"/>
                </a:solidFill>
                <a:latin typeface="Courier New" panose="02070309020205020404" pitchFamily="49" charset="0"/>
              </a:rPr>
              <a:t>	release lock </a:t>
            </a:r>
          </a:p>
          <a:p>
            <a:pPr>
              <a:buFont typeface="Monotype Sorts" pitchFamily="-84" charset="2"/>
              <a:buNone/>
            </a:pPr>
            <a:r>
              <a:rPr lang="en-US" altLang="en-US" sz="2000" b="1" dirty="0">
                <a:solidFill>
                  <a:srgbClr val="000000"/>
                </a:solidFill>
                <a:latin typeface="Courier New" panose="02070309020205020404" pitchFamily="49" charset="0"/>
              </a:rPr>
              <a:t>	</a:t>
            </a:r>
          </a:p>
          <a:p>
            <a:pPr>
              <a:buFont typeface="Monotype Sorts" pitchFamily="-84" charset="2"/>
              <a:buNone/>
            </a:pPr>
            <a:r>
              <a:rPr lang="en-US" altLang="en-US" sz="2000" b="1" dirty="0">
                <a:solidFill>
                  <a:srgbClr val="000000"/>
                </a:solidFill>
                <a:latin typeface="Courier New" panose="02070309020205020404" pitchFamily="49" charset="0"/>
              </a:rPr>
              <a:t> remainder section </a:t>
            </a:r>
          </a:p>
          <a:p>
            <a:pPr>
              <a:buFont typeface="Monotype Sorts" pitchFamily="-84" charset="2"/>
              <a:buNone/>
            </a:pPr>
            <a:r>
              <a:rPr lang="en-US" altLang="en-US" sz="2000" b="1" dirty="0">
                <a:solidFill>
                  <a:srgbClr val="000000"/>
                </a:solidFill>
                <a:latin typeface="Courier New" panose="02070309020205020404" pitchFamily="49" charset="0"/>
              </a:rPr>
              <a:t>} </a:t>
            </a:r>
          </a:p>
        </p:txBody>
      </p:sp>
      <p:sp>
        <p:nvSpPr>
          <p:cNvPr id="2" name="Rectangle 2">
            <a:extLst>
              <a:ext uri="{FF2B5EF4-FFF2-40B4-BE49-F238E27FC236}">
                <a16:creationId xmlns:a16="http://schemas.microsoft.com/office/drawing/2014/main" id="{B2317442-509A-791D-4EC3-54F6AEC86262}"/>
              </a:ext>
            </a:extLst>
          </p:cNvPr>
          <p:cNvSpPr>
            <a:spLocks noChangeArrowheads="1"/>
          </p:cNvSpPr>
          <p:nvPr/>
        </p:nvSpPr>
        <p:spPr bwMode="auto">
          <a:xfrm>
            <a:off x="5899355" y="1681717"/>
            <a:ext cx="5869858" cy="395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lnSpc>
                <a:spcPct val="90000"/>
              </a:lnSpc>
              <a:buFont typeface="Monotype Sorts" pitchFamily="-84" charset="2"/>
              <a:buNone/>
            </a:pPr>
            <a:endParaRPr lang="en-US" altLang="en-US" dirty="0"/>
          </a:p>
          <a:p>
            <a:pPr lvl="1">
              <a:lnSpc>
                <a:spcPct val="90000"/>
              </a:lnSpc>
              <a:buFont typeface="Monotype Sorts" pitchFamily="-84" charset="2"/>
              <a:buNone/>
            </a:pPr>
            <a:r>
              <a:rPr lang="en-US" altLang="en-US" dirty="0"/>
              <a:t>Definition of  the </a:t>
            </a:r>
            <a:r>
              <a:rPr lang="en-US" altLang="en-US" sz="2000" b="1" dirty="0">
                <a:latin typeface="Courier New" panose="02070309020205020404" pitchFamily="49" charset="0"/>
                <a:sym typeface="Symbol" panose="05050102010706020507" pitchFamily="18" charset="2"/>
              </a:rPr>
              <a:t>acquire() </a:t>
            </a:r>
            <a:r>
              <a:rPr lang="en-US" altLang="en-US" sz="2000" b="1" dirty="0">
                <a:solidFill>
                  <a:srgbClr val="000000"/>
                </a:solidFill>
                <a:latin typeface="Courier New" panose="02070309020205020404" pitchFamily="49" charset="0"/>
              </a:rPr>
              <a:t>operation</a:t>
            </a:r>
            <a:endParaRPr lang="en-US" altLang="en-US" sz="2000" b="1" dirty="0"/>
          </a:p>
          <a:p>
            <a:pPr lvl="1">
              <a:lnSpc>
                <a:spcPct val="90000"/>
              </a:lnSpc>
              <a:buFont typeface="Monotype Sorts" pitchFamily="-84" charset="2"/>
              <a:buNone/>
            </a:pPr>
            <a:endParaRPr lang="en-US" altLang="en-US"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acquire()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while ( !</a:t>
            </a:r>
            <a:r>
              <a:rPr lang="en-US" altLang="en-US" b="1" dirty="0">
                <a:solidFill>
                  <a:srgbClr val="000000"/>
                </a:solidFill>
                <a:latin typeface="Courier New" panose="02070309020205020404" pitchFamily="49" charset="0"/>
              </a:rPr>
              <a:t>available </a:t>
            </a: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b="1" dirty="0">
                <a:solidFill>
                  <a:srgbClr val="000000"/>
                </a:solidFill>
                <a:latin typeface="Courier New" panose="02070309020205020404" pitchFamily="49" charset="0"/>
              </a:rPr>
              <a:t>    available  = false</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lvl="1">
              <a:lnSpc>
                <a:spcPct val="90000"/>
              </a:lnSpc>
              <a:buFont typeface="Monotype Sorts" pitchFamily="-84" charset="2"/>
              <a:buNone/>
            </a:pPr>
            <a:endParaRPr lang="en-US" altLang="en-US" b="1" dirty="0">
              <a:latin typeface="Courier New" panose="02070309020205020404" pitchFamily="49" charset="0"/>
              <a:sym typeface="Symbol" panose="05050102010706020507" pitchFamily="18" charset="2"/>
            </a:endParaRPr>
          </a:p>
          <a:p>
            <a:pPr>
              <a:lnSpc>
                <a:spcPct val="90000"/>
              </a:lnSpc>
            </a:pPr>
            <a:r>
              <a:rPr lang="en-US" altLang="en-US" sz="2000" dirty="0"/>
              <a:t>     Definition of  the </a:t>
            </a:r>
            <a:r>
              <a:rPr lang="en-US" altLang="en-US" sz="2000" b="1" dirty="0">
                <a:solidFill>
                  <a:srgbClr val="000000"/>
                </a:solidFill>
                <a:latin typeface="Courier New" panose="02070309020205020404" pitchFamily="49" charset="0"/>
              </a:rPr>
              <a:t>release() operation</a:t>
            </a:r>
          </a:p>
          <a:p>
            <a:pPr>
              <a:lnSpc>
                <a:spcPct val="90000"/>
              </a:lnSpc>
            </a:pPr>
            <a:endParaRPr lang="en-US" altLang="en-US" sz="20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solidFill>
                  <a:srgbClr val="000000"/>
                </a:solidFill>
                <a:latin typeface="Courier New" panose="02070309020205020404" pitchFamily="49" charset="0"/>
              </a:rPr>
              <a:t>release</a:t>
            </a:r>
            <a:r>
              <a:rPr lang="en-US" altLang="en-US"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a:t>
            </a:r>
            <a:r>
              <a:rPr lang="en-US" altLang="en-US" b="1" dirty="0">
                <a:solidFill>
                  <a:srgbClr val="000000"/>
                </a:solidFill>
                <a:latin typeface="Courier New" panose="02070309020205020404" pitchFamily="49" charset="0"/>
              </a:rPr>
              <a:t>available  = true</a:t>
            </a:r>
            <a:endParaRPr lang="en-US" altLang="en-US"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endParaRPr lang="en-US" altLang="en-US" sz="2000" b="1" dirty="0">
              <a:solidFill>
                <a:srgbClr val="000000"/>
              </a:solidFill>
              <a:latin typeface="Courier New" panose="02070309020205020404" pitchFamily="49" charset="0"/>
            </a:endParaRPr>
          </a:p>
        </p:txBody>
      </p:sp>
      <p:sp>
        <p:nvSpPr>
          <p:cNvPr id="4" name="TextBox 3">
            <a:extLst>
              <a:ext uri="{FF2B5EF4-FFF2-40B4-BE49-F238E27FC236}">
                <a16:creationId xmlns:a16="http://schemas.microsoft.com/office/drawing/2014/main" id="{A3AA1730-FED0-F938-3E9B-D6CEF38FB880}"/>
              </a:ext>
            </a:extLst>
          </p:cNvPr>
          <p:cNvSpPr txBox="1"/>
          <p:nvPr/>
        </p:nvSpPr>
        <p:spPr>
          <a:xfrm>
            <a:off x="5515897" y="1024956"/>
            <a:ext cx="6194322" cy="400110"/>
          </a:xfrm>
          <a:prstGeom prst="rect">
            <a:avLst/>
          </a:prstGeom>
          <a:noFill/>
        </p:spPr>
        <p:txBody>
          <a:bodyPr wrap="square">
            <a:spAutoFit/>
          </a:bodyPr>
          <a:lstStyle/>
          <a:p>
            <a:r>
              <a:rPr lang="en-US" altLang="en-US" sz="2000" dirty="0">
                <a:solidFill>
                  <a:srgbClr val="000000"/>
                </a:solidFill>
                <a:latin typeface="Courier New" panose="02070309020205020404" pitchFamily="49" charset="0"/>
              </a:rPr>
              <a:t>Initially </a:t>
            </a:r>
            <a:r>
              <a:rPr lang="en-US" altLang="en-US" sz="2000" b="1" dirty="0">
                <a:solidFill>
                  <a:srgbClr val="000000"/>
                </a:solidFill>
                <a:latin typeface="Courier New" panose="02070309020205020404" pitchFamily="49" charset="0"/>
              </a:rPr>
              <a:t>available = true</a:t>
            </a:r>
            <a:endParaRPr lang="en-US" sz="2000" b="1" dirty="0"/>
          </a:p>
        </p:txBody>
      </p:sp>
      <p:cxnSp>
        <p:nvCxnSpPr>
          <p:cNvPr id="8" name="Straight Connector 7">
            <a:extLst>
              <a:ext uri="{FF2B5EF4-FFF2-40B4-BE49-F238E27FC236}">
                <a16:creationId xmlns:a16="http://schemas.microsoft.com/office/drawing/2014/main" id="{FC7544C2-FE30-54AA-D659-1198EB975C72}"/>
              </a:ext>
            </a:extLst>
          </p:cNvPr>
          <p:cNvCxnSpPr/>
          <p:nvPr/>
        </p:nvCxnSpPr>
        <p:spPr bwMode="auto">
          <a:xfrm>
            <a:off x="5309419" y="973337"/>
            <a:ext cx="0" cy="5110373"/>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1981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1356852" y="973394"/>
            <a:ext cx="9866671" cy="5160707"/>
          </a:xfrm>
        </p:spPr>
        <p:txBody>
          <a:bodyPr/>
          <a:lstStyle/>
          <a:p>
            <a:pPr>
              <a:lnSpc>
                <a:spcPct val="90000"/>
              </a:lnSpc>
            </a:pPr>
            <a:r>
              <a:rPr lang="en-US" altLang="en-US" sz="2000" dirty="0"/>
              <a:t>Synchronization tool that provides more sophisticated ways (than Mutex locks)  for processes to synchronize their activities.</a:t>
            </a:r>
            <a:endParaRPr lang="en-US" altLang="en-US" sz="2000" i="1" dirty="0">
              <a:solidFill>
                <a:schemeClr val="tx2"/>
              </a:solidFill>
            </a:endParaRPr>
          </a:p>
          <a:p>
            <a:pPr>
              <a:lnSpc>
                <a:spcPct val="90000"/>
              </a:lnSpc>
            </a:pPr>
            <a:r>
              <a:rPr lang="en-US" altLang="en-US" sz="2000" dirty="0"/>
              <a:t>Semaphore </a:t>
            </a:r>
            <a:r>
              <a:rPr lang="en-US" altLang="en-US" sz="2000" b="1" i="1" dirty="0"/>
              <a:t>S</a:t>
            </a:r>
            <a:r>
              <a:rPr lang="en-US" altLang="en-US" sz="2000" dirty="0"/>
              <a:t> – integer variable</a:t>
            </a:r>
          </a:p>
          <a:p>
            <a:pPr>
              <a:lnSpc>
                <a:spcPct val="90000"/>
              </a:lnSpc>
            </a:pPr>
            <a:r>
              <a:rPr lang="en-US" altLang="en-US" sz="2000" dirty="0"/>
              <a:t>Can only be accessed via two indivisible (atomic) operations</a:t>
            </a:r>
          </a:p>
          <a:p>
            <a:pPr lvl="1">
              <a:lnSpc>
                <a:spcPct val="90000"/>
              </a:lnSpc>
            </a:pPr>
            <a:r>
              <a:rPr lang="en-US" altLang="en-US" sz="2000" b="1" dirty="0">
                <a:solidFill>
                  <a:srgbClr val="000000"/>
                </a:solidFill>
                <a:latin typeface="Courier New" panose="02070309020205020404" pitchFamily="49" charset="0"/>
              </a:rPr>
              <a:t>wait()</a:t>
            </a:r>
            <a:r>
              <a:rPr lang="en-US" altLang="en-US" sz="2000" dirty="0">
                <a:solidFill>
                  <a:srgbClr val="000000"/>
                </a:solidFill>
              </a:rPr>
              <a:t> and </a:t>
            </a:r>
            <a:r>
              <a:rPr lang="en-US" altLang="en-US" sz="2000" b="1" dirty="0">
                <a:solidFill>
                  <a:srgbClr val="000000"/>
                </a:solidFill>
                <a:latin typeface="Courier New" panose="02070309020205020404" pitchFamily="49" charset="0"/>
              </a:rPr>
              <a:t>signal()</a:t>
            </a:r>
          </a:p>
          <a:p>
            <a:pPr lvl="2">
              <a:lnSpc>
                <a:spcPct val="90000"/>
              </a:lnSpc>
            </a:pPr>
            <a:r>
              <a:rPr lang="en-US" altLang="en-US" sz="2000" dirty="0"/>
              <a:t>Originally called </a:t>
            </a:r>
            <a:r>
              <a:rPr lang="en-US" altLang="en-US" sz="2000" b="1" dirty="0">
                <a:solidFill>
                  <a:srgbClr val="000000"/>
                </a:solidFill>
                <a:latin typeface="Courier New" panose="02070309020205020404" pitchFamily="49" charset="0"/>
              </a:rPr>
              <a:t>P()</a:t>
            </a:r>
            <a:r>
              <a:rPr lang="en-US" altLang="en-US" sz="2000" dirty="0"/>
              <a:t> and </a:t>
            </a:r>
            <a:r>
              <a:rPr lang="en-US" altLang="en-US" sz="2000" b="1" dirty="0">
                <a:solidFill>
                  <a:srgbClr val="000000"/>
                </a:solidFill>
                <a:latin typeface="Courier New" panose="02070309020205020404" pitchFamily="49" charset="0"/>
              </a:rPr>
              <a:t>V()</a:t>
            </a:r>
          </a:p>
          <a:p>
            <a:pPr>
              <a:lnSpc>
                <a:spcPct val="90000"/>
              </a:lnSpc>
            </a:pPr>
            <a:r>
              <a:rPr lang="en-US" altLang="en-US" sz="2000" dirty="0"/>
              <a:t>Definition of  the </a:t>
            </a:r>
            <a:r>
              <a:rPr lang="en-US" altLang="en-US" sz="2000"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a:p>
            <a:pPr>
              <a:lnSpc>
                <a:spcPct val="90000"/>
              </a:lnSpc>
            </a:pPr>
            <a:r>
              <a:rPr lang="en-US" altLang="en-US" sz="2000" dirty="0"/>
              <a:t>Definition of  the </a:t>
            </a:r>
            <a:r>
              <a:rPr lang="en-US" altLang="en-US" sz="2000" b="1" dirty="0">
                <a:solidFill>
                  <a:srgbClr val="000000"/>
                </a:solidFill>
                <a:latin typeface="Courier New" panose="02070309020205020404" pitchFamily="49" charset="0"/>
              </a:rPr>
              <a:t>signal() operation</a:t>
            </a:r>
            <a:endParaRPr lang="en-US" altLang="en-US" sz="20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 { </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2085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1460090" y="1093790"/>
            <a:ext cx="9442860" cy="4252911"/>
          </a:xfrm>
        </p:spPr>
        <p:txBody>
          <a:bodyPr/>
          <a:lstStyle/>
          <a:p>
            <a:pPr>
              <a:tabLst>
                <a:tab pos="2001838" algn="ctr"/>
                <a:tab pos="4513263" algn="ctr"/>
              </a:tabLst>
            </a:pPr>
            <a:r>
              <a:rPr lang="en-US" altLang="en-US" sz="2000" b="1" dirty="0">
                <a:solidFill>
                  <a:srgbClr val="006699"/>
                </a:solidFill>
                <a:latin typeface="+mj-lt"/>
              </a:rPr>
              <a:t>Counting semaphore</a:t>
            </a:r>
            <a:r>
              <a:rPr lang="en-US" altLang="en-US" sz="2000" b="1" dirty="0">
                <a:solidFill>
                  <a:srgbClr val="3366FF"/>
                </a:solidFill>
              </a:rPr>
              <a:t> </a:t>
            </a:r>
            <a:r>
              <a:rPr lang="en-US" altLang="en-US" sz="2000" dirty="0"/>
              <a:t>– integer value can range over an unrestricted domain</a:t>
            </a:r>
          </a:p>
          <a:p>
            <a:pPr>
              <a:tabLst>
                <a:tab pos="2001838" algn="ctr"/>
                <a:tab pos="4513263" algn="ctr"/>
              </a:tabLst>
            </a:pPr>
            <a:endParaRPr lang="en-US" altLang="en-US" sz="2000" b="1" dirty="0">
              <a:solidFill>
                <a:srgbClr val="006699"/>
              </a:solidFill>
              <a:latin typeface="+mj-lt"/>
            </a:endParaRPr>
          </a:p>
          <a:p>
            <a:pPr>
              <a:tabLst>
                <a:tab pos="2001838" algn="ctr"/>
                <a:tab pos="4513263" algn="ctr"/>
              </a:tabLst>
            </a:pPr>
            <a:r>
              <a:rPr lang="en-US" altLang="en-US" sz="2000" b="1" dirty="0">
                <a:solidFill>
                  <a:srgbClr val="006699"/>
                </a:solidFill>
                <a:latin typeface="+mj-lt"/>
              </a:rPr>
              <a:t>Binary semaphore </a:t>
            </a:r>
            <a:r>
              <a:rPr lang="en-US" altLang="en-US" sz="2000" dirty="0"/>
              <a:t>– integer value can range only between 0 and 1</a:t>
            </a:r>
          </a:p>
          <a:p>
            <a:pPr lvl="1">
              <a:tabLst>
                <a:tab pos="2001838" algn="ctr"/>
                <a:tab pos="4513263" algn="ctr"/>
              </a:tabLst>
            </a:pPr>
            <a:r>
              <a:rPr lang="en-US" altLang="en-US" sz="2000" dirty="0">
                <a:sym typeface="MT Extra" panose="05050102010205020202" pitchFamily="18" charset="2"/>
              </a:rPr>
              <a:t>Same as a </a:t>
            </a:r>
            <a:r>
              <a:rPr lang="en-US" altLang="en-US" sz="2000" b="1" dirty="0">
                <a:solidFill>
                  <a:srgbClr val="006699"/>
                </a:solidFill>
                <a:latin typeface="+mj-lt"/>
                <a:sym typeface="MT Extra" panose="05050102010205020202" pitchFamily="18" charset="2"/>
              </a:rPr>
              <a:t>mutex lock</a:t>
            </a:r>
          </a:p>
          <a:p>
            <a:pPr>
              <a:tabLst>
                <a:tab pos="2001838" algn="ctr"/>
                <a:tab pos="4513263" algn="ctr"/>
              </a:tabLst>
            </a:pPr>
            <a:endParaRPr lang="en-US" altLang="en-US" sz="2000" dirty="0"/>
          </a:p>
          <a:p>
            <a:pPr>
              <a:tabLst>
                <a:tab pos="2001838" algn="ctr"/>
                <a:tab pos="4513263" algn="ctr"/>
              </a:tabLst>
            </a:pPr>
            <a:r>
              <a:rPr lang="en-US" altLang="en-US" sz="2000" dirty="0"/>
              <a:t>Can implement a counting semaphore </a:t>
            </a:r>
            <a:r>
              <a:rPr lang="en-US" altLang="en-US" sz="2000" b="1" i="1" dirty="0">
                <a:solidFill>
                  <a:srgbClr val="000000"/>
                </a:solidFill>
              </a:rPr>
              <a:t>S</a:t>
            </a:r>
            <a:r>
              <a:rPr lang="en-US" altLang="en-US" sz="2000" dirty="0"/>
              <a:t> as a binary semaphore</a:t>
            </a:r>
            <a:endParaRPr lang="en-US" altLang="en-US" sz="2000" b="1" dirty="0">
              <a:solidFill>
                <a:srgbClr val="3366FF"/>
              </a:solidFill>
            </a:endParaRPr>
          </a:p>
          <a:p>
            <a:pPr>
              <a:tabLst>
                <a:tab pos="2001838" algn="ctr"/>
                <a:tab pos="4513263" algn="ctr"/>
              </a:tabLst>
            </a:pPr>
            <a:endParaRPr lang="en-US" altLang="en-US" sz="2000" dirty="0">
              <a:sym typeface="MT Extra" panose="05050102010205020202" pitchFamily="18" charset="2"/>
            </a:endParaRPr>
          </a:p>
          <a:p>
            <a:pPr>
              <a:tabLst>
                <a:tab pos="2001838" algn="ctr"/>
                <a:tab pos="4513263" algn="ctr"/>
              </a:tabLst>
            </a:pPr>
            <a:r>
              <a:rPr lang="en-US" altLang="en-US" sz="2000"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20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2085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1519083" y="975802"/>
            <a:ext cx="9925665" cy="5512819"/>
          </a:xfrm>
        </p:spPr>
        <p:txBody>
          <a:bodyPr/>
          <a:lstStyle/>
          <a:p>
            <a:pPr>
              <a:tabLst>
                <a:tab pos="2001838" algn="ctr"/>
                <a:tab pos="4513263" algn="ctr"/>
              </a:tabLst>
            </a:pPr>
            <a:r>
              <a:rPr lang="en-US" altLang="en-US" sz="2000" dirty="0">
                <a:sym typeface="MT Extra" panose="05050102010205020202" pitchFamily="18" charset="2"/>
              </a:rPr>
              <a:t>Solution to the CS Problem</a:t>
            </a:r>
          </a:p>
          <a:p>
            <a:pPr lvl="1">
              <a:tabLst>
                <a:tab pos="2001838" algn="ctr"/>
                <a:tab pos="4513263" algn="ctr"/>
              </a:tabLst>
            </a:pPr>
            <a:r>
              <a:rPr lang="en-US" altLang="en-US" sz="2000" dirty="0">
                <a:sym typeface="MT Extra" panose="05050102010205020202" pitchFamily="18" charset="2"/>
              </a:rPr>
              <a:t>Create a semaphore “</a:t>
            </a:r>
            <a:r>
              <a:rPr lang="en-US" altLang="en-US" sz="2000" b="1" dirty="0">
                <a:solidFill>
                  <a:srgbClr val="000000"/>
                </a:solidFill>
                <a:latin typeface="Courier New" panose="02070309020205020404" pitchFamily="49" charset="0"/>
                <a:sym typeface="MT Extra" panose="05050102010205020202" pitchFamily="18" charset="2"/>
              </a:rPr>
              <a:t>mutex</a:t>
            </a:r>
            <a:r>
              <a:rPr lang="en-US" altLang="en-US" sz="2000" dirty="0">
                <a:sym typeface="MT Extra" panose="05050102010205020202" pitchFamily="18" charset="2"/>
              </a:rPr>
              <a:t>”</a:t>
            </a:r>
            <a:r>
              <a:rPr lang="en-US" altLang="ja-JP" sz="2000" dirty="0">
                <a:sym typeface="MT Extra" panose="05050102010205020202" pitchFamily="18" charset="2"/>
              </a:rPr>
              <a:t> initialized to 1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signal(mutex)</a:t>
            </a:r>
            <a:r>
              <a:rPr lang="en-US" altLang="en-US" sz="2000" b="1" dirty="0">
                <a:solidFill>
                  <a:srgbClr val="0000FF"/>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r>
              <a:rPr lang="en-US" altLang="en-US" sz="2000" dirty="0">
                <a:sym typeface="MT Extra" panose="05050102010205020202" pitchFamily="18" charset="2"/>
              </a:rPr>
              <a:t>Consider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 and </a:t>
            </a:r>
            <a:r>
              <a:rPr lang="en-US" altLang="en-US" sz="2000" b="1" i="1" dirty="0">
                <a:sym typeface="MT Extra" panose="05050102010205020202" pitchFamily="18" charset="2"/>
              </a:rPr>
              <a:t>P</a:t>
            </a:r>
            <a:r>
              <a:rPr lang="en-US" altLang="en-US" sz="2000" b="1" i="1" baseline="-25000" dirty="0">
                <a:sym typeface="MT Extra" panose="05050102010205020202" pitchFamily="18" charset="2"/>
              </a:rPr>
              <a:t>2</a:t>
            </a:r>
            <a:r>
              <a:rPr lang="en-US" altLang="en-US" sz="2000" dirty="0">
                <a:sym typeface="MT Extra" panose="05050102010205020202" pitchFamily="18" charset="2"/>
              </a:rPr>
              <a:t> that with two statements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and</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2    </a:t>
            </a:r>
            <a:r>
              <a:rPr lang="en-US" altLang="en-US" sz="2000" dirty="0">
                <a:sym typeface="MT Extra" panose="05050102010205020202" pitchFamily="18" charset="2"/>
              </a:rPr>
              <a:t>and the requirement </a:t>
            </a:r>
            <a:r>
              <a:rPr lang="en-US" altLang="en-US" sz="2000" b="1" i="1" dirty="0">
                <a:sym typeface="MT Extra" panose="05050102010205020202" pitchFamily="18" charset="2"/>
              </a:rPr>
              <a:t> </a:t>
            </a:r>
            <a:r>
              <a:rPr lang="en-US" altLang="en-US" sz="2000" dirty="0">
                <a:sym typeface="MT Extra" panose="05050102010205020202" pitchFamily="18" charset="2"/>
              </a:rPr>
              <a:t>that</a:t>
            </a:r>
            <a:r>
              <a:rPr lang="en-US" altLang="en-US" sz="2000" b="1" i="1" dirty="0">
                <a:sym typeface="MT Extra" panose="05050102010205020202" pitchFamily="18" charset="2"/>
              </a:rPr>
              <a:t> S</a:t>
            </a:r>
            <a:r>
              <a:rPr lang="en-US" altLang="en-US" sz="2000" b="1" i="1" baseline="-25000" dirty="0">
                <a:sym typeface="MT Extra" panose="05050102010205020202" pitchFamily="18" charset="2"/>
              </a:rPr>
              <a:t>1</a:t>
            </a:r>
            <a:r>
              <a:rPr lang="en-US" altLang="en-US" sz="2000" b="1" i="1" dirty="0">
                <a:sym typeface="MT Extra" panose="05050102010205020202" pitchFamily="18" charset="2"/>
              </a:rPr>
              <a:t> </a:t>
            </a:r>
            <a:r>
              <a:rPr lang="en-US" altLang="en-US" sz="2000" dirty="0">
                <a:sym typeface="MT Extra" panose="05050102010205020202" pitchFamily="18" charset="2"/>
              </a:rPr>
              <a:t>to happen before </a:t>
            </a:r>
            <a:r>
              <a:rPr lang="en-US" altLang="en-US" sz="2000" b="1" i="1" dirty="0">
                <a:sym typeface="MT Extra" panose="05050102010205020202" pitchFamily="18" charset="2"/>
              </a:rPr>
              <a:t>S</a:t>
            </a:r>
            <a:r>
              <a:rPr lang="en-US" altLang="en-US" sz="2000" b="1" i="1" baseline="-25000" dirty="0">
                <a:sym typeface="MT Extra" panose="05050102010205020202" pitchFamily="18" charset="2"/>
              </a:rPr>
              <a:t>2</a:t>
            </a:r>
          </a:p>
          <a:p>
            <a:pPr lvl="1">
              <a:tabLst>
                <a:tab pos="2001838" algn="ctr"/>
                <a:tab pos="4513263" algn="ctr"/>
              </a:tabLst>
            </a:pPr>
            <a:r>
              <a:rPr lang="en-US" altLang="en-US" sz="2000" dirty="0">
                <a:sym typeface="MT Extra" panose="05050102010205020202" pitchFamily="18" charset="2"/>
              </a:rPr>
              <a:t>Create a semaphore “</a:t>
            </a:r>
            <a:r>
              <a:rPr lang="en-US" altLang="ja-JP" sz="2000" b="1" dirty="0">
                <a:solidFill>
                  <a:srgbClr val="000000"/>
                </a:solidFill>
                <a:latin typeface="Courier New" panose="02070309020205020404" pitchFamily="49" charset="0"/>
                <a:sym typeface="MT Extra" panose="05050102010205020202" pitchFamily="18" charset="2"/>
              </a:rPr>
              <a:t>synch</a:t>
            </a:r>
            <a:r>
              <a:rPr lang="en-US" altLang="en-US" sz="2000" dirty="0">
                <a:sym typeface="MT Extra" panose="05050102010205020202" pitchFamily="18" charset="2"/>
              </a:rPr>
              <a:t>”</a:t>
            </a:r>
            <a:r>
              <a:rPr lang="en-US" altLang="ja-JP" sz="2000" dirty="0">
                <a:sym typeface="MT Extra" panose="05050102010205020202" pitchFamily="18" charset="2"/>
              </a:rPr>
              <a:t> initialized to 0 </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1</a:t>
            </a:r>
            <a:r>
              <a:rPr lang="en-US" altLang="en-US" sz="2000"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wait(synch)</a:t>
            </a:r>
            <a:r>
              <a:rPr lang="en-US" altLang="en-US" sz="2000" dirty="0">
                <a:solidFill>
                  <a:srgbClr val="0000FF"/>
                </a:solidFill>
                <a:sym typeface="MT Extra" panose="05050102010205020202" pitchFamily="18" charset="2"/>
              </a:rPr>
              <a:t>;</a:t>
            </a:r>
            <a:endParaRPr lang="en-US" altLang="en-US" sz="2000"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sz="2000" b="1" dirty="0">
                <a:solidFill>
                  <a:srgbClr val="000000"/>
                </a:solidFill>
                <a:latin typeface="Courier New" panose="02070309020205020404" pitchFamily="49" charset="0"/>
                <a:sym typeface="MT Extra" panose="05050102010205020202" pitchFamily="18" charset="2"/>
              </a:rPr>
              <a:t>   S</a:t>
            </a:r>
            <a:r>
              <a:rPr lang="en-US" altLang="en-US" sz="2000" b="1" baseline="-25000" dirty="0">
                <a:solidFill>
                  <a:srgbClr val="000000"/>
                </a:solidFill>
                <a:latin typeface="Courier New" panose="02070309020205020404" pitchFamily="49" charset="0"/>
                <a:sym typeface="MT Extra" panose="05050102010205020202" pitchFamily="18" charset="2"/>
              </a:rPr>
              <a:t>2</a:t>
            </a:r>
            <a:r>
              <a:rPr lang="en-US" altLang="en-US" sz="2000" b="1" dirty="0">
                <a:solidFill>
                  <a:srgbClr val="000000"/>
                </a:solidFill>
                <a:latin typeface="Courier New" panose="02070309020205020404" pitchFamily="49" charset="0"/>
                <a:sym typeface="MT Extra" panose="05050102010205020202" pitchFamily="18" charset="2"/>
              </a:rPr>
              <a:t>;</a:t>
            </a:r>
            <a:endParaRPr lang="en-US" altLang="en-US" sz="2000" dirty="0">
              <a:sym typeface="MT Extra" panose="05050102010205020202" pitchFamily="18" charset="2"/>
            </a:endParaRPr>
          </a:p>
          <a:p>
            <a:pPr>
              <a:tabLst>
                <a:tab pos="2001838" algn="ctr"/>
                <a:tab pos="4513263" algn="ctr"/>
              </a:tabLst>
            </a:pPr>
            <a:endParaRPr lang="en-US" altLang="en-US" sz="20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1981200" y="227825"/>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1460090" y="1157288"/>
            <a:ext cx="9453716" cy="4845305"/>
          </a:xfrm>
        </p:spPr>
        <p:txBody>
          <a:bodyPr/>
          <a:lstStyle/>
          <a:p>
            <a:r>
              <a:rPr lang="en-US" altLang="en-US" sz="2000" dirty="0"/>
              <a:t>Must guarantee that no two processes can execute  the </a:t>
            </a:r>
            <a:r>
              <a:rPr lang="en-US" altLang="en-US" sz="2000" b="1" dirty="0">
                <a:latin typeface="Courier New" panose="02070309020205020404" pitchFamily="49" charset="0"/>
              </a:rPr>
              <a:t>wait() </a:t>
            </a:r>
            <a:r>
              <a:rPr lang="en-US" altLang="en-US" sz="2000" dirty="0"/>
              <a:t>and </a:t>
            </a:r>
            <a:r>
              <a:rPr lang="en-US" altLang="en-US" sz="2000" b="1" dirty="0">
                <a:latin typeface="Courier New" panose="02070309020205020404" pitchFamily="49" charset="0"/>
              </a:rPr>
              <a:t>signal() </a:t>
            </a:r>
            <a:r>
              <a:rPr lang="en-US" altLang="en-US" sz="2000" dirty="0"/>
              <a:t>on the same semaphore at the same time</a:t>
            </a:r>
          </a:p>
          <a:p>
            <a:endParaRPr lang="en-US" altLang="en-US" sz="2000" dirty="0"/>
          </a:p>
          <a:p>
            <a:r>
              <a:rPr lang="en-US" altLang="en-US" sz="2000" dirty="0"/>
              <a:t>Thus, the implementation becomes the critical section problem where the </a:t>
            </a:r>
            <a:r>
              <a:rPr lang="en-US" altLang="en-US" sz="2000" b="1" dirty="0">
                <a:latin typeface="Courier New" panose="02070309020205020404" pitchFamily="49" charset="0"/>
              </a:rPr>
              <a:t>wait</a:t>
            </a:r>
            <a:r>
              <a:rPr lang="en-US" altLang="en-US" sz="2000" dirty="0"/>
              <a:t> and </a:t>
            </a:r>
            <a:r>
              <a:rPr lang="en-US" altLang="en-US" sz="2000" b="1" dirty="0">
                <a:latin typeface="Courier New" panose="02070309020205020404" pitchFamily="49" charset="0"/>
              </a:rPr>
              <a:t>signal</a:t>
            </a:r>
            <a:r>
              <a:rPr lang="en-US" altLang="en-US" sz="2000" dirty="0"/>
              <a:t> code are placed in the critical section</a:t>
            </a:r>
          </a:p>
          <a:p>
            <a:endParaRPr lang="en-US" altLang="en-US" sz="2000" dirty="0"/>
          </a:p>
          <a:p>
            <a:r>
              <a:rPr lang="en-US" altLang="en-US" sz="2000" dirty="0"/>
              <a:t>Could now have </a:t>
            </a:r>
            <a:r>
              <a:rPr lang="en-US" altLang="en-US" sz="2000" b="1" dirty="0">
                <a:solidFill>
                  <a:srgbClr val="006699"/>
                </a:solidFill>
                <a:latin typeface="+mj-lt"/>
              </a:rPr>
              <a:t>busy waiting </a:t>
            </a:r>
            <a:r>
              <a:rPr lang="en-US" altLang="en-US" sz="2000" dirty="0"/>
              <a:t>in critical section implementation</a:t>
            </a:r>
          </a:p>
          <a:p>
            <a:pPr lvl="1"/>
            <a:r>
              <a:rPr lang="en-US" altLang="en-US" sz="2000" dirty="0"/>
              <a:t>But implementation code is short</a:t>
            </a:r>
          </a:p>
          <a:p>
            <a:pPr lvl="1"/>
            <a:r>
              <a:rPr lang="en-US" altLang="en-US" sz="2000" dirty="0"/>
              <a:t>Little busy waiting if critical section rarely occupied</a:t>
            </a:r>
          </a:p>
          <a:p>
            <a:endParaRPr lang="en-US" altLang="en-US" sz="2000" dirty="0"/>
          </a:p>
          <a:p>
            <a:r>
              <a:rPr lang="en-US" altLang="en-US" sz="2000" dirty="0"/>
              <a:t>Note that applications may spend lots of time in critical sections and therefore this is not a good solution</a:t>
            </a:r>
          </a:p>
          <a:p>
            <a:pPr>
              <a:buFont typeface="Monotype Sorts" pitchFamily="-84" charset="2"/>
              <a:buNone/>
            </a:pPr>
            <a:r>
              <a:rPr lang="en-US" altLang="en-US" sz="2000" dirty="0"/>
              <a:t> </a:t>
            </a:r>
          </a:p>
          <a:p>
            <a:pPr lvl="1">
              <a:buFont typeface="Monotype Sorts" pitchFamily="-84" charset="2"/>
              <a:buNone/>
            </a:pPr>
            <a:endParaRPr lang="en-US"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2325799"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1548581" y="1078706"/>
            <a:ext cx="9556417" cy="4740203"/>
          </a:xfrm>
        </p:spPr>
        <p:txBody>
          <a:bodyPr/>
          <a:lstStyle/>
          <a:p>
            <a:r>
              <a:rPr lang="en-US" altLang="en-US" sz="2000" dirty="0"/>
              <a:t>With each semaphore there is an associated waiting queue</a:t>
            </a:r>
          </a:p>
          <a:p>
            <a:endParaRPr lang="en-US" altLang="en-US" sz="2000" dirty="0"/>
          </a:p>
          <a:p>
            <a:r>
              <a:rPr lang="en-US" altLang="en-US" sz="2000" dirty="0"/>
              <a:t>Each entry in a waiting queue has two data items:</a:t>
            </a:r>
          </a:p>
          <a:p>
            <a:pPr lvl="1"/>
            <a:r>
              <a:rPr lang="en-US" altLang="en-US" sz="2000" dirty="0"/>
              <a:t> Value (of type integer)</a:t>
            </a:r>
          </a:p>
          <a:p>
            <a:pPr lvl="1"/>
            <a:r>
              <a:rPr lang="en-US" altLang="en-US" sz="2000" dirty="0"/>
              <a:t> Pointer to next record in the list</a:t>
            </a:r>
          </a:p>
          <a:p>
            <a:endParaRPr lang="en-US" altLang="en-US" sz="2000" dirty="0"/>
          </a:p>
          <a:p>
            <a:r>
              <a:rPr lang="en-US" altLang="en-US" sz="2000" dirty="0"/>
              <a:t>Two operations:</a:t>
            </a:r>
          </a:p>
          <a:p>
            <a:pPr lvl="1"/>
            <a:r>
              <a:rPr lang="en-US" altLang="en-US" sz="2000" b="1" dirty="0">
                <a:solidFill>
                  <a:srgbClr val="006699"/>
                </a:solidFill>
                <a:latin typeface="+mj-lt"/>
              </a:rPr>
              <a:t>block </a:t>
            </a:r>
            <a:r>
              <a:rPr lang="en-US" altLang="en-US" sz="2000" dirty="0"/>
              <a:t>– place the process invoking the operation on the appropriate waiting queue</a:t>
            </a:r>
          </a:p>
          <a:p>
            <a:pPr lvl="1"/>
            <a:r>
              <a:rPr lang="en-US" altLang="en-US" sz="2000" b="1" dirty="0">
                <a:solidFill>
                  <a:srgbClr val="006699"/>
                </a:solidFill>
                <a:latin typeface="+mj-lt"/>
              </a:rPr>
              <a:t>wakeup</a:t>
            </a:r>
            <a:r>
              <a:rPr lang="en-US" altLang="en-US" sz="2000" dirty="0">
                <a:solidFill>
                  <a:srgbClr val="3366FF"/>
                </a:solidFill>
              </a:rPr>
              <a:t> </a:t>
            </a:r>
            <a:r>
              <a:rPr lang="en-US" altLang="en-US" sz="2000" dirty="0"/>
              <a:t>– remove one of processes in the waiting queue and place it in the ready queue</a:t>
            </a:r>
          </a:p>
          <a:p>
            <a:pPr marL="0" indent="0">
              <a:buNone/>
            </a:pPr>
            <a:endParaRPr lang="en-US" altLang="en-US" sz="2000" dirty="0"/>
          </a:p>
          <a:p>
            <a:pPr lvl="1"/>
            <a:endParaRPr lang="en-US" altLang="en-US" sz="2000" dirty="0"/>
          </a:p>
          <a:p>
            <a:pPr>
              <a:buFont typeface="Monotype Sorts" pitchFamily="-84" charset="2"/>
              <a:buNone/>
            </a:pPr>
            <a:r>
              <a:rPr lang="en-US" altLang="en-US" sz="2000" dirty="0">
                <a:solidFill>
                  <a:srgbClr val="0000FF"/>
                </a:solidFill>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2325799"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2385980" y="1078706"/>
            <a:ext cx="7582224" cy="4700588"/>
          </a:xfrm>
        </p:spPr>
        <p:txBody>
          <a:bodyPr/>
          <a:lstStyle/>
          <a:p>
            <a:endParaRPr lang="en-US" altLang="en-US" sz="2400" dirty="0"/>
          </a:p>
          <a:p>
            <a:r>
              <a:rPr lang="en-US" altLang="en-US" sz="2400" dirty="0"/>
              <a:t>Waiting queue</a:t>
            </a:r>
          </a:p>
          <a:p>
            <a:pPr marL="0" indent="0">
              <a:buNone/>
            </a:pPr>
            <a:r>
              <a:rPr lang="en-US" altLang="en-US" sz="2400" b="1" dirty="0">
                <a:latin typeface="Courier New" panose="02070309020205020404" pitchFamily="49" charset="0"/>
              </a:rPr>
              <a:t>    typedef struct </a:t>
            </a:r>
          </a:p>
          <a:p>
            <a:pPr marL="0" indent="0">
              <a:buNone/>
            </a:pPr>
            <a:r>
              <a:rPr lang="en-US" altLang="en-US" sz="2400" b="1" dirty="0">
                <a:latin typeface="Courier New" panose="02070309020205020404" pitchFamily="49" charset="0"/>
              </a:rPr>
              <a:t>    { </a:t>
            </a:r>
          </a:p>
          <a:p>
            <a:pPr>
              <a:buFont typeface="Monotype Sorts" pitchFamily="-84" charset="2"/>
              <a:buNone/>
            </a:pPr>
            <a:r>
              <a:rPr lang="en-US" altLang="en-US" sz="2400" b="1" dirty="0">
                <a:latin typeface="Courier New" panose="02070309020205020404" pitchFamily="49" charset="0"/>
              </a:rPr>
              <a:t>   	 int value; </a:t>
            </a:r>
          </a:p>
          <a:p>
            <a:pPr>
              <a:buFont typeface="Monotype Sorts" pitchFamily="-84" charset="2"/>
              <a:buNone/>
            </a:pPr>
            <a:r>
              <a:rPr lang="en-US" altLang="en-US" sz="2400" b="1" dirty="0">
                <a:latin typeface="Courier New" panose="02070309020205020404" pitchFamily="49" charset="0"/>
              </a:rPr>
              <a:t>   	 struct process *list; </a:t>
            </a:r>
          </a:p>
          <a:p>
            <a:pPr>
              <a:buFont typeface="Monotype Sorts" pitchFamily="-84" charset="2"/>
              <a:buNone/>
            </a:pPr>
            <a:r>
              <a:rPr lang="en-US" altLang="en-US" sz="2400" b="1" dirty="0">
                <a:latin typeface="Courier New" panose="02070309020205020404" pitchFamily="49" charset="0"/>
              </a:rPr>
              <a:t>    } semaphore; </a:t>
            </a:r>
          </a:p>
          <a:p>
            <a:endParaRPr lang="en-US" altLang="en-US" sz="2400" dirty="0"/>
          </a:p>
          <a:p>
            <a:pPr lvl="1"/>
            <a:endParaRPr lang="en-US" altLang="en-US" sz="2400" dirty="0"/>
          </a:p>
          <a:p>
            <a:pPr>
              <a:buFont typeface="Monotype Sorts" pitchFamily="-84" charset="2"/>
              <a:buNone/>
            </a:pPr>
            <a:r>
              <a:rPr lang="en-US" altLang="en-US" sz="2400"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2694528" y="104811"/>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2300748" y="1108173"/>
            <a:ext cx="8524568" cy="5381114"/>
          </a:xfrm>
        </p:spPr>
        <p:txBody>
          <a:bodyPr/>
          <a:lstStyle/>
          <a:p>
            <a:pPr marL="0" indent="0">
              <a:buNone/>
            </a:pPr>
            <a:r>
              <a:rPr lang="en-US" altLang="en-US" b="1" dirty="0">
                <a:latin typeface="Courier New" panose="02070309020205020404" pitchFamily="49" charset="0"/>
              </a:rPr>
              <a:t>wait(semaphore *S) { </a:t>
            </a:r>
          </a:p>
          <a:p>
            <a:pPr marL="0" indent="0">
              <a:buNone/>
            </a:pPr>
            <a:r>
              <a:rPr lang="en-US" altLang="en-US" b="1" dirty="0">
                <a:latin typeface="Courier New" panose="02070309020205020404" pitchFamily="49" charset="0"/>
              </a:rPr>
              <a:t>   S-&gt;value--; </a:t>
            </a:r>
          </a:p>
          <a:p>
            <a:pPr marL="0" indent="0">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add this process to S-&gt;list; </a:t>
            </a:r>
          </a:p>
          <a:p>
            <a:pPr marL="0" indent="0">
              <a:buNone/>
            </a:pPr>
            <a:r>
              <a:rPr lang="en-US" altLang="en-US" b="1" dirty="0">
                <a:latin typeface="Courier New" panose="02070309020205020404" pitchFamily="49" charset="0"/>
              </a:rPr>
              <a:t>      block(); </a:t>
            </a:r>
          </a:p>
          <a:p>
            <a:pPr marL="0" indent="0">
              <a:buNone/>
            </a:pPr>
            <a:r>
              <a:rPr lang="en-US" altLang="en-US" b="1" dirty="0">
                <a:latin typeface="Courier New" panose="02070309020205020404" pitchFamily="49" charset="0"/>
              </a:rPr>
              <a:t>   } </a:t>
            </a:r>
          </a:p>
          <a:p>
            <a:pPr marL="0" indent="0">
              <a:buNone/>
            </a:pPr>
            <a:r>
              <a:rPr lang="en-US" altLang="en-US" b="1" dirty="0">
                <a:latin typeface="Courier New" panose="02070309020205020404" pitchFamily="49" charset="0"/>
              </a:rPr>
              <a:t>}</a:t>
            </a:r>
          </a:p>
          <a:p>
            <a:pPr marL="0" indent="0">
              <a:buNone/>
            </a:pPr>
            <a:endParaRPr lang="en-US" altLang="en-US" b="1" dirty="0">
              <a:latin typeface="Courier New" panose="02070309020205020404" pitchFamily="49" charset="0"/>
            </a:endParaRPr>
          </a:p>
          <a:p>
            <a:pPr marL="0" indent="0">
              <a:buNone/>
            </a:pPr>
            <a:r>
              <a:rPr lang="en-US" altLang="en-US" b="1" dirty="0">
                <a:latin typeface="Courier New" panose="02070309020205020404" pitchFamily="49" charset="0"/>
              </a:rPr>
              <a:t>signal(semaphore *S) { </a:t>
            </a:r>
          </a:p>
          <a:p>
            <a:pPr marL="0" indent="0">
              <a:buNone/>
            </a:pPr>
            <a:r>
              <a:rPr lang="en-US" altLang="en-US" b="1" dirty="0">
                <a:latin typeface="Courier New" panose="02070309020205020404" pitchFamily="49" charset="0"/>
              </a:rPr>
              <a:t>   S-&gt;value++; </a:t>
            </a:r>
          </a:p>
          <a:p>
            <a:pPr marL="0" indent="0">
              <a:buNone/>
            </a:pPr>
            <a:r>
              <a:rPr lang="en-US" altLang="en-US" b="1" dirty="0">
                <a:latin typeface="Courier New" panose="02070309020205020404" pitchFamily="49" charset="0"/>
              </a:rPr>
              <a:t>   if (S-&gt;value &lt;= 0) {</a:t>
            </a:r>
            <a:br>
              <a:rPr lang="en-US" altLang="en-US" b="1" dirty="0">
                <a:latin typeface="Courier New" panose="02070309020205020404" pitchFamily="49" charset="0"/>
              </a:rPr>
            </a:br>
            <a:r>
              <a:rPr lang="en-US" altLang="en-US" b="1" dirty="0">
                <a:latin typeface="Courier New" panose="02070309020205020404" pitchFamily="49" charset="0"/>
              </a:rPr>
              <a:t>      remove a process P from S-&gt;list; </a:t>
            </a:r>
          </a:p>
          <a:p>
            <a:pPr marL="0" indent="0">
              <a:buNone/>
            </a:pPr>
            <a:r>
              <a:rPr lang="en-US" altLang="en-US" b="1" dirty="0">
                <a:latin typeface="Courier New" panose="02070309020205020404" pitchFamily="49" charset="0"/>
              </a:rPr>
              <a:t>      wakeup(P); </a:t>
            </a:r>
          </a:p>
          <a:p>
            <a:pPr marL="0" indent="0">
              <a:buNone/>
            </a:pPr>
            <a:r>
              <a:rPr lang="en-US" altLang="en-US" b="1" dirty="0">
                <a:latin typeface="Courier New" panose="02070309020205020404" pitchFamily="49" charset="0"/>
              </a:rPr>
              <a:t>   } </a:t>
            </a:r>
          </a:p>
          <a:p>
            <a:pPr marL="0" indent="0">
              <a:buNone/>
            </a:pPr>
            <a:r>
              <a:rPr lang="en-US" altLang="en-US" b="1" dirty="0">
                <a:latin typeface="Courier New" panose="02070309020205020404" pitchFamily="49"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2447926" y="175870"/>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1755057" y="1194619"/>
            <a:ext cx="9483213" cy="5161936"/>
          </a:xfrm>
        </p:spPr>
        <p:txBody>
          <a:bodyPr/>
          <a:lstStyle/>
          <a:p>
            <a:r>
              <a:rPr lang="en-US" altLang="en-US" sz="2000" dirty="0"/>
              <a:t> Incorrect use of semaphore operations:</a:t>
            </a:r>
            <a:br>
              <a:rPr lang="en-US" altLang="en-US" sz="2000" dirty="0"/>
            </a:br>
            <a:endParaRPr lang="en-US" altLang="en-US" sz="2000" dirty="0"/>
          </a:p>
          <a:p>
            <a:pPr lvl="1"/>
            <a:r>
              <a:rPr lang="en-US" altLang="en-US" sz="2000" dirty="0"/>
              <a:t> </a:t>
            </a:r>
            <a:r>
              <a:rPr lang="en-US" altLang="en-US" sz="2000" b="1" dirty="0">
                <a:latin typeface="Courier New" panose="02070309020205020404" pitchFamily="49" charset="0"/>
                <a:cs typeface="Courier New" panose="02070309020205020404" pitchFamily="49" charset="0"/>
              </a:rPr>
              <a:t>signal(mutex)  ….  wait(mutex)</a:t>
            </a:r>
            <a:br>
              <a:rPr lang="en-US" altLang="en-US" sz="2000" b="1" dirty="0">
                <a:latin typeface="Courier New" panose="02070309020205020404" pitchFamily="49" charset="0"/>
                <a:cs typeface="Courier New" panose="02070309020205020404" pitchFamily="49" charset="0"/>
              </a:rPr>
            </a:br>
            <a:endParaRPr lang="en-US" altLang="en-US" sz="2000" b="1" dirty="0">
              <a:latin typeface="Courier New" panose="02070309020205020404" pitchFamily="49" charset="0"/>
              <a:cs typeface="Courier New" panose="02070309020205020404" pitchFamily="49" charset="0"/>
            </a:endParaRPr>
          </a:p>
          <a:p>
            <a:pPr lvl="1"/>
            <a:r>
              <a:rPr lang="en-US" altLang="en-US" sz="2000" dirty="0"/>
              <a:t> </a:t>
            </a:r>
            <a:r>
              <a:rPr lang="en-US" altLang="en-US" sz="2000" b="1" dirty="0">
                <a:latin typeface="Courier New" panose="02070309020205020404" pitchFamily="49" charset="0"/>
                <a:cs typeface="Courier New" panose="02070309020205020404" pitchFamily="49" charset="0"/>
              </a:rPr>
              <a:t>wait(mutex)  …  wait(mutex)</a:t>
            </a:r>
          </a:p>
          <a:p>
            <a:pPr lvl="1"/>
            <a:endParaRPr lang="en-US" altLang="en-US" sz="2000" b="1" dirty="0">
              <a:latin typeface="Courier New" panose="02070309020205020404" pitchFamily="49" charset="0"/>
              <a:cs typeface="Courier New" panose="02070309020205020404" pitchFamily="49" charset="0"/>
            </a:endParaRPr>
          </a:p>
          <a:p>
            <a:pPr lvl="1"/>
            <a:r>
              <a:rPr lang="en-US" altLang="en-US" sz="2000" dirty="0"/>
              <a:t> Omitting  of </a:t>
            </a:r>
            <a:r>
              <a:rPr lang="en-US" altLang="en-US" sz="2000" b="1" dirty="0">
                <a:latin typeface="Courier New" panose="02070309020205020404" pitchFamily="49" charset="0"/>
                <a:cs typeface="Courier New" panose="02070309020205020404" pitchFamily="49" charset="0"/>
              </a:rPr>
              <a:t>wait (mutex) </a:t>
            </a:r>
            <a:r>
              <a:rPr lang="en-US" altLang="en-US" sz="2000" dirty="0"/>
              <a:t>and/or </a:t>
            </a:r>
            <a:r>
              <a:rPr lang="en-US" altLang="en-US" sz="2000" b="1" dirty="0">
                <a:latin typeface="Courier New" panose="02070309020205020404" pitchFamily="49" charset="0"/>
                <a:cs typeface="Courier New" panose="02070309020205020404" pitchFamily="49" charset="0"/>
              </a:rPr>
              <a:t>signal (mutex)</a:t>
            </a:r>
            <a:endParaRPr lang="en-US" altLang="en-US" sz="2000" dirty="0"/>
          </a:p>
          <a:p>
            <a:pPr lvl="1"/>
            <a:endParaRPr lang="en-US" altLang="en-US" sz="2000" dirty="0"/>
          </a:p>
          <a:p>
            <a:r>
              <a:rPr lang="en-US" altLang="en-US" sz="2000" dirty="0"/>
              <a:t>These – and others – are examples of what can occur when semaphores and other synchronization tools are used incorrectly.</a:t>
            </a:r>
          </a:p>
          <a:p>
            <a:endParaRPr lang="en-US" altLang="en-US" sz="2000" dirty="0"/>
          </a:p>
          <a:p>
            <a:endParaRPr lang="en-US" altLang="en-US" sz="2000" dirty="0"/>
          </a:p>
          <a:p>
            <a:endParaRPr lang="en-US" alt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1981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1445342" y="1017639"/>
            <a:ext cx="10397613" cy="5161936"/>
          </a:xfrm>
        </p:spPr>
        <p:txBody>
          <a:bodyPr/>
          <a:lstStyle/>
          <a:p>
            <a:pPr>
              <a:lnSpc>
                <a:spcPct val="80000"/>
              </a:lnSpc>
            </a:pPr>
            <a:r>
              <a:rPr lang="en-US" altLang="en-US" sz="2000" dirty="0"/>
              <a:t>A high-level abstraction that provides a convenient and effective mechanism for process synchronization</a:t>
            </a:r>
          </a:p>
          <a:p>
            <a:pPr>
              <a:lnSpc>
                <a:spcPct val="80000"/>
              </a:lnSpc>
            </a:pPr>
            <a:r>
              <a:rPr lang="en-US" altLang="en-US" sz="2000" i="1" dirty="0"/>
              <a:t>Abstract data type</a:t>
            </a:r>
            <a:r>
              <a:rPr lang="en-US" altLang="en-US" sz="2000" dirty="0"/>
              <a:t>, internal variables only accessible by code within the procedure</a:t>
            </a:r>
          </a:p>
          <a:p>
            <a:pPr>
              <a:lnSpc>
                <a:spcPct val="80000"/>
              </a:lnSpc>
            </a:pPr>
            <a:r>
              <a:rPr lang="en-US" altLang="en-US" sz="2000" dirty="0"/>
              <a:t>Only one process may be active within the monitor at a time</a:t>
            </a:r>
          </a:p>
          <a:p>
            <a:pPr>
              <a:lnSpc>
                <a:spcPct val="80000"/>
              </a:lnSpc>
            </a:pPr>
            <a:r>
              <a:rPr lang="en-US" altLang="en-US" sz="2000" dirty="0"/>
              <a:t>Pseudocode syntax of a monitor:</a:t>
            </a:r>
          </a:p>
          <a:p>
            <a:pPr lvl="2">
              <a:lnSpc>
                <a:spcPct val="80000"/>
              </a:lnSpc>
              <a:buFont typeface="Webdings" panose="05030102010509060703" pitchFamily="18" charset="2"/>
              <a:buNone/>
            </a:pPr>
            <a:endParaRPr lang="en-US" altLang="en-US" sz="2000" dirty="0">
              <a:solidFill>
                <a:srgbClr val="0000FF"/>
              </a:solidFill>
            </a:endParaRP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20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	procedure P2 (…) { …. }</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	procedure </a:t>
            </a:r>
            <a:r>
              <a:rPr lang="en-US" altLang="en-US" sz="2000" b="1" dirty="0" err="1">
                <a:solidFill>
                  <a:srgbClr val="000000"/>
                </a:solidFill>
                <a:latin typeface="Courier New" panose="02070309020205020404" pitchFamily="49" charset="0"/>
              </a:rPr>
              <a:t>Pn</a:t>
            </a:r>
            <a:r>
              <a:rPr lang="en-US" altLang="en-US" sz="20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20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2000" b="1" dirty="0">
                <a:solidFill>
                  <a:srgbClr val="000000"/>
                </a:solidFill>
                <a:latin typeface="Courier New" panose="02070309020205020404" pitchFamily="49"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2746376"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86481" y="1153344"/>
            <a:ext cx="5442769" cy="517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2521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2401078" y="1133476"/>
            <a:ext cx="7733523" cy="5243513"/>
          </a:xfrm>
        </p:spPr>
        <p:txBody>
          <a:bodyPr/>
          <a:lstStyle/>
          <a:p>
            <a:pPr>
              <a:lnSpc>
                <a:spcPct val="80000"/>
              </a:lnSpc>
              <a:tabLst>
                <a:tab pos="1887538" algn="l"/>
                <a:tab pos="2335213" algn="l"/>
                <a:tab pos="2506663" algn="l"/>
              </a:tabLst>
            </a:pPr>
            <a:r>
              <a:rPr lang="en-US" altLang="en-US" sz="2000" dirty="0"/>
              <a:t>Variables </a:t>
            </a:r>
          </a:p>
          <a:p>
            <a:pPr>
              <a:lnSpc>
                <a:spcPct val="80000"/>
              </a:lnSpc>
              <a:buNone/>
              <a:tabLst>
                <a:tab pos="1887538" algn="l"/>
                <a:tab pos="2335213" algn="l"/>
                <a:tab pos="2506663" algn="l"/>
              </a:tabLst>
            </a:pPr>
            <a:endParaRPr lang="en-US" altLang="en-US" sz="2000" dirty="0"/>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semaphore mutex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mutex = 1</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Each procedure </a:t>
            </a:r>
            <a:r>
              <a:rPr lang="en-US" altLang="en-US" sz="2000" b="1" i="1" dirty="0"/>
              <a:t>P</a:t>
            </a:r>
            <a:r>
              <a:rPr lang="en-US" altLang="en-US" sz="2000" dirty="0"/>
              <a:t>  is replaced by</a:t>
            </a:r>
          </a:p>
          <a:p>
            <a:pPr>
              <a:lnSpc>
                <a:spcPct val="80000"/>
              </a:lnSpc>
              <a:tabLst>
                <a:tab pos="1887538" algn="l"/>
                <a:tab pos="2335213" algn="l"/>
                <a:tab pos="2506663" algn="l"/>
              </a:tabLst>
            </a:pPr>
            <a:endParaRPr lang="en-US" altLang="en-US" sz="2000" dirty="0"/>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wait(mutex);</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body of P;</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signal(mutex);</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2551114" y="217912"/>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2182761" y="1150938"/>
            <a:ext cx="7828015" cy="4394200"/>
          </a:xfrm>
        </p:spPr>
        <p:txBody>
          <a:bodyPr/>
          <a:lstStyle/>
          <a:p>
            <a:r>
              <a:rPr lang="en-US" altLang="en-US" sz="2000" b="1" dirty="0">
                <a:solidFill>
                  <a:srgbClr val="000000"/>
                </a:solidFill>
                <a:latin typeface="Courier New" panose="02070309020205020404" pitchFamily="49" charset="0"/>
              </a:rPr>
              <a:t>condition x, y;</a:t>
            </a:r>
            <a:endParaRPr lang="en-US" altLang="en-US" sz="2000" dirty="0">
              <a:solidFill>
                <a:srgbClr val="0000FF"/>
              </a:solidFill>
            </a:endParaRPr>
          </a:p>
          <a:p>
            <a:r>
              <a:rPr lang="en-US" altLang="en-US" sz="2000"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sz="2000"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sz="2000" dirty="0"/>
              <a:t>–</a:t>
            </a:r>
            <a:r>
              <a:rPr lang="en-US" altLang="en-US" sz="2000" dirty="0">
                <a:solidFill>
                  <a:srgbClr val="0000FF"/>
                </a:solidFill>
              </a:rPr>
              <a:t> </a:t>
            </a:r>
            <a:r>
              <a:rPr lang="en-US" altLang="en-US" sz="2000" dirty="0"/>
              <a:t>resumes one of processes</a:t>
            </a:r>
            <a:r>
              <a:rPr lang="en-US" altLang="en-US" sz="2000" dirty="0">
                <a:solidFill>
                  <a:srgbClr val="0000FF"/>
                </a:solidFill>
              </a:rPr>
              <a:t> </a:t>
            </a:r>
            <a:r>
              <a:rPr lang="en-US" altLang="en-US" sz="2000" dirty="0"/>
              <a:t>(if any)</a:t>
            </a:r>
            <a:r>
              <a:rPr lang="en-US" altLang="en-US" sz="2000" dirty="0">
                <a:solidFill>
                  <a:srgbClr val="0000FF"/>
                </a:solidFill>
              </a:rPr>
              <a:t> </a:t>
            </a:r>
            <a:r>
              <a:rPr lang="en-US" altLang="en-US" sz="2000" dirty="0"/>
              <a:t>that</a:t>
            </a:r>
            <a:r>
              <a:rPr lang="en-US" altLang="en-US" sz="2000" dirty="0">
                <a:solidFill>
                  <a:srgbClr val="0000FF"/>
                </a:solidFill>
              </a:rPr>
              <a:t> </a:t>
            </a:r>
            <a:r>
              <a:rPr lang="en-US" altLang="en-US" sz="2000" dirty="0"/>
              <a:t> invoked</a:t>
            </a:r>
            <a:r>
              <a:rPr lang="en-US" altLang="en-US" sz="2000"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sz="2000"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sz="2000" dirty="0"/>
              <a:t>on the variable, then it has no effect on the variable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2406651"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5128" y="1121750"/>
            <a:ext cx="7330819" cy="506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2521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2168009" y="1002892"/>
            <a:ext cx="9129251" cy="5315105"/>
          </a:xfrm>
        </p:spPr>
        <p:txBody>
          <a:bodyPr/>
          <a:lstStyle/>
          <a:p>
            <a:pPr>
              <a:lnSpc>
                <a:spcPct val="80000"/>
              </a:lnSpc>
              <a:tabLst>
                <a:tab pos="1887538" algn="l"/>
                <a:tab pos="2335213" algn="l"/>
                <a:tab pos="2506663" algn="l"/>
              </a:tabLst>
            </a:pPr>
            <a:r>
              <a:rPr lang="en-US" altLang="en-US" sz="2000" dirty="0"/>
              <a:t>Variables </a:t>
            </a:r>
          </a:p>
          <a:p>
            <a:pPr>
              <a:lnSpc>
                <a:spcPct val="80000"/>
              </a:lnSpc>
              <a:buNone/>
              <a:tabLst>
                <a:tab pos="1887538" algn="l"/>
                <a:tab pos="2335213" algn="l"/>
                <a:tab pos="2506663" algn="l"/>
              </a:tabLst>
            </a:pPr>
            <a:endParaRPr lang="en-US" altLang="en-US" sz="2000" dirty="0"/>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semaphore mutex;  // (initially  = 1)</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semaphore next;   // (initially  = 0)</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int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 0; // number of processes waiting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inside the monitor</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Each function </a:t>
            </a:r>
            <a:r>
              <a:rPr lang="en-US" altLang="en-US" sz="2000" b="1" i="1" dirty="0"/>
              <a:t>P</a:t>
            </a:r>
            <a:r>
              <a:rPr lang="en-US" altLang="en-US" sz="2000" dirty="0"/>
              <a:t>  will be replaced by</a:t>
            </a:r>
          </a:p>
          <a:p>
            <a:pPr>
              <a:lnSpc>
                <a:spcPct val="80000"/>
              </a:lnSpc>
              <a:tabLst>
                <a:tab pos="1887538" algn="l"/>
                <a:tab pos="2335213" algn="l"/>
                <a:tab pos="2506663" algn="l"/>
              </a:tabLst>
            </a:pPr>
            <a:endParaRPr lang="en-US" altLang="en-US" sz="2000" dirty="0"/>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wait(mutex);</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body of P;</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if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&gt; 0)</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signal(next)</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else </a:t>
            </a:r>
          </a:p>
          <a:p>
            <a:pPr>
              <a:lnSpc>
                <a:spcPct val="80000"/>
              </a:lnSpc>
              <a:spcBef>
                <a:spcPct val="15000"/>
              </a:spcBef>
              <a:buNone/>
              <a:tabLst>
                <a:tab pos="1887538" algn="l"/>
                <a:tab pos="2335213" algn="l"/>
                <a:tab pos="2506663" algn="l"/>
              </a:tabLst>
            </a:pPr>
            <a:r>
              <a:rPr lang="en-US" altLang="en-US" sz="2000" b="1" dirty="0">
                <a:solidFill>
                  <a:srgbClr val="000000"/>
                </a:solidFill>
                <a:latin typeface="Courier New" panose="02070309020205020404" pitchFamily="49" charset="0"/>
              </a:rPr>
              <a:t>				signal(mutex);</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sz="2000" dirty="0"/>
              <a:t>Mutual exclusion within a monitor is ensured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2491726" y="173268"/>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442451" y="1249620"/>
            <a:ext cx="7624916" cy="5077439"/>
          </a:xfrm>
        </p:spPr>
        <p:txBody>
          <a:bodyPr/>
          <a:lstStyle/>
          <a:p>
            <a:pPr>
              <a:lnSpc>
                <a:spcPct val="90000"/>
              </a:lnSpc>
              <a:spcBef>
                <a:spcPct val="15000"/>
              </a:spcBef>
              <a:tabLst>
                <a:tab pos="1828800" algn="l"/>
                <a:tab pos="2217738" algn="l"/>
              </a:tabLst>
            </a:pPr>
            <a:r>
              <a:rPr lang="en-US" altLang="en-US" sz="2000" dirty="0"/>
              <a:t>For each condition variable </a:t>
            </a:r>
            <a:r>
              <a:rPr lang="en-US" altLang="en-US" sz="2000" b="1" i="1" dirty="0"/>
              <a:t>x</a:t>
            </a:r>
            <a:r>
              <a:rPr lang="en-US" altLang="en-US" sz="2000" dirty="0"/>
              <a:t>, we  have:</a:t>
            </a:r>
          </a:p>
          <a:p>
            <a:pPr>
              <a:lnSpc>
                <a:spcPct val="90000"/>
              </a:lnSpc>
              <a:spcBef>
                <a:spcPct val="15000"/>
              </a:spcBef>
              <a:buNone/>
              <a:tabLst>
                <a:tab pos="1828800" algn="l"/>
                <a:tab pos="2217738" algn="l"/>
              </a:tabLst>
            </a:pPr>
            <a:endParaRPr lang="en-US" altLang="en-US" sz="2000" dirty="0"/>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semaphore </a:t>
            </a:r>
            <a:r>
              <a:rPr lang="en-US" altLang="en-US" sz="2000" b="1" dirty="0" err="1">
                <a:solidFill>
                  <a:srgbClr val="000000"/>
                </a:solidFill>
                <a:latin typeface="Courier New" panose="02070309020205020404" pitchFamily="49" charset="0"/>
              </a:rPr>
              <a:t>x_sem</a:t>
            </a:r>
            <a:r>
              <a:rPr lang="en-US" altLang="en-US" sz="2000" b="1" dirty="0">
                <a:solidFill>
                  <a:srgbClr val="000000"/>
                </a:solidFill>
                <a:latin typeface="Courier New" panose="02070309020205020404" pitchFamily="49" charset="0"/>
              </a:rPr>
              <a:t>; // (initially  = 0)</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int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 = 0;</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sz="2000" dirty="0"/>
              <a:t>The operation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 </a:t>
            </a:r>
            <a:r>
              <a:rPr lang="en-US" altLang="en-US" sz="2000" dirty="0"/>
              <a:t>can be implemented as:</a:t>
            </a:r>
          </a:p>
          <a:p>
            <a:pPr>
              <a:lnSpc>
                <a:spcPct val="90000"/>
              </a:lnSpc>
              <a:spcBef>
                <a:spcPct val="15000"/>
              </a:spcBef>
              <a:buNone/>
              <a:tabLst>
                <a:tab pos="1828800" algn="l"/>
                <a:tab pos="2217738" algn="l"/>
              </a:tabLst>
            </a:pPr>
            <a:r>
              <a:rPr lang="en-US" altLang="en-US" sz="2000" dirty="0"/>
              <a:t>		</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if (</a:t>
            </a:r>
            <a:r>
              <a:rPr lang="en-US" altLang="en-US" sz="2000" b="1" dirty="0" err="1">
                <a:solidFill>
                  <a:srgbClr val="000000"/>
                </a:solidFill>
                <a:latin typeface="Courier New" panose="02070309020205020404" pitchFamily="49" charset="0"/>
              </a:rPr>
              <a:t>next_count</a:t>
            </a:r>
            <a:r>
              <a:rPr lang="en-US" altLang="en-US" sz="2000" b="1" dirty="0">
                <a:solidFill>
                  <a:srgbClr val="000000"/>
                </a:solidFill>
                <a:latin typeface="Courier New" panose="02070309020205020404" pitchFamily="49" charset="0"/>
              </a:rPr>
              <a:t> &gt; 0)</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signal(next);</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else</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signal(mutex);</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wait(</a:t>
            </a:r>
            <a:r>
              <a:rPr lang="en-US" altLang="en-US" sz="2000" b="1" dirty="0" err="1">
                <a:solidFill>
                  <a:srgbClr val="000000"/>
                </a:solidFill>
                <a:latin typeface="Courier New" panose="02070309020205020404" pitchFamily="49" charset="0"/>
              </a:rPr>
              <a:t>x_sem</a:t>
            </a:r>
            <a:r>
              <a:rPr lang="en-US" altLang="en-US" sz="2000"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sz="2000"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x_count</a:t>
            </a:r>
            <a:r>
              <a:rPr lang="en-US" altLang="en-US" sz="2000"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sz="2000" b="1" dirty="0"/>
              <a:t>		</a:t>
            </a:r>
          </a:p>
        </p:txBody>
      </p:sp>
      <p:sp>
        <p:nvSpPr>
          <p:cNvPr id="73730" name="Rectangle 3">
            <a:extLst>
              <a:ext uri="{FF2B5EF4-FFF2-40B4-BE49-F238E27FC236}">
                <a16:creationId xmlns:a16="http://schemas.microsoft.com/office/drawing/2014/main" id="{4DADAEF0-291C-40B5-9E31-7AAF1A95E331}"/>
              </a:ext>
            </a:extLst>
          </p:cNvPr>
          <p:cNvSpPr txBox="1">
            <a:spLocks noChangeArrowheads="1"/>
          </p:cNvSpPr>
          <p:nvPr/>
        </p:nvSpPr>
        <p:spPr bwMode="auto">
          <a:xfrm>
            <a:off x="7034981" y="2767321"/>
            <a:ext cx="4714568" cy="336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tabLst>
                <a:tab pos="1368425" algn="l"/>
                <a:tab pos="1712913" algn="l"/>
                <a:tab pos="2335213" algn="l"/>
              </a:tabLst>
            </a:pPr>
            <a:r>
              <a:rPr lang="en-US" altLang="en-US" sz="2000" kern="0" dirty="0"/>
              <a:t>The operation </a:t>
            </a:r>
            <a:r>
              <a:rPr lang="en-US" altLang="en-US" sz="2000" b="1" kern="0" dirty="0" err="1">
                <a:solidFill>
                  <a:srgbClr val="000000"/>
                </a:solidFill>
                <a:latin typeface="Courier New" panose="02070309020205020404" pitchFamily="49" charset="0"/>
              </a:rPr>
              <a:t>x.signal</a:t>
            </a:r>
            <a:r>
              <a:rPr lang="en-US" altLang="en-US" sz="2000" b="1" kern="0" dirty="0">
                <a:solidFill>
                  <a:srgbClr val="000000"/>
                </a:solidFill>
                <a:latin typeface="Courier New" panose="02070309020205020404" pitchFamily="49" charset="0"/>
              </a:rPr>
              <a:t>() </a:t>
            </a:r>
            <a:r>
              <a:rPr lang="en-US" altLang="en-US" sz="2000" kern="0" dirty="0"/>
              <a:t>can be implemented as:</a:t>
            </a:r>
            <a:br>
              <a:rPr lang="en-US" altLang="en-US" sz="2000" kern="0" dirty="0"/>
            </a:br>
            <a:endParaRPr lang="en-US" altLang="en-US" sz="2000" kern="0" dirty="0"/>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if (</a:t>
            </a:r>
            <a:r>
              <a:rPr lang="en-US" altLang="en-US" sz="2000" b="1" kern="0" dirty="0" err="1">
                <a:solidFill>
                  <a:srgbClr val="000000"/>
                </a:solidFill>
                <a:latin typeface="Courier New" panose="02070309020205020404" pitchFamily="49" charset="0"/>
              </a:rPr>
              <a:t>x_count</a:t>
            </a:r>
            <a:r>
              <a:rPr lang="en-US" altLang="en-US" sz="2000" b="1" kern="0" dirty="0">
                <a:solidFill>
                  <a:srgbClr val="000000"/>
                </a:solidFill>
                <a:latin typeface="Courier New" panose="02070309020205020404" pitchFamily="49" charset="0"/>
              </a:rPr>
              <a:t> &gt; 0) {</a:t>
            </a:r>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next_count</a:t>
            </a:r>
            <a:r>
              <a:rPr lang="en-US" altLang="en-US" sz="2000" b="1" kern="0" dirty="0">
                <a:solidFill>
                  <a:srgbClr val="000000"/>
                </a:solidFill>
                <a:latin typeface="Courier New" panose="02070309020205020404" pitchFamily="49" charset="0"/>
              </a:rPr>
              <a:t>++;</a:t>
            </a:r>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signal(</a:t>
            </a:r>
            <a:r>
              <a:rPr lang="en-US" altLang="en-US" sz="2000" b="1" kern="0" dirty="0" err="1">
                <a:solidFill>
                  <a:srgbClr val="000000"/>
                </a:solidFill>
                <a:latin typeface="Courier New" panose="02070309020205020404" pitchFamily="49" charset="0"/>
              </a:rPr>
              <a:t>x_sem</a:t>
            </a:r>
            <a:r>
              <a:rPr lang="en-US" altLang="en-US" sz="2000" b="1" kern="0" dirty="0">
                <a:solidFill>
                  <a:srgbClr val="000000"/>
                </a:solidFill>
                <a:latin typeface="Courier New" panose="02070309020205020404" pitchFamily="49" charset="0"/>
              </a:rPr>
              <a:t>);</a:t>
            </a:r>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wait(next);</a:t>
            </a:r>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a:t>
            </a:r>
            <a:r>
              <a:rPr lang="en-US" altLang="en-US" sz="2000" b="1" kern="0" dirty="0" err="1">
                <a:solidFill>
                  <a:srgbClr val="000000"/>
                </a:solidFill>
                <a:latin typeface="Courier New" panose="02070309020205020404" pitchFamily="49" charset="0"/>
              </a:rPr>
              <a:t>next_count</a:t>
            </a:r>
            <a:r>
              <a:rPr lang="en-US" altLang="en-US" sz="2000" b="1" kern="0" dirty="0">
                <a:solidFill>
                  <a:srgbClr val="000000"/>
                </a:solidFill>
                <a:latin typeface="Courier New" panose="02070309020205020404" pitchFamily="49" charset="0"/>
              </a:rPr>
              <a:t>--;</a:t>
            </a:r>
          </a:p>
          <a:p>
            <a:pPr>
              <a:spcBef>
                <a:spcPct val="15000"/>
              </a:spcBef>
              <a:buFont typeface="Wingdings" panose="05000000000000000000" pitchFamily="2" charset="2"/>
              <a:buNone/>
              <a:tabLst>
                <a:tab pos="1368425" algn="l"/>
                <a:tab pos="1712913" algn="l"/>
                <a:tab pos="2335213" algn="l"/>
              </a:tabLst>
            </a:pPr>
            <a:r>
              <a:rPr lang="en-US" altLang="en-US" sz="2000" b="1" kern="0" dirty="0">
                <a:solidFill>
                  <a:srgbClr val="000000"/>
                </a:solidFill>
                <a:latin typeface="Courier New" panose="02070309020205020404" pitchFamily="49" charset="0"/>
              </a:rPr>
              <a:t>		}</a:t>
            </a:r>
          </a:p>
          <a:p>
            <a:pPr>
              <a:spcBef>
                <a:spcPct val="15000"/>
              </a:spcBef>
              <a:buFont typeface="Wingdings" panose="05000000000000000000" pitchFamily="2" charset="2"/>
              <a:buNone/>
              <a:tabLst>
                <a:tab pos="1368425" algn="l"/>
                <a:tab pos="1712913" algn="l"/>
                <a:tab pos="2335213" algn="l"/>
              </a:tabLst>
            </a:pPr>
            <a:r>
              <a:rPr lang="en-US" altLang="en-US" sz="2000" b="1" kern="0" dirty="0"/>
              <a:t>		</a:t>
            </a:r>
            <a:r>
              <a:rPr lang="en-US" altLang="en-US" sz="2000" kern="0" dirty="0"/>
              <a:t>	</a:t>
            </a:r>
          </a:p>
        </p:txBody>
      </p:sp>
      <p:cxnSp>
        <p:nvCxnSpPr>
          <p:cNvPr id="3" name="Straight Connector 2">
            <a:extLst>
              <a:ext uri="{FF2B5EF4-FFF2-40B4-BE49-F238E27FC236}">
                <a16:creationId xmlns:a16="http://schemas.microsoft.com/office/drawing/2014/main" id="{1F7A0DDF-A575-676F-E8C3-37D66B566906}"/>
              </a:ext>
            </a:extLst>
          </p:cNvPr>
          <p:cNvCxnSpPr/>
          <p:nvPr/>
        </p:nvCxnSpPr>
        <p:spPr bwMode="auto">
          <a:xfrm>
            <a:off x="6769510" y="2905432"/>
            <a:ext cx="0" cy="3229896"/>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2496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2005782" y="1233488"/>
            <a:ext cx="8720026" cy="4545012"/>
          </a:xfrm>
        </p:spPr>
        <p:txBody>
          <a:bodyPr/>
          <a:lstStyle/>
          <a:p>
            <a:r>
              <a:rPr lang="en-US" altLang="en-US" sz="2000"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sz="2000"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sz="2000" dirty="0"/>
              <a:t>is executed, which process should be resumed?</a:t>
            </a:r>
          </a:p>
          <a:p>
            <a:r>
              <a:rPr lang="en-US" altLang="en-US" sz="2000" dirty="0"/>
              <a:t>FCFS frequently not adequate </a:t>
            </a:r>
          </a:p>
          <a:p>
            <a:r>
              <a:rPr lang="en-US" altLang="en-US" sz="2000" dirty="0"/>
              <a:t>Use</a:t>
            </a:r>
            <a:r>
              <a:rPr lang="en-US" altLang="en-US" sz="2000" b="1" dirty="0">
                <a:solidFill>
                  <a:srgbClr val="0000FF"/>
                </a:solidFill>
              </a:rPr>
              <a:t>  </a:t>
            </a:r>
            <a:r>
              <a:rPr lang="en-US" altLang="en-US" sz="2000" dirty="0"/>
              <a:t>the </a:t>
            </a:r>
            <a:r>
              <a:rPr lang="en-US" altLang="en-US" sz="2000" b="1" dirty="0">
                <a:solidFill>
                  <a:srgbClr val="006699"/>
                </a:solidFill>
                <a:latin typeface="+mj-lt"/>
              </a:rPr>
              <a:t>conditional-wait </a:t>
            </a:r>
            <a:r>
              <a:rPr lang="en-US" altLang="en-US" sz="2000"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dirty="0"/>
              <a:t>where:</a:t>
            </a:r>
          </a:p>
          <a:p>
            <a:pPr lvl="1"/>
            <a:r>
              <a:rPr lang="en-US" altLang="en-US" sz="2000" b="1" dirty="0">
                <a:latin typeface="Courier New" panose="02070309020205020404" pitchFamily="49" charset="0"/>
                <a:cs typeface="Courier New" panose="02070309020205020404" pitchFamily="49" charset="0"/>
              </a:rPr>
              <a:t>c</a:t>
            </a:r>
            <a:r>
              <a:rPr lang="en-US" altLang="en-US" sz="2000" dirty="0"/>
              <a:t> is an integer (called the priority number)</a:t>
            </a:r>
            <a:endParaRPr lang="en-US" altLang="en-US" sz="2000" b="1" dirty="0">
              <a:solidFill>
                <a:srgbClr val="0000FF"/>
              </a:solidFill>
            </a:endParaRPr>
          </a:p>
          <a:p>
            <a:pPr lvl="1"/>
            <a:r>
              <a:rPr lang="en-US" altLang="en-US" sz="2000" dirty="0"/>
              <a:t>The process with lowest number (highest priority) is scheduled next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1981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sz="2000" dirty="0"/>
              <a:t>Processes may have to wait indefinitely while trying to acquire a synchronization tool such as a mutex lock or semaphore.</a:t>
            </a:r>
          </a:p>
          <a:p>
            <a:endParaRPr lang="en-US" altLang="en-US" sz="2000" dirty="0"/>
          </a:p>
          <a:p>
            <a:r>
              <a:rPr lang="en-US" altLang="en-US" sz="2000" dirty="0"/>
              <a:t>Waiting indefinitely violates the progress and bounded-waiting criteria discussed at the beginning of this chapter.</a:t>
            </a:r>
          </a:p>
          <a:p>
            <a:endParaRPr lang="en-US" altLang="en-US" sz="2000" b="1" dirty="0"/>
          </a:p>
          <a:p>
            <a:r>
              <a:rPr lang="en-US" altLang="en-US" sz="2000" b="1" dirty="0"/>
              <a:t>Liveness</a:t>
            </a:r>
            <a:r>
              <a:rPr lang="en-US" altLang="en-US" sz="2000" dirty="0"/>
              <a:t> refers to a set of properties that a system must satisfy to ensure processes make progress.</a:t>
            </a:r>
          </a:p>
          <a:p>
            <a:endParaRPr lang="en-US" altLang="en-US" sz="2000" dirty="0"/>
          </a:p>
          <a:p>
            <a:r>
              <a:rPr lang="en-US" altLang="en-US" sz="2000" dirty="0"/>
              <a:t>Indefinite waiting is an example of a liveness failure.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1981201" y="1073151"/>
            <a:ext cx="9183328" cy="5430888"/>
          </a:xfrm>
        </p:spPr>
        <p:txBody>
          <a:bodyPr/>
          <a:lstStyle/>
          <a:p>
            <a:pPr>
              <a:lnSpc>
                <a:spcPct val="90000"/>
              </a:lnSpc>
              <a:tabLst>
                <a:tab pos="1882775" algn="ctr"/>
                <a:tab pos="4568825" algn="ctr"/>
              </a:tabLst>
            </a:pPr>
            <a:r>
              <a:rPr lang="en-US" altLang="en-US" sz="2000" b="1" dirty="0">
                <a:solidFill>
                  <a:srgbClr val="006699"/>
                </a:solidFill>
                <a:latin typeface="+mj-lt"/>
              </a:rPr>
              <a:t>Deadlock</a:t>
            </a:r>
            <a:r>
              <a:rPr lang="en-US" altLang="en-US" sz="2000" b="1" dirty="0">
                <a:solidFill>
                  <a:srgbClr val="3366FF"/>
                </a:solidFill>
              </a:rPr>
              <a:t> </a:t>
            </a:r>
            <a:r>
              <a:rPr lang="en-US" altLang="en-US" sz="2000" dirty="0"/>
              <a:t>– two or more processes are waiting indefinitely for an event that can be caused by only one of the waiting processes</a:t>
            </a:r>
          </a:p>
          <a:p>
            <a:pPr>
              <a:lnSpc>
                <a:spcPct val="90000"/>
              </a:lnSpc>
              <a:tabLst>
                <a:tab pos="1882775" algn="ctr"/>
                <a:tab pos="4568825" algn="ctr"/>
              </a:tabLst>
            </a:pPr>
            <a:r>
              <a:rPr lang="en-US" altLang="en-US" sz="2000" dirty="0">
                <a:solidFill>
                  <a:srgbClr val="000000"/>
                </a:solidFill>
              </a:rPr>
              <a:t>Let </a:t>
            </a:r>
            <a:r>
              <a:rPr lang="en-US" altLang="en-US" sz="2000" b="1" i="1" dirty="0">
                <a:solidFill>
                  <a:srgbClr val="000000"/>
                </a:solidFill>
                <a:latin typeface="Courier New" panose="02070309020205020404" pitchFamily="49" charset="0"/>
              </a:rPr>
              <a:t>S</a:t>
            </a:r>
            <a:r>
              <a:rPr lang="en-US" altLang="en-US" sz="2000" dirty="0">
                <a:solidFill>
                  <a:srgbClr val="000000"/>
                </a:solidFill>
              </a:rPr>
              <a:t> and</a:t>
            </a:r>
            <a:r>
              <a:rPr lang="en-US" altLang="en-US" sz="20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2000" b="1" dirty="0">
                <a:solidFill>
                  <a:srgbClr val="000000"/>
                </a:solidFill>
                <a:latin typeface="Courier New" panose="02070309020205020404" pitchFamily="49" charset="0"/>
              </a:rPr>
              <a:t> </a:t>
            </a:r>
            <a:r>
              <a:rPr lang="en-US" altLang="en-US" sz="2000" dirty="0">
                <a:solidFill>
                  <a:srgbClr val="000000"/>
                </a:solidFill>
              </a:rPr>
              <a:t>be </a:t>
            </a:r>
            <a:r>
              <a:rPr lang="en-US" altLang="en-US" sz="2000" dirty="0"/>
              <a:t>two semaphores initialized to 1</a:t>
            </a:r>
          </a:p>
          <a:p>
            <a:pPr>
              <a:lnSpc>
                <a:spcPct val="90000"/>
              </a:lnSpc>
              <a:buNone/>
              <a:tabLst>
                <a:tab pos="1882775" algn="ctr"/>
                <a:tab pos="4568825" algn="ctr"/>
              </a:tabLst>
            </a:pPr>
            <a:r>
              <a:rPr lang="en-US" altLang="en-US" sz="2000" i="1" dirty="0">
                <a:solidFill>
                  <a:srgbClr val="000000"/>
                </a:solidFill>
              </a:rPr>
              <a:t>		        P</a:t>
            </a:r>
            <a:r>
              <a:rPr lang="en-US" altLang="en-US" sz="2000" baseline="-25000" dirty="0">
                <a:solidFill>
                  <a:srgbClr val="000000"/>
                </a:solidFill>
              </a:rPr>
              <a:t>0</a:t>
            </a:r>
            <a:r>
              <a:rPr lang="en-US" altLang="en-US" sz="2000" dirty="0">
                <a:solidFill>
                  <a:srgbClr val="000000"/>
                </a:solidFill>
              </a:rPr>
              <a:t>	                            </a:t>
            </a:r>
            <a:r>
              <a:rPr lang="en-US" altLang="en-US" sz="2000" i="1" dirty="0">
                <a:solidFill>
                  <a:srgbClr val="000000"/>
                </a:solidFill>
              </a:rPr>
              <a:t>P</a:t>
            </a:r>
            <a:r>
              <a:rPr lang="en-US" altLang="en-US" sz="2000" baseline="-25000" dirty="0">
                <a:solidFill>
                  <a:srgbClr val="000000"/>
                </a:solidFill>
              </a:rPr>
              <a:t>1</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wait(S); 	              wait(Q);</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wait(Q); 	              wait(S);</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		     ...</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signal(S);                 signal(Q);</a:t>
            </a:r>
          </a:p>
          <a:p>
            <a:pPr>
              <a:lnSpc>
                <a:spcPct val="90000"/>
              </a:lnSpc>
              <a:buNone/>
              <a:tabLst>
                <a:tab pos="1882775" algn="ctr"/>
                <a:tab pos="4568825" algn="ctr"/>
              </a:tabLst>
            </a:pPr>
            <a:r>
              <a:rPr lang="en-US" altLang="en-US" sz="2000" b="1" dirty="0">
                <a:solidFill>
                  <a:srgbClr val="000000"/>
                </a:solidFill>
                <a:latin typeface="Courier New" panose="02070309020205020404" pitchFamily="49" charset="0"/>
              </a:rPr>
              <a:t>              signal(Q);                 signal(S);</a:t>
            </a:r>
          </a:p>
          <a:p>
            <a:pPr>
              <a:lnSpc>
                <a:spcPct val="90000"/>
              </a:lnSpc>
              <a:buNone/>
              <a:tabLst>
                <a:tab pos="1882775" algn="ctr"/>
                <a:tab pos="4568825" algn="ctr"/>
              </a:tabLst>
            </a:pPr>
            <a:endParaRPr lang="en-US" altLang="en-US" sz="20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sz="2000" dirty="0">
                <a:sym typeface="MT Extra" panose="05050102010205020202" pitchFamily="18" charset="2"/>
              </a:rPr>
              <a:t>Consider if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wait(S) 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wait(Q). When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executes wait(Q), it must wait until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executes signal(Q)</a:t>
            </a:r>
          </a:p>
          <a:p>
            <a:pPr>
              <a:lnSpc>
                <a:spcPct val="90000"/>
              </a:lnSpc>
              <a:tabLst>
                <a:tab pos="1882775" algn="ctr"/>
                <a:tab pos="4568825" algn="ctr"/>
              </a:tabLst>
            </a:pPr>
            <a:r>
              <a:rPr lang="en-US" altLang="en-US" sz="2000" dirty="0">
                <a:sym typeface="MT Extra" panose="05050102010205020202" pitchFamily="18" charset="2"/>
              </a:rPr>
              <a:t>However,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is waiting until </a:t>
            </a:r>
            <a:r>
              <a:rPr lang="en-US" altLang="en-US" sz="2000" i="1" dirty="0">
                <a:solidFill>
                  <a:srgbClr val="000000"/>
                </a:solidFill>
              </a:rPr>
              <a:t>P</a:t>
            </a:r>
            <a:r>
              <a:rPr lang="en-US" altLang="en-US" sz="2000" baseline="-25000" dirty="0">
                <a:solidFill>
                  <a:srgbClr val="000000"/>
                </a:solidFill>
              </a:rPr>
              <a:t>0</a:t>
            </a:r>
            <a:r>
              <a:rPr lang="en-US" altLang="en-US" sz="2000" dirty="0">
                <a:sym typeface="MT Extra" panose="05050102010205020202" pitchFamily="18" charset="2"/>
              </a:rPr>
              <a:t> execute signal(S).</a:t>
            </a:r>
          </a:p>
          <a:p>
            <a:pPr>
              <a:lnSpc>
                <a:spcPct val="90000"/>
              </a:lnSpc>
              <a:tabLst>
                <a:tab pos="1882775" algn="ctr"/>
                <a:tab pos="4568825" algn="ctr"/>
              </a:tabLst>
            </a:pPr>
            <a:r>
              <a:rPr lang="en-US" altLang="en-US" sz="2000" dirty="0">
                <a:sym typeface="MT Extra" panose="05050102010205020202" pitchFamily="18" charset="2"/>
              </a:rPr>
              <a:t>Since these signal() operations will never be executed, </a:t>
            </a:r>
            <a:r>
              <a:rPr lang="en-US" altLang="en-US" sz="2000" i="1" dirty="0">
                <a:solidFill>
                  <a:srgbClr val="000000"/>
                </a:solidFill>
              </a:rPr>
              <a:t>P</a:t>
            </a:r>
            <a:r>
              <a:rPr lang="en-US" altLang="en-US" sz="2000" baseline="-25000" dirty="0">
                <a:solidFill>
                  <a:srgbClr val="000000"/>
                </a:solidFill>
              </a:rPr>
              <a:t>0 </a:t>
            </a:r>
            <a:r>
              <a:rPr lang="en-US" altLang="en-US" sz="2000" dirty="0">
                <a:sym typeface="MT Extra" panose="05050102010205020202" pitchFamily="18" charset="2"/>
              </a:rPr>
              <a:t>and </a:t>
            </a:r>
            <a:r>
              <a:rPr lang="en-US" altLang="en-US" sz="2000" i="1" dirty="0">
                <a:solidFill>
                  <a:srgbClr val="000000"/>
                </a:solidFill>
              </a:rPr>
              <a:t>P</a:t>
            </a:r>
            <a:r>
              <a:rPr lang="en-US" altLang="en-US" sz="2000" baseline="-25000" dirty="0">
                <a:solidFill>
                  <a:srgbClr val="000000"/>
                </a:solidFill>
              </a:rPr>
              <a:t>1 </a:t>
            </a:r>
            <a:r>
              <a:rPr lang="en-US" altLang="en-US" sz="2000" dirty="0">
                <a:sym typeface="MT Extra" panose="05050102010205020202" pitchFamily="18" charset="2"/>
              </a:rPr>
              <a:t>are </a:t>
            </a:r>
            <a:r>
              <a:rPr lang="en-US" altLang="en-US" sz="2000" b="1" dirty="0">
                <a:sym typeface="MT Extra" panose="05050102010205020202" pitchFamily="18" charset="2"/>
              </a:rPr>
              <a:t>deadlocked</a:t>
            </a:r>
            <a:r>
              <a:rPr lang="en-US" altLang="en-US" sz="2000"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1981200" y="157653"/>
            <a:ext cx="8229600" cy="576262"/>
          </a:xfrm>
        </p:spPr>
        <p:txBody>
          <a:bodyPr/>
          <a:lstStyle/>
          <a:p>
            <a:r>
              <a:rPr lang="en-US" altLang="en-US" dirty="0"/>
              <a:t>Liveness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1981201" y="1073151"/>
            <a:ext cx="8755626" cy="4906963"/>
          </a:xfrm>
        </p:spPr>
        <p:txBody>
          <a:bodyPr/>
          <a:lstStyle/>
          <a:p>
            <a:pPr>
              <a:lnSpc>
                <a:spcPct val="90000"/>
              </a:lnSpc>
              <a:tabLst>
                <a:tab pos="1882775" algn="ctr"/>
                <a:tab pos="4568825" algn="ctr"/>
              </a:tabLst>
            </a:pPr>
            <a:r>
              <a:rPr lang="en-US" altLang="en-US" sz="2000" dirty="0"/>
              <a:t>Other forms of deadlock:</a:t>
            </a:r>
            <a:endParaRPr lang="en-US" altLang="en-US" sz="2000" dirty="0">
              <a:latin typeface="Courier New" panose="02070309020205020404" pitchFamily="49" charset="0"/>
            </a:endParaRPr>
          </a:p>
          <a:p>
            <a:pPr>
              <a:lnSpc>
                <a:spcPct val="90000"/>
              </a:lnSpc>
              <a:tabLst>
                <a:tab pos="1882775" algn="ctr"/>
                <a:tab pos="4568825" algn="ctr"/>
              </a:tabLst>
            </a:pPr>
            <a:endParaRPr lang="en-US" altLang="en-US" sz="2000" b="1" dirty="0">
              <a:sym typeface="MT Extra" panose="05050102010205020202" pitchFamily="18" charset="2"/>
            </a:endParaRPr>
          </a:p>
          <a:p>
            <a:pPr>
              <a:lnSpc>
                <a:spcPct val="90000"/>
              </a:lnSpc>
              <a:tabLst>
                <a:tab pos="1882775" algn="ctr"/>
                <a:tab pos="4568825" algn="ctr"/>
              </a:tabLst>
            </a:pPr>
            <a:r>
              <a:rPr lang="en-US" altLang="en-US" sz="2000" b="1" dirty="0">
                <a:sym typeface="MT Extra" panose="05050102010205020202" pitchFamily="18" charset="2"/>
              </a:rPr>
              <a:t>Starvation</a:t>
            </a:r>
            <a:r>
              <a:rPr lang="en-US" altLang="en-US" sz="2000" dirty="0">
                <a:sym typeface="MT Extra" panose="05050102010205020202" pitchFamily="18" charset="2"/>
              </a:rPr>
              <a:t> </a:t>
            </a:r>
            <a:r>
              <a:rPr lang="en-US" altLang="en-US" sz="2000" dirty="0"/>
              <a:t>– indefinite blocking  </a:t>
            </a:r>
          </a:p>
          <a:p>
            <a:pPr lvl="1">
              <a:lnSpc>
                <a:spcPct val="90000"/>
              </a:lnSpc>
              <a:tabLst>
                <a:tab pos="1882775" algn="ctr"/>
                <a:tab pos="4568825" algn="ctr"/>
              </a:tabLst>
            </a:pPr>
            <a:r>
              <a:rPr lang="en-US" altLang="en-US" sz="2000" dirty="0"/>
              <a:t>A process may never be removed from the semaphore queue in which it is suspended</a:t>
            </a:r>
          </a:p>
          <a:p>
            <a:pPr>
              <a:lnSpc>
                <a:spcPct val="90000"/>
              </a:lnSpc>
              <a:tabLst>
                <a:tab pos="1882775" algn="ctr"/>
                <a:tab pos="4568825" algn="ctr"/>
              </a:tabLst>
            </a:pPr>
            <a:endParaRPr lang="en-US" altLang="en-US" sz="2000" b="1" dirty="0"/>
          </a:p>
          <a:p>
            <a:pPr>
              <a:lnSpc>
                <a:spcPct val="90000"/>
              </a:lnSpc>
              <a:tabLst>
                <a:tab pos="1882775" algn="ctr"/>
                <a:tab pos="4568825" algn="ctr"/>
              </a:tabLst>
            </a:pPr>
            <a:r>
              <a:rPr lang="en-US" altLang="en-US" sz="2000" b="1" dirty="0"/>
              <a:t>Priority Inversion</a:t>
            </a:r>
            <a:r>
              <a:rPr lang="en-US" altLang="en-US" sz="2000" dirty="0"/>
              <a:t> – Scheduling problem when lower-priority process holds a lock needed by higher-priority process</a:t>
            </a:r>
          </a:p>
          <a:p>
            <a:pPr lvl="1">
              <a:tabLst>
                <a:tab pos="1882775" algn="ctr"/>
                <a:tab pos="4568825" algn="ctr"/>
              </a:tabLst>
            </a:pPr>
            <a:r>
              <a:rPr lang="en-US" altLang="en-US" sz="2000" dirty="0"/>
              <a:t>Solved via </a:t>
            </a:r>
            <a:r>
              <a:rPr lang="en-US" altLang="en-US" sz="2000" b="1" dirty="0"/>
              <a:t>priority-inheritance protocol</a:t>
            </a:r>
            <a:br>
              <a:rPr lang="en-US" altLang="en-US" sz="2000" b="1" dirty="0"/>
            </a:br>
            <a:br>
              <a:rPr lang="en-US" altLang="en-US" sz="2000" b="1" dirty="0"/>
            </a:br>
            <a:endParaRPr lang="en-US" altLang="en-US" sz="2000"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1981200" y="157653"/>
            <a:ext cx="8229600" cy="576262"/>
          </a:xfrm>
        </p:spPr>
        <p:txBody>
          <a:bodyPr/>
          <a:lstStyle/>
          <a:p>
            <a:r>
              <a:rPr lang="en-US" altLang="en-US" dirty="0"/>
              <a:t>Liveness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17770</TotalTime>
  <Words>4288</Words>
  <Application>Microsoft Office PowerPoint</Application>
  <PresentationFormat>Widescreen</PresentationFormat>
  <Paragraphs>645</Paragraphs>
  <Slides>55</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Courier New</vt:lpstr>
      <vt:lpstr>Helvetica</vt:lpstr>
      <vt:lpstr>Monotype Sorts</vt:lpstr>
      <vt:lpstr>MT Extra</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Consumer</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Monitor Implementation Using Semaphores</vt:lpstr>
      <vt:lpstr> Implementation – Condition Variables</vt:lpstr>
      <vt:lpstr>Resuming Processes within a Monitor</vt:lpstr>
      <vt:lpstr>Liveness</vt:lpstr>
      <vt:lpstr>Liveness</vt:lpstr>
      <vt:lpstr>Liveness</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fazl basit</cp:lastModifiedBy>
  <cp:revision>417</cp:revision>
  <cp:lastPrinted>2025-10-27T11:48:55Z</cp:lastPrinted>
  <dcterms:created xsi:type="dcterms:W3CDTF">2011-01-13T23:43:38Z</dcterms:created>
  <dcterms:modified xsi:type="dcterms:W3CDTF">2026-03-27T09:03:10Z</dcterms:modified>
</cp:coreProperties>
</file>