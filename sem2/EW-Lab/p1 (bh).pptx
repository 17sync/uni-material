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2B3C98-37B4-520C-A3B2-FECEAB19D662}" v="205" dt="2025-02-16T19:59:27.819"/>
    <p1510:client id="{429435BE-2CA2-1903-22AC-26E07B533D58}" v="33" dt="2025-02-16T10:55:07.361"/>
    <p1510:client id="{B845B4E7-7B4E-A1B4-4D60-ABE2F7873700}" v="886" dt="2025-02-16T19:50:46.767"/>
    <p1510:client id="{F890AA7C-892B-B2E2-B810-E1925A20E4E8}" v="410" dt="2025-02-16T19:48:45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98533" y="1711180"/>
            <a:ext cx="6689768" cy="2367807"/>
          </a:xfrm>
        </p:spPr>
        <p:txBody>
          <a:bodyPr>
            <a:normAutofit/>
          </a:bodyPr>
          <a:lstStyle/>
          <a:p>
            <a:r>
              <a:rPr lang="en-US" sz="4800">
                <a:latin typeface="Gill Sans MT"/>
              </a:rPr>
              <a:t>Celestial Enigmas;</a:t>
            </a:r>
            <a:r>
              <a:rPr lang="en-US"/>
              <a:t> </a:t>
            </a:r>
            <a:br>
              <a:rPr lang="en-US"/>
            </a:br>
            <a:r>
              <a:rPr lang="en-US"/>
              <a:t>Black Holes</a:t>
            </a:r>
          </a:p>
        </p:txBody>
      </p:sp>
      <p:pic>
        <p:nvPicPr>
          <p:cNvPr id="7" name="Picture 6" descr="HD black hole 3d wallpapers | Peakpx">
            <a:extLst>
              <a:ext uri="{FF2B5EF4-FFF2-40B4-BE49-F238E27FC236}">
                <a16:creationId xmlns:a16="http://schemas.microsoft.com/office/drawing/2014/main" id="{1FA7DCD7-A35F-E05C-DF3E-BC1B1371F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309" y="-301920"/>
            <a:ext cx="11275290" cy="74733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DBFCE1-A061-A863-05B7-D6678134D27D}"/>
              </a:ext>
            </a:extLst>
          </p:cNvPr>
          <p:cNvSpPr txBox="1"/>
          <p:nvPr/>
        </p:nvSpPr>
        <p:spPr>
          <a:xfrm>
            <a:off x="1361266" y="4244676"/>
            <a:ext cx="318041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Aun Anis 24P-3017</a:t>
            </a:r>
            <a:br>
              <a:rPr lang="en-US" dirty="0">
                <a:solidFill>
                  <a:schemeClr val="bg1">
                    <a:lumMod val="76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BSE-2A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1920x1080xe6e7&quot;a=&quot;b&quot;r5154 Resolution Sci Fi Black Hole HD Glowing Space  1080P Laptop Full HD Wallpaper - Wallpapers Den">
            <a:extLst>
              <a:ext uri="{FF2B5EF4-FFF2-40B4-BE49-F238E27FC236}">
                <a16:creationId xmlns:a16="http://schemas.microsoft.com/office/drawing/2014/main" id="{CE4B4B2D-777D-DF3D-4DB2-815E415837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/>
        </p:blipFill>
        <p:spPr>
          <a:xfrm>
            <a:off x="10885" y="10896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23C35B-8136-D565-E0B5-CC47B7394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069" y="1282323"/>
            <a:ext cx="7566612" cy="2246213"/>
          </a:xfrm>
        </p:spPr>
        <p:txBody>
          <a:bodyPr anchor="t">
            <a:normAutofit/>
          </a:bodyPr>
          <a:lstStyle/>
          <a:p>
            <a:pPr algn="ctr"/>
            <a:r>
              <a:rPr lang="en-US" sz="6000" b="1">
                <a:solidFill>
                  <a:srgbClr val="FFFFFF"/>
                </a:solidFill>
              </a:rPr>
              <a:t>What is a Black Hole?</a:t>
            </a:r>
            <a:endParaRPr lang="en-US" sz="6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C0F8E-524D-7AFE-01B7-C191D6E58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1726" y="2522631"/>
            <a:ext cx="6615691" cy="40720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3200">
                <a:solidFill>
                  <a:srgbClr val="FFFFFF"/>
                </a:solidFill>
                <a:ea typeface="+mn-lt"/>
                <a:cs typeface="+mn-lt"/>
              </a:rPr>
              <a:t>A black hole is an astronomical object with a gravitational pull so strong that nothing, not even planets or light itself, can escape it.</a:t>
            </a:r>
            <a:endParaRPr lang="en-US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271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58F43-DA9C-4CE8-7881-10A76DDC5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/>
              <a:t>Parts of a Black Hole:</a:t>
            </a:r>
            <a:endParaRPr lang="en-US" b="1"/>
          </a:p>
        </p:txBody>
      </p:sp>
      <p:pic>
        <p:nvPicPr>
          <p:cNvPr id="5" name="Content Placeholder 4" descr="The environment around non-spinning black holes - 3D model by Salvatore  Orlando (@sorlando) [ee5aa42]">
            <a:extLst>
              <a:ext uri="{FF2B5EF4-FFF2-40B4-BE49-F238E27FC236}">
                <a16:creationId xmlns:a16="http://schemas.microsoft.com/office/drawing/2014/main" id="{90B70CF2-9F51-5628-C5A2-775D25229E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92" b="25302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827475-9B61-ED1C-A345-0EFC5979E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US" sz="1800" b="1"/>
              <a:t>Singularity:</a:t>
            </a:r>
            <a:r>
              <a:rPr lang="en-US" sz="1800"/>
              <a:t> The very center of a black hole, 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a place where matter is compressed down to an infinitely tiny point, and all conceptions of time and space completely break down.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b="1"/>
              <a:t>Event Horizon:</a:t>
            </a:r>
            <a:r>
              <a:rPr lang="en-US" sz="1800"/>
              <a:t> The "surface" of the black hole. The point of no return, here the velocity needed to escape the black hole exceeds the speed of light.</a:t>
            </a:r>
          </a:p>
          <a:p>
            <a:r>
              <a:rPr lang="en-US" sz="1800" b="1"/>
              <a:t>Accretion Disk: </a:t>
            </a:r>
            <a:r>
              <a:rPr lang="en-US" sz="1800"/>
              <a:t>The main source of light from the black hole.</a:t>
            </a:r>
          </a:p>
        </p:txBody>
      </p:sp>
    </p:spTree>
    <p:extLst>
      <p:ext uri="{BB962C8B-B14F-4D97-AF65-F5344CB8AC3E}">
        <p14:creationId xmlns:p14="http://schemas.microsoft.com/office/powerpoint/2010/main" val="3709616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ypes - NASA Science">
            <a:extLst>
              <a:ext uri="{FF2B5EF4-FFF2-40B4-BE49-F238E27FC236}">
                <a16:creationId xmlns:a16="http://schemas.microsoft.com/office/drawing/2014/main" id="{99F89719-B6D5-53C2-7122-92A7F0A58A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364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45ED01-7057-1DDF-0EFC-FF9082985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Types of Black Holes: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300D1-FAD9-3B65-2663-1191C74AE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Stellar-mass Black Holes: </a:t>
            </a:r>
            <a:r>
              <a:rPr lang="en-US" sz="2600">
                <a:solidFill>
                  <a:srgbClr val="FFFFFF"/>
                </a:solidFill>
              </a:rPr>
              <a:t>Created when massive stars explode, leaving behind a black hole with the mass of just a few suns.</a:t>
            </a:r>
          </a:p>
          <a:p>
            <a:endParaRPr lang="en-US" sz="2600">
              <a:solidFill>
                <a:srgbClr val="FFFFFF"/>
              </a:solidFill>
            </a:endParaRPr>
          </a:p>
          <a:p>
            <a:r>
              <a:rPr lang="en-US" sz="2600" b="1">
                <a:solidFill>
                  <a:srgbClr val="FFFFFF"/>
                </a:solidFill>
              </a:rPr>
              <a:t>Intermediate-mass Black Holes: </a:t>
            </a:r>
            <a:r>
              <a:rPr lang="en-US" sz="2600">
                <a:solidFill>
                  <a:srgbClr val="FFFFFF"/>
                </a:solidFill>
              </a:rPr>
              <a:t>Such bodies form when stars collide in a chain reaction and usually contain the mass equivalent to hundreds and thousands of suns.</a:t>
            </a:r>
            <a:r>
              <a:rPr lang="en-US" sz="2600" b="1">
                <a:solidFill>
                  <a:srgbClr val="FFFFFF"/>
                </a:solidFill>
              </a:rPr>
              <a:t> </a:t>
            </a:r>
          </a:p>
          <a:p>
            <a:endParaRPr lang="en-US" sz="2600" b="1">
              <a:solidFill>
                <a:srgbClr val="FFFFFF"/>
              </a:solidFill>
            </a:endParaRPr>
          </a:p>
          <a:p>
            <a:r>
              <a:rPr lang="en-US" sz="2600" b="1">
                <a:solidFill>
                  <a:srgbClr val="FFFFFF"/>
                </a:solidFill>
              </a:rPr>
              <a:t>Supermassive Black Holes: </a:t>
            </a:r>
            <a:r>
              <a:rPr lang="en-US" sz="2600">
                <a:solidFill>
                  <a:srgbClr val="FFFFFF"/>
                </a:solidFill>
              </a:rPr>
              <a:t>Exist in the hearts of galaxies and usually contain the mass equivalent to millions and billions of suns.</a:t>
            </a:r>
            <a:r>
              <a:rPr lang="en-US" sz="2600" b="1">
                <a:solidFill>
                  <a:srgbClr val="FFFFFF"/>
                </a:solidFill>
              </a:rPr>
              <a:t> </a:t>
            </a:r>
            <a:endParaRPr lang="en-US" sz="2600">
              <a:solidFill>
                <a:srgbClr val="FFFFFF"/>
              </a:solidFill>
            </a:endParaRPr>
          </a:p>
          <a:p>
            <a:endParaRPr lang="en-US" sz="26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397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8EE13-9FC6-BD0D-F930-E4A8DFB17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sz="4800" b="1" dirty="0"/>
              <a:t>Facts about </a:t>
            </a:r>
            <a:br>
              <a:rPr lang="en-US" sz="4800" b="1" dirty="0"/>
            </a:br>
            <a:r>
              <a:rPr lang="en-US" sz="4800" b="1" dirty="0"/>
              <a:t>Black Holes: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BD00E-615C-2588-F1F9-49B0D5920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924" y="2365093"/>
            <a:ext cx="5446015" cy="44232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Once formed, a black hole cannot die.</a:t>
            </a:r>
          </a:p>
          <a:p>
            <a:endParaRPr lang="en-US" sz="1800" dirty="0"/>
          </a:p>
          <a:p>
            <a:r>
              <a:rPr lang="en-US" sz="1800" dirty="0"/>
              <a:t>Since no light can escape, a black hole cannot be seen by the naked eye.</a:t>
            </a:r>
          </a:p>
          <a:p>
            <a:endParaRPr lang="en-US" sz="1800" dirty="0"/>
          </a:p>
          <a:p>
            <a:r>
              <a:rPr lang="en-US" sz="1800" dirty="0"/>
              <a:t>Black Holes cannot be captured by a camera, scientists at NASA capture images of black holes through a network of telescopes known as the Event Horizon Telescope (EHT).</a:t>
            </a:r>
          </a:p>
          <a:p>
            <a:endParaRPr lang="en-US" sz="1800" dirty="0"/>
          </a:p>
          <a:p>
            <a:r>
              <a:rPr lang="en-US" sz="1800" dirty="0"/>
              <a:t>A Black Hole with a mass similar to planet Earth would be the size of a fingernail.</a:t>
            </a:r>
          </a:p>
        </p:txBody>
      </p:sp>
      <p:pic>
        <p:nvPicPr>
          <p:cNvPr id="4" name="Picture 3" descr="Astronomers Uncover Black Hole Closer to Earth Than Ever Before">
            <a:extLst>
              <a:ext uri="{FF2B5EF4-FFF2-40B4-BE49-F238E27FC236}">
                <a16:creationId xmlns:a16="http://schemas.microsoft.com/office/drawing/2014/main" id="{52724617-ECB3-AB1B-1F60-A77BB29BE6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09" r="20453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982517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xtraordinary Black Hole | College of Science">
            <a:extLst>
              <a:ext uri="{FF2B5EF4-FFF2-40B4-BE49-F238E27FC236}">
                <a16:creationId xmlns:a16="http://schemas.microsoft.com/office/drawing/2014/main" id="{A3AA1153-2CDA-8F21-979E-D4514DC65E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3987" b="1174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BC4F18-C573-4ADD-A195-266A5D57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102076"/>
            <a:ext cx="9144000" cy="131714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b="1" dirty="0">
                <a:solidFill>
                  <a:srgbClr val="FFFFFF"/>
                </a:solidFill>
              </a:rPr>
              <a:t>Thank You for Listening!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AFB2C-653A-B305-5222-9B8FF977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3427092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>
                <a:solidFill>
                  <a:srgbClr val="FFFFFF"/>
                </a:solidFill>
              </a:rPr>
              <a:t>Most of the information for this presentation has been taken from:</a:t>
            </a:r>
            <a:br>
              <a:rPr lang="en-US" sz="2400">
                <a:solidFill>
                  <a:srgbClr val="FFFFFF"/>
                </a:solidFill>
              </a:rPr>
            </a:br>
            <a:r>
              <a:rPr lang="en-US" sz="2400">
                <a:solidFill>
                  <a:srgbClr val="FFFFFF"/>
                </a:solidFill>
              </a:rPr>
              <a:t>https://www.nasa.gov/universe/</a:t>
            </a:r>
          </a:p>
        </p:txBody>
      </p:sp>
    </p:spTree>
    <p:extLst>
      <p:ext uri="{BB962C8B-B14F-4D97-AF65-F5344CB8AC3E}">
        <p14:creationId xmlns:p14="http://schemas.microsoft.com/office/powerpoint/2010/main" val="183276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Celestial Enigmas;  Black Holes</vt:lpstr>
      <vt:lpstr>What is a Black Hole?</vt:lpstr>
      <vt:lpstr>Parts of a Black Hole:</vt:lpstr>
      <vt:lpstr>Types of Black Holes:</vt:lpstr>
      <vt:lpstr>Facts about  Black Holes:</vt:lpstr>
      <vt:lpstr>Thank You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173</cp:revision>
  <dcterms:created xsi:type="dcterms:W3CDTF">2025-02-16T10:53:28Z</dcterms:created>
  <dcterms:modified xsi:type="dcterms:W3CDTF">2025-02-16T19:59:45Z</dcterms:modified>
</cp:coreProperties>
</file>